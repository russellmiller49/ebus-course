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233" d="100"/>
          <a:sy n="233" d="100"/>
        </p:scale>
        <p:origin x="760" y="1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23666297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section is about using AI coding tools to build clinical and educational materials, not about replacing clinical judgment or becoming a full-time software engineer. The SoCal EBUS Prep website is the case study: an actual course-prep product that grew through repeated prompting, testing, review, and pivots.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Frame this as an overview. The audience knows how to chat with AI; this section shows the next level: using AI to create software with a disciplined clinical review loop. I will focus on process and decision-making, not code syntax.</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transition from “I am not a coder” to “I can be a product and validation owner.” AI coding helps most when the clinician supplies the clinical target and repeatedly reviews outputs.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industry rep analogy works for this audience. You do not need to know every mechanical detail, but you must know what the tool should do and when it is wrong. AI coding tools require the same direction and critique.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spend too long on tool brands. For this audience, the important distinction is chat versus editor-integrated versus agentic tools that can read a repo and run commands. Codex CLI, Claude Code, Cursor, and Copilot are examples, not the whole point.</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case study. The site started as a course-prep need. The app is not just a slide viewer; it is a way to sequence preparation, practice, and feedback before the live course. The phone screenshot is from the existing course app capture; replace with the best current screenshot before the webinar.</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slide to show that this is a real software product. The most important message is content contracts: station content, quiz content, knobology exercises, and simulator metadata live in structured files so AI can modify code without rewriting educational truth.</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first step is product thinking, not UI styling. For AI coding, an excellent prompt is specific enough that a human engineer would know what to build and what not to build.</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an important mindset shift. Use chat tools for framing and critique. Use agentic tools when there is an actual repo, tests, and files to change. Ask one model to critique what another built.</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slide to normalize iteration. The final product is the result of many small prompts, not one magical prompt. Clinician feedback is the key ingredient.</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knobology module is the ideal focus because it is interactive but bounded. The goal is not perfect ultrasound physics; it is practicing an optimization sequence and getting immediate feedback. Replace the placeholder with a current screenshot of the knobology route.</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practical takeaway. The prompt is not clever wording; it is a clear bounded task. I tell the AI where content should live, what claims not to make, and what evidence I expect at the end.</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where clinical expertise matters most. The AI could write geometry code, but it would not know that CP-EBUS should be contact-anchored and target-directed unless I told it. The simulator should not be just an oblique CT slice with a fan pasted on it.</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overview architecture. Keep it high-level. The manifest and validation reports are the safety pattern: they make the data pipeline explicit enough for an AI agent to work on and for a human to review.</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makes the physician-as-director point concrete. The AI agent is not responsible for knowing that station 7 LMS and RMS approaches should remain distinct. That comes from the clinician. Add side-by-side screenshots of the simulator once available.</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a clinician audience, the live demo should be brief and rehearsed. Show the app behavior, then show the prompt and evidence. Avoid getting stuck debugging live.</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to show the real process. The app improved through pivots: platform, media, information architecture, and educational depth. A good AI workflow includes critique and redesign, not just feature requests.</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key professional responsibility slide. The AI can move fast, but you own clinical and educational truth. Use this to prevent the audience from thinking that AI can be the content authority.</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the AABIP audience, this slide should be practical and non-alarming. The SoCal EBUS Prep app is framed as an educational app. The risk changes if it starts analyzing patient data, recommending biopsy targets, or making patient-specific clinical claims.</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gives the audience something they can copy. They can replace the feature line with a form, a quiz, a station-recognition practice loop, a checklist, or a procedure-note parser.</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End the practical section by lowering the barrier. The first project should be deliberately small: a repeated teaching loop, not a platform. The workflow builds confidence.</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by reinforcing that the tools do not remove the need for clinical judgment. They make clinical judgment more important because ideas can become executable quickly.</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1.xml"/><Relationship Id="rId5" Type="http://schemas.openxmlformats.org/officeDocument/2006/relationships/image" Target="../media/image8.png"/><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8.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10.png"/><Relationship Id="rId7" Type="http://schemas.openxmlformats.org/officeDocument/2006/relationships/image" Target="../media/image13.png"/><Relationship Id="rId2" Type="http://schemas.openxmlformats.org/officeDocument/2006/relationships/notesSlide" Target="../notesSlides/notesSlide14.xml"/><Relationship Id="rId1" Type="http://schemas.openxmlformats.org/officeDocument/2006/relationships/slideLayout" Target="../slideLayouts/slideLayout1.xml"/><Relationship Id="rId6" Type="http://schemas.openxmlformats.org/officeDocument/2006/relationships/image" Target="../media/image12.png"/><Relationship Id="rId5" Type="http://schemas.openxmlformats.org/officeDocument/2006/relationships/image" Target="../media/image4.png"/><Relationship Id="rId4" Type="http://schemas.openxmlformats.org/officeDocument/2006/relationships/image" Target="../media/image11.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image" Target="../media/image2.png"/><Relationship Id="rId7" Type="http://schemas.openxmlformats.org/officeDocument/2006/relationships/image" Target="../media/image15.png"/><Relationship Id="rId2" Type="http://schemas.openxmlformats.org/officeDocument/2006/relationships/notesSlide" Target="../notesSlides/notesSlide19.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7.png"/><Relationship Id="rId4" Type="http://schemas.openxmlformats.org/officeDocument/2006/relationships/image" Target="../media/image10.pn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70D1A"/>
        </a:solidFill>
        <a:effectLst/>
      </p:bgPr>
    </p:bg>
    <p:spTree>
      <p:nvGrpSpPr>
        <p:cNvPr id="1" name=""/>
        <p:cNvGrpSpPr/>
        <p:nvPr/>
      </p:nvGrpSpPr>
      <p:grpSpPr>
        <a:xfrm>
          <a:off x="0" y="0"/>
          <a:ext cx="0" cy="0"/>
          <a:chOff x="0" y="0"/>
          <a:chExt cx="0" cy="0"/>
        </a:xfrm>
      </p:grpSpPr>
      <p:sp>
        <p:nvSpPr>
          <p:cNvPr id="2" name="Shape 0"/>
          <p:cNvSpPr/>
          <p:nvPr/>
        </p:nvSpPr>
        <p:spPr>
          <a:xfrm>
            <a:off x="7269480" y="45720"/>
            <a:ext cx="1600200" cy="1600200"/>
          </a:xfrm>
          <a:prstGeom prst="ellipse">
            <a:avLst/>
          </a:prstGeom>
          <a:solidFill>
            <a:srgbClr val="0A2634"/>
          </a:solidFill>
          <a:ln w="12700">
            <a:solidFill>
              <a:srgbClr val="0A2634"/>
            </a:solidFill>
            <a:prstDash val="solid"/>
          </a:ln>
        </p:spPr>
        <p:txBody>
          <a:bodyPr/>
          <a:lstStyle/>
          <a:p>
            <a:endParaRPr lang="en-US"/>
          </a:p>
        </p:txBody>
      </p:sp>
      <p:sp>
        <p:nvSpPr>
          <p:cNvPr id="3" name="Shape 1"/>
          <p:cNvSpPr/>
          <p:nvPr/>
        </p:nvSpPr>
        <p:spPr>
          <a:xfrm>
            <a:off x="7818120" y="3703320"/>
            <a:ext cx="1097280" cy="1097280"/>
          </a:xfrm>
          <a:prstGeom prst="ellipse">
            <a:avLst/>
          </a:prstGeom>
          <a:solidFill>
            <a:srgbClr val="0A2634"/>
          </a:solidFill>
          <a:ln w="12700">
            <a:solidFill>
              <a:srgbClr val="0A2634"/>
            </a:solidFill>
            <a:prstDash val="solid"/>
          </a:ln>
        </p:spPr>
        <p:txBody>
          <a:bodyPr/>
          <a:lstStyle/>
          <a:p>
            <a:endParaRPr lang="en-US"/>
          </a:p>
        </p:txBody>
      </p:sp>
      <p:sp>
        <p:nvSpPr>
          <p:cNvPr id="4" name="Text 2"/>
          <p:cNvSpPr/>
          <p:nvPr/>
        </p:nvSpPr>
        <p:spPr>
          <a:xfrm>
            <a:off x="594360" y="1051560"/>
            <a:ext cx="6217920" cy="914400"/>
          </a:xfrm>
          <a:prstGeom prst="rect">
            <a:avLst/>
          </a:prstGeom>
          <a:noFill/>
          <a:ln/>
        </p:spPr>
        <p:txBody>
          <a:bodyPr wrap="square" lIns="0" tIns="0" rIns="0" bIns="0" rtlCol="0" anchor="ctr"/>
          <a:lstStyle/>
          <a:p>
            <a:pPr marL="0" indent="0">
              <a:buNone/>
            </a:pPr>
            <a:r>
              <a:rPr lang="en-US" sz="2800" b="1" dirty="0">
                <a:solidFill>
                  <a:srgbClr val="F8FAFC"/>
                </a:solidFill>
                <a:latin typeface="Aptos Display" pitchFamily="34" charset="0"/>
                <a:ea typeface="Aptos Display" pitchFamily="34" charset="-122"/>
                <a:cs typeface="Aptos Display" pitchFamily="34" charset="-120"/>
              </a:rPr>
              <a:t>Vibe Coding</a:t>
            </a:r>
            <a:endParaRPr lang="en-US" sz="2800" dirty="0"/>
          </a:p>
          <a:p>
            <a:pPr marL="0" indent="0">
              <a:buNone/>
            </a:pPr>
            <a:r>
              <a:rPr lang="en-US" sz="2800" b="1" dirty="0">
                <a:solidFill>
                  <a:srgbClr val="F8FAFC"/>
                </a:solidFill>
                <a:latin typeface="Aptos Display" pitchFamily="34" charset="0"/>
                <a:ea typeface="Aptos Display" pitchFamily="34" charset="-122"/>
                <a:cs typeface="Aptos Display" pitchFamily="34" charset="-120"/>
              </a:rPr>
              <a:t>for Medical Education</a:t>
            </a:r>
            <a:endParaRPr lang="en-US" sz="2800" dirty="0"/>
          </a:p>
        </p:txBody>
      </p:sp>
      <p:sp>
        <p:nvSpPr>
          <p:cNvPr id="5" name="Text 3"/>
          <p:cNvSpPr/>
          <p:nvPr/>
        </p:nvSpPr>
        <p:spPr>
          <a:xfrm>
            <a:off x="612648" y="2148840"/>
            <a:ext cx="5303520" cy="411480"/>
          </a:xfrm>
          <a:prstGeom prst="rect">
            <a:avLst/>
          </a:prstGeom>
          <a:noFill/>
          <a:ln/>
        </p:spPr>
        <p:txBody>
          <a:bodyPr wrap="square" lIns="0" tIns="0" rIns="0" bIns="0" rtlCol="0" anchor="ctr"/>
          <a:lstStyle/>
          <a:p>
            <a:pPr marL="0" indent="0">
              <a:buNone/>
            </a:pPr>
            <a:r>
              <a:rPr lang="en-US" sz="1050" dirty="0">
                <a:solidFill>
                  <a:srgbClr val="12BFE2"/>
                </a:solidFill>
                <a:latin typeface="Aptos" pitchFamily="34" charset="0"/>
                <a:ea typeface="Aptos" pitchFamily="34" charset="-122"/>
                <a:cs typeface="Aptos" pitchFamily="34" charset="-120"/>
              </a:rPr>
              <a:t>Building clinical &amp; educational material with AI</a:t>
            </a:r>
            <a:endParaRPr lang="en-US" sz="1050" dirty="0"/>
          </a:p>
          <a:p>
            <a:pPr marL="0" indent="0">
              <a:buNone/>
            </a:pPr>
            <a:r>
              <a:rPr lang="en-US" sz="1050" dirty="0">
                <a:solidFill>
                  <a:srgbClr val="12BFE2"/>
                </a:solidFill>
                <a:latin typeface="Aptos" pitchFamily="34" charset="0"/>
                <a:ea typeface="Aptos" pitchFamily="34" charset="-122"/>
                <a:cs typeface="Aptos" pitchFamily="34" charset="-120"/>
              </a:rPr>
              <a:t>SoCal EBUS Prep case study</a:t>
            </a:r>
            <a:endParaRPr lang="en-US" sz="1050" dirty="0"/>
          </a:p>
        </p:txBody>
      </p:sp>
      <p:sp>
        <p:nvSpPr>
          <p:cNvPr id="6" name="Shape 4"/>
          <p:cNvSpPr/>
          <p:nvPr/>
        </p:nvSpPr>
        <p:spPr>
          <a:xfrm>
            <a:off x="612648" y="2743200"/>
            <a:ext cx="1463040" cy="0"/>
          </a:xfrm>
          <a:prstGeom prst="line">
            <a:avLst/>
          </a:prstGeom>
          <a:noFill/>
          <a:ln w="15240">
            <a:solidFill>
              <a:srgbClr val="12BFE2"/>
            </a:solidFill>
            <a:prstDash val="solid"/>
          </a:ln>
        </p:spPr>
        <p:txBody>
          <a:bodyPr/>
          <a:lstStyle/>
          <a:p>
            <a:endParaRPr lang="en-US"/>
          </a:p>
        </p:txBody>
      </p:sp>
      <p:sp>
        <p:nvSpPr>
          <p:cNvPr id="7" name="Text 5"/>
          <p:cNvSpPr/>
          <p:nvPr/>
        </p:nvSpPr>
        <p:spPr>
          <a:xfrm>
            <a:off x="621792" y="3154680"/>
            <a:ext cx="3657600" cy="566928"/>
          </a:xfrm>
          <a:prstGeom prst="rect">
            <a:avLst/>
          </a:prstGeom>
          <a:noFill/>
          <a:ln/>
        </p:spPr>
        <p:txBody>
          <a:bodyPr wrap="square" lIns="0" tIns="0" rIns="0" bIns="0" rtlCol="0" anchor="ctr"/>
          <a:lstStyle/>
          <a:p>
            <a:pPr marL="0" indent="0">
              <a:buNone/>
            </a:pPr>
            <a:r>
              <a:rPr lang="en-US" sz="650" dirty="0">
                <a:solidFill>
                  <a:srgbClr val="F8FAFC"/>
                </a:solidFill>
                <a:latin typeface="Aptos" pitchFamily="34" charset="0"/>
                <a:ea typeface="Aptos" pitchFamily="34" charset="-122"/>
                <a:cs typeface="Aptos" pitchFamily="34" charset="-120"/>
              </a:rPr>
              <a:t>Russell Miller, MD</a:t>
            </a:r>
            <a:endParaRPr lang="en-US" sz="650" dirty="0"/>
          </a:p>
          <a:p>
            <a:pPr marL="0" indent="0">
              <a:buNone/>
            </a:pPr>
            <a:r>
              <a:rPr lang="en-US" sz="650" dirty="0">
                <a:solidFill>
                  <a:srgbClr val="F8FAFC"/>
                </a:solidFill>
                <a:latin typeface="Aptos" pitchFamily="34" charset="0"/>
                <a:ea typeface="Aptos" pitchFamily="34" charset="-122"/>
                <a:cs typeface="Aptos" pitchFamily="34" charset="-120"/>
              </a:rPr>
              <a:t>CAPT, MC, USN</a:t>
            </a:r>
            <a:endParaRPr lang="en-US" sz="650" dirty="0"/>
          </a:p>
          <a:p>
            <a:pPr marL="0" indent="0">
              <a:buNone/>
            </a:pPr>
            <a:r>
              <a:rPr lang="en-US" sz="650" dirty="0">
                <a:solidFill>
                  <a:srgbClr val="F8FAFC"/>
                </a:solidFill>
                <a:latin typeface="Aptos" pitchFamily="34" charset="0"/>
                <a:ea typeface="Aptos" pitchFamily="34" charset="-122"/>
                <a:cs typeface="Aptos" pitchFamily="34" charset="-120"/>
              </a:rPr>
              <a:t>Director of Interventional Pulmonology, NMCSD</a:t>
            </a:r>
            <a:endParaRPr lang="en-US" sz="650" dirty="0"/>
          </a:p>
          <a:p>
            <a:pPr marL="0" indent="0">
              <a:buNone/>
            </a:pPr>
            <a:r>
              <a:rPr lang="en-US" sz="650" dirty="0">
                <a:solidFill>
                  <a:srgbClr val="F8FAFC"/>
                </a:solidFill>
                <a:latin typeface="Aptos" pitchFamily="34" charset="0"/>
                <a:ea typeface="Aptos" pitchFamily="34" charset="-122"/>
                <a:cs typeface="Aptos" pitchFamily="34" charset="-120"/>
              </a:rPr>
              <a:t>Associate Professor, UC San Diego</a:t>
            </a:r>
            <a:endParaRPr lang="en-US" sz="650" dirty="0"/>
          </a:p>
        </p:txBody>
      </p:sp>
      <p:sp>
        <p:nvSpPr>
          <p:cNvPr id="8" name="Text 6"/>
          <p:cNvSpPr/>
          <p:nvPr/>
        </p:nvSpPr>
        <p:spPr>
          <a:xfrm>
            <a:off x="621792" y="4443984"/>
            <a:ext cx="3657600" cy="109728"/>
          </a:xfrm>
          <a:prstGeom prst="rect">
            <a:avLst/>
          </a:prstGeom>
          <a:noFill/>
          <a:ln/>
        </p:spPr>
        <p:txBody>
          <a:bodyPr wrap="square" lIns="0" tIns="0" rIns="0" bIns="0" rtlCol="0" anchor="ctr"/>
          <a:lstStyle/>
          <a:p>
            <a:pPr marL="0" indent="0">
              <a:buNone/>
            </a:pPr>
            <a:r>
              <a:rPr lang="en-US" sz="550" dirty="0">
                <a:solidFill>
                  <a:srgbClr val="5F6B7A"/>
                </a:solidFill>
                <a:latin typeface="Aptos" pitchFamily="34" charset="0"/>
                <a:ea typeface="Aptos" pitchFamily="34" charset="-122"/>
                <a:cs typeface="Aptos" pitchFamily="34" charset="-120"/>
              </a:rPr>
              <a:t>AABIP Webinar  •  AI in Interventional Pulmonology  •  2026</a:t>
            </a:r>
            <a:endParaRPr lang="en-US" sz="5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70D1A"/>
        </a:solidFill>
        <a:effectLst/>
      </p:bgPr>
    </p:bg>
    <p:spTree>
      <p:nvGrpSpPr>
        <p:cNvPr id="1" name=""/>
        <p:cNvGrpSpPr/>
        <p:nvPr/>
      </p:nvGrpSpPr>
      <p:grpSpPr>
        <a:xfrm>
          <a:off x="0" y="0"/>
          <a:ext cx="0" cy="0"/>
          <a:chOff x="0" y="0"/>
          <a:chExt cx="0" cy="0"/>
        </a:xfrm>
      </p:grpSpPr>
      <p:sp>
        <p:nvSpPr>
          <p:cNvPr id="2" name="Text 0"/>
          <p:cNvSpPr/>
          <p:nvPr/>
        </p:nvSpPr>
        <p:spPr>
          <a:xfrm>
            <a:off x="411480" y="274320"/>
            <a:ext cx="3474720" cy="146304"/>
          </a:xfrm>
          <a:prstGeom prst="rect">
            <a:avLst/>
          </a:prstGeom>
          <a:noFill/>
          <a:ln/>
        </p:spPr>
        <p:txBody>
          <a:bodyPr wrap="square" lIns="0" tIns="0" rIns="0" bIns="0" rtlCol="0" anchor="ctr"/>
          <a:lstStyle/>
          <a:p>
            <a:pPr marL="0" indent="0">
              <a:buNone/>
            </a:pPr>
            <a:r>
              <a:rPr lang="en-US" sz="650" b="1" dirty="0">
                <a:solidFill>
                  <a:srgbClr val="12BFE2"/>
                </a:solidFill>
                <a:latin typeface="Aptos" pitchFamily="34" charset="0"/>
                <a:ea typeface="Aptos" pitchFamily="34" charset="-122"/>
                <a:cs typeface="Aptos" pitchFamily="34" charset="-120"/>
              </a:rPr>
              <a:t>ROADMAP</a:t>
            </a:r>
            <a:endParaRPr lang="en-US" sz="650" dirty="0"/>
          </a:p>
        </p:txBody>
      </p:sp>
      <p:sp>
        <p:nvSpPr>
          <p:cNvPr id="3" name="Text 1"/>
          <p:cNvSpPr/>
          <p:nvPr/>
        </p:nvSpPr>
        <p:spPr>
          <a:xfrm>
            <a:off x="411480" y="612648"/>
            <a:ext cx="5669280" cy="384048"/>
          </a:xfrm>
          <a:prstGeom prst="rect">
            <a:avLst/>
          </a:prstGeom>
          <a:noFill/>
          <a:ln/>
        </p:spPr>
        <p:txBody>
          <a:bodyPr wrap="square" lIns="0" tIns="0" rIns="0" bIns="0" rtlCol="0" anchor="ctr">
            <a:normAutofit/>
          </a:bodyPr>
          <a:lstStyle/>
          <a:p>
            <a:pPr marL="0" indent="0">
              <a:buNone/>
            </a:pPr>
            <a:r>
              <a:rPr lang="en-US" sz="2100" b="1" dirty="0">
                <a:solidFill>
                  <a:srgbClr val="F8FAFC"/>
                </a:solidFill>
                <a:latin typeface="Aptos Display" pitchFamily="34" charset="0"/>
                <a:ea typeface="Aptos Display" pitchFamily="34" charset="-122"/>
                <a:cs typeface="Aptos Display" pitchFamily="34" charset="-120"/>
              </a:rPr>
              <a:t>What this 20-minute section will cover</a:t>
            </a:r>
            <a:endParaRPr lang="en-US" sz="2100" dirty="0"/>
          </a:p>
        </p:txBody>
      </p:sp>
      <p:sp>
        <p:nvSpPr>
          <p:cNvPr id="4" name="Text 2"/>
          <p:cNvSpPr/>
          <p:nvPr/>
        </p:nvSpPr>
        <p:spPr>
          <a:xfrm>
            <a:off x="411480" y="4828032"/>
            <a:ext cx="4754880" cy="109728"/>
          </a:xfrm>
          <a:prstGeom prst="rect">
            <a:avLst/>
          </a:prstGeom>
          <a:noFill/>
          <a:ln/>
        </p:spPr>
        <p:txBody>
          <a:bodyPr wrap="square" lIns="0" tIns="0" rIns="0" bIns="0" rtlCol="0" anchor="ctr"/>
          <a:lstStyle/>
          <a:p>
            <a:pPr marL="0" indent="0">
              <a:buNone/>
            </a:pPr>
            <a:r>
              <a:rPr lang="en-US" sz="550" dirty="0">
                <a:solidFill>
                  <a:srgbClr val="5F6B7A"/>
                </a:solidFill>
                <a:latin typeface="Aptos" pitchFamily="34" charset="0"/>
                <a:ea typeface="Aptos" pitchFamily="34" charset="-122"/>
                <a:cs typeface="Aptos" pitchFamily="34" charset="-120"/>
              </a:rPr>
              <a:t>AABIP Webinar 2026  |  AI in Interventional Pulmonology</a:t>
            </a:r>
            <a:endParaRPr lang="en-US" sz="550" dirty="0"/>
          </a:p>
        </p:txBody>
      </p:sp>
      <p:sp>
        <p:nvSpPr>
          <p:cNvPr id="5" name="Text 3"/>
          <p:cNvSpPr/>
          <p:nvPr/>
        </p:nvSpPr>
        <p:spPr>
          <a:xfrm>
            <a:off x="8366760" y="4828032"/>
            <a:ext cx="365760" cy="109728"/>
          </a:xfrm>
          <a:prstGeom prst="rect">
            <a:avLst/>
          </a:prstGeom>
          <a:noFill/>
          <a:ln/>
        </p:spPr>
        <p:txBody>
          <a:bodyPr wrap="square" lIns="0" tIns="0" rIns="0" bIns="0" rtlCol="0" anchor="ctr"/>
          <a:lstStyle/>
          <a:p>
            <a:pPr marL="0" indent="0" algn="r">
              <a:buNone/>
            </a:pPr>
            <a:r>
              <a:rPr lang="en-US" sz="550" dirty="0">
                <a:solidFill>
                  <a:srgbClr val="5F6B7A"/>
                </a:solidFill>
                <a:latin typeface="Aptos" pitchFamily="34" charset="0"/>
                <a:ea typeface="Aptos" pitchFamily="34" charset="-122"/>
                <a:cs typeface="Aptos" pitchFamily="34" charset="-120"/>
              </a:rPr>
              <a:t>2 / 22</a:t>
            </a:r>
            <a:endParaRPr lang="en-US" sz="550" dirty="0"/>
          </a:p>
        </p:txBody>
      </p:sp>
      <p:sp>
        <p:nvSpPr>
          <p:cNvPr id="6" name="Shape 4"/>
          <p:cNvSpPr/>
          <p:nvPr/>
        </p:nvSpPr>
        <p:spPr>
          <a:xfrm>
            <a:off x="411480" y="1060704"/>
            <a:ext cx="1143000" cy="0"/>
          </a:xfrm>
          <a:prstGeom prst="line">
            <a:avLst/>
          </a:prstGeom>
          <a:noFill/>
          <a:ln w="15240">
            <a:solidFill>
              <a:srgbClr val="12BFE2"/>
            </a:solidFill>
            <a:prstDash val="solid"/>
          </a:ln>
        </p:spPr>
        <p:txBody>
          <a:bodyPr/>
          <a:lstStyle/>
          <a:p>
            <a:endParaRPr lang="en-US"/>
          </a:p>
        </p:txBody>
      </p:sp>
      <p:sp>
        <p:nvSpPr>
          <p:cNvPr id="7" name="Shape 5"/>
          <p:cNvSpPr/>
          <p:nvPr/>
        </p:nvSpPr>
        <p:spPr>
          <a:xfrm>
            <a:off x="594360" y="1417320"/>
            <a:ext cx="384048" cy="384048"/>
          </a:xfrm>
          <a:prstGeom prst="ellipse">
            <a:avLst/>
          </a:prstGeom>
          <a:solidFill>
            <a:srgbClr val="12BFE2"/>
          </a:solidFill>
          <a:ln w="12700">
            <a:solidFill>
              <a:srgbClr val="12BFE2"/>
            </a:solidFill>
            <a:prstDash val="solid"/>
          </a:ln>
        </p:spPr>
        <p:txBody>
          <a:bodyPr/>
          <a:lstStyle/>
          <a:p>
            <a:endParaRPr lang="en-US"/>
          </a:p>
        </p:txBody>
      </p:sp>
      <p:sp>
        <p:nvSpPr>
          <p:cNvPr id="8" name="Text 6"/>
          <p:cNvSpPr/>
          <p:nvPr/>
        </p:nvSpPr>
        <p:spPr>
          <a:xfrm>
            <a:off x="594360" y="1499616"/>
            <a:ext cx="384048" cy="146304"/>
          </a:xfrm>
          <a:prstGeom prst="rect">
            <a:avLst/>
          </a:prstGeom>
          <a:noFill/>
          <a:ln/>
        </p:spPr>
        <p:txBody>
          <a:bodyPr wrap="square" lIns="0" tIns="0" rIns="0" bIns="0" rtlCol="0" anchor="ctr"/>
          <a:lstStyle/>
          <a:p>
            <a:pPr marL="0" indent="0" algn="ctr">
              <a:buNone/>
            </a:pPr>
            <a:r>
              <a:rPr lang="en-US" sz="800" b="1" dirty="0">
                <a:solidFill>
                  <a:srgbClr val="070D1A"/>
                </a:solidFill>
              </a:rPr>
              <a:t>1</a:t>
            </a:r>
            <a:endParaRPr lang="en-US" sz="800" dirty="0"/>
          </a:p>
        </p:txBody>
      </p:sp>
      <p:sp>
        <p:nvSpPr>
          <p:cNvPr id="9" name="Shape 7"/>
          <p:cNvSpPr/>
          <p:nvPr/>
        </p:nvSpPr>
        <p:spPr>
          <a:xfrm>
            <a:off x="1097280" y="1609344"/>
            <a:ext cx="1234440" cy="0"/>
          </a:xfrm>
          <a:prstGeom prst="line">
            <a:avLst/>
          </a:prstGeom>
          <a:noFill/>
          <a:ln w="12700">
            <a:solidFill>
              <a:srgbClr val="1F8EA3"/>
            </a:solidFill>
            <a:prstDash val="solid"/>
            <a:tailEnd type="triangle"/>
          </a:ln>
        </p:spPr>
        <p:txBody>
          <a:bodyPr/>
          <a:lstStyle/>
          <a:p>
            <a:endParaRPr lang="en-US"/>
          </a:p>
        </p:txBody>
      </p:sp>
      <p:sp>
        <p:nvSpPr>
          <p:cNvPr id="10" name="Text 8"/>
          <p:cNvSpPr/>
          <p:nvPr/>
        </p:nvSpPr>
        <p:spPr>
          <a:xfrm>
            <a:off x="365760" y="1993392"/>
            <a:ext cx="1645920" cy="256032"/>
          </a:xfrm>
          <a:prstGeom prst="rect">
            <a:avLst/>
          </a:prstGeom>
          <a:noFill/>
          <a:ln/>
        </p:spPr>
        <p:txBody>
          <a:bodyPr wrap="square" lIns="0" tIns="0" rIns="0" bIns="0" rtlCol="0" anchor="ctr">
            <a:normAutofit/>
          </a:bodyPr>
          <a:lstStyle/>
          <a:p>
            <a:pPr marL="0" indent="0" algn="ctr">
              <a:buNone/>
            </a:pPr>
            <a:r>
              <a:rPr lang="en-US" sz="1050" b="1" dirty="0">
                <a:solidFill>
                  <a:srgbClr val="F8FAFC"/>
                </a:solidFill>
                <a:latin typeface="Aptos" pitchFamily="34" charset="0"/>
                <a:ea typeface="Aptos" pitchFamily="34" charset="-122"/>
                <a:cs typeface="Aptos" pitchFamily="34" charset="-120"/>
              </a:rPr>
              <a:t>Start with the educational job</a:t>
            </a:r>
            <a:endParaRPr lang="en-US" sz="1050" dirty="0"/>
          </a:p>
        </p:txBody>
      </p:sp>
      <p:sp>
        <p:nvSpPr>
          <p:cNvPr id="11" name="Text 9"/>
          <p:cNvSpPr/>
          <p:nvPr/>
        </p:nvSpPr>
        <p:spPr>
          <a:xfrm>
            <a:off x="365760" y="2404872"/>
            <a:ext cx="1645920" cy="594360"/>
          </a:xfrm>
          <a:prstGeom prst="rect">
            <a:avLst/>
          </a:prstGeom>
          <a:noFill/>
          <a:ln/>
        </p:spPr>
        <p:txBody>
          <a:bodyPr wrap="square" lIns="254" tIns="254" rIns="254" bIns="254" rtlCol="0" anchor="ctr">
            <a:normAutofit/>
          </a:bodyPr>
          <a:lstStyle/>
          <a:p>
            <a:pPr marL="0" indent="0" algn="ctr">
              <a:buNone/>
            </a:pPr>
            <a:r>
              <a:rPr lang="en-US" sz="720" dirty="0">
                <a:solidFill>
                  <a:srgbClr val="A7B3C6"/>
                </a:solidFill>
                <a:latin typeface="Aptos" pitchFamily="34" charset="0"/>
                <a:ea typeface="Aptos" pitchFamily="34" charset="-122"/>
                <a:cs typeface="Aptos" pitchFamily="34" charset="-120"/>
              </a:rPr>
              <a:t>What should the learner see, do, practice, and remember?</a:t>
            </a:r>
            <a:endParaRPr lang="en-US" sz="720" dirty="0"/>
          </a:p>
        </p:txBody>
      </p:sp>
      <p:sp>
        <p:nvSpPr>
          <p:cNvPr id="12" name="Shape 10"/>
          <p:cNvSpPr/>
          <p:nvPr/>
        </p:nvSpPr>
        <p:spPr>
          <a:xfrm>
            <a:off x="2651760" y="1417320"/>
            <a:ext cx="384048" cy="384048"/>
          </a:xfrm>
          <a:prstGeom prst="ellipse">
            <a:avLst/>
          </a:prstGeom>
          <a:solidFill>
            <a:srgbClr val="12BFE2"/>
          </a:solidFill>
          <a:ln w="12700">
            <a:solidFill>
              <a:srgbClr val="12BFE2"/>
            </a:solidFill>
            <a:prstDash val="solid"/>
          </a:ln>
        </p:spPr>
        <p:txBody>
          <a:bodyPr/>
          <a:lstStyle/>
          <a:p>
            <a:endParaRPr lang="en-US"/>
          </a:p>
        </p:txBody>
      </p:sp>
      <p:sp>
        <p:nvSpPr>
          <p:cNvPr id="13" name="Text 11"/>
          <p:cNvSpPr/>
          <p:nvPr/>
        </p:nvSpPr>
        <p:spPr>
          <a:xfrm>
            <a:off x="2651760" y="1499616"/>
            <a:ext cx="384048" cy="146304"/>
          </a:xfrm>
          <a:prstGeom prst="rect">
            <a:avLst/>
          </a:prstGeom>
          <a:noFill/>
          <a:ln/>
        </p:spPr>
        <p:txBody>
          <a:bodyPr wrap="square" lIns="0" tIns="0" rIns="0" bIns="0" rtlCol="0" anchor="ctr"/>
          <a:lstStyle/>
          <a:p>
            <a:pPr marL="0" indent="0" algn="ctr">
              <a:buNone/>
            </a:pPr>
            <a:r>
              <a:rPr lang="en-US" sz="800" b="1" dirty="0">
                <a:solidFill>
                  <a:srgbClr val="070D1A"/>
                </a:solidFill>
              </a:rPr>
              <a:t>2</a:t>
            </a:r>
            <a:endParaRPr lang="en-US" sz="800" dirty="0"/>
          </a:p>
        </p:txBody>
      </p:sp>
      <p:sp>
        <p:nvSpPr>
          <p:cNvPr id="14" name="Shape 12"/>
          <p:cNvSpPr/>
          <p:nvPr/>
        </p:nvSpPr>
        <p:spPr>
          <a:xfrm>
            <a:off x="3154680" y="1609344"/>
            <a:ext cx="1234440" cy="0"/>
          </a:xfrm>
          <a:prstGeom prst="line">
            <a:avLst/>
          </a:prstGeom>
          <a:noFill/>
          <a:ln w="12700">
            <a:solidFill>
              <a:srgbClr val="1F8EA3"/>
            </a:solidFill>
            <a:prstDash val="solid"/>
            <a:tailEnd type="triangle"/>
          </a:ln>
        </p:spPr>
        <p:txBody>
          <a:bodyPr/>
          <a:lstStyle/>
          <a:p>
            <a:endParaRPr lang="en-US"/>
          </a:p>
        </p:txBody>
      </p:sp>
      <p:sp>
        <p:nvSpPr>
          <p:cNvPr id="15" name="Text 13"/>
          <p:cNvSpPr/>
          <p:nvPr/>
        </p:nvSpPr>
        <p:spPr>
          <a:xfrm>
            <a:off x="2423160" y="1993392"/>
            <a:ext cx="1645920" cy="256032"/>
          </a:xfrm>
          <a:prstGeom prst="rect">
            <a:avLst/>
          </a:prstGeom>
          <a:noFill/>
          <a:ln/>
        </p:spPr>
        <p:txBody>
          <a:bodyPr wrap="square" lIns="0" tIns="0" rIns="0" bIns="0" rtlCol="0" anchor="ctr">
            <a:normAutofit/>
          </a:bodyPr>
          <a:lstStyle/>
          <a:p>
            <a:pPr marL="0" indent="0" algn="ctr">
              <a:buNone/>
            </a:pPr>
            <a:r>
              <a:rPr lang="en-US" sz="1050" b="1" dirty="0">
                <a:solidFill>
                  <a:srgbClr val="F8FAFC"/>
                </a:solidFill>
                <a:latin typeface="Aptos" pitchFamily="34" charset="0"/>
                <a:ea typeface="Aptos" pitchFamily="34" charset="-122"/>
                <a:cs typeface="Aptos" pitchFamily="34" charset="-120"/>
              </a:rPr>
              <a:t>Direct AI like a developer</a:t>
            </a:r>
            <a:endParaRPr lang="en-US" sz="1050" dirty="0"/>
          </a:p>
        </p:txBody>
      </p:sp>
      <p:sp>
        <p:nvSpPr>
          <p:cNvPr id="16" name="Text 14"/>
          <p:cNvSpPr/>
          <p:nvPr/>
        </p:nvSpPr>
        <p:spPr>
          <a:xfrm>
            <a:off x="2423160" y="2404872"/>
            <a:ext cx="1645920" cy="594360"/>
          </a:xfrm>
          <a:prstGeom prst="rect">
            <a:avLst/>
          </a:prstGeom>
          <a:noFill/>
          <a:ln/>
        </p:spPr>
        <p:txBody>
          <a:bodyPr wrap="square" lIns="254" tIns="254" rIns="254" bIns="254" rtlCol="0" anchor="ctr">
            <a:normAutofit/>
          </a:bodyPr>
          <a:lstStyle/>
          <a:p>
            <a:pPr marL="0" indent="0" algn="ctr">
              <a:buNone/>
            </a:pPr>
            <a:r>
              <a:rPr lang="en-US" sz="720" dirty="0">
                <a:solidFill>
                  <a:srgbClr val="A7B3C6"/>
                </a:solidFill>
                <a:latin typeface="Aptos" pitchFamily="34" charset="0"/>
                <a:ea typeface="Aptos" pitchFamily="34" charset="-122"/>
                <a:cs typeface="Aptos" pitchFamily="34" charset="-120"/>
              </a:rPr>
              <a:t>Use plain English constraints, examples, and acceptance checks.</a:t>
            </a:r>
            <a:endParaRPr lang="en-US" sz="720" dirty="0"/>
          </a:p>
        </p:txBody>
      </p:sp>
      <p:sp>
        <p:nvSpPr>
          <p:cNvPr id="17" name="Shape 15"/>
          <p:cNvSpPr/>
          <p:nvPr/>
        </p:nvSpPr>
        <p:spPr>
          <a:xfrm>
            <a:off x="4709160" y="1417320"/>
            <a:ext cx="384048" cy="384048"/>
          </a:xfrm>
          <a:prstGeom prst="ellipse">
            <a:avLst/>
          </a:prstGeom>
          <a:solidFill>
            <a:srgbClr val="F59E0B"/>
          </a:solidFill>
          <a:ln w="12700">
            <a:solidFill>
              <a:srgbClr val="F59E0B"/>
            </a:solidFill>
            <a:prstDash val="solid"/>
          </a:ln>
        </p:spPr>
        <p:txBody>
          <a:bodyPr/>
          <a:lstStyle/>
          <a:p>
            <a:endParaRPr lang="en-US"/>
          </a:p>
        </p:txBody>
      </p:sp>
      <p:sp>
        <p:nvSpPr>
          <p:cNvPr id="18" name="Text 16"/>
          <p:cNvSpPr/>
          <p:nvPr/>
        </p:nvSpPr>
        <p:spPr>
          <a:xfrm>
            <a:off x="4709160" y="1499616"/>
            <a:ext cx="384048" cy="146304"/>
          </a:xfrm>
          <a:prstGeom prst="rect">
            <a:avLst/>
          </a:prstGeom>
          <a:noFill/>
          <a:ln/>
        </p:spPr>
        <p:txBody>
          <a:bodyPr wrap="square" lIns="0" tIns="0" rIns="0" bIns="0" rtlCol="0" anchor="ctr"/>
          <a:lstStyle/>
          <a:p>
            <a:pPr marL="0" indent="0" algn="ctr">
              <a:buNone/>
            </a:pPr>
            <a:r>
              <a:rPr lang="en-US" sz="800" b="1" dirty="0">
                <a:solidFill>
                  <a:srgbClr val="070D1A"/>
                </a:solidFill>
              </a:rPr>
              <a:t>3</a:t>
            </a:r>
            <a:endParaRPr lang="en-US" sz="800" dirty="0"/>
          </a:p>
        </p:txBody>
      </p:sp>
      <p:sp>
        <p:nvSpPr>
          <p:cNvPr id="19" name="Shape 17"/>
          <p:cNvSpPr/>
          <p:nvPr/>
        </p:nvSpPr>
        <p:spPr>
          <a:xfrm>
            <a:off x="5212080" y="1609344"/>
            <a:ext cx="1234440" cy="0"/>
          </a:xfrm>
          <a:prstGeom prst="line">
            <a:avLst/>
          </a:prstGeom>
          <a:noFill/>
          <a:ln w="12700">
            <a:solidFill>
              <a:srgbClr val="1F8EA3"/>
            </a:solidFill>
            <a:prstDash val="solid"/>
            <a:tailEnd type="triangle"/>
          </a:ln>
        </p:spPr>
        <p:txBody>
          <a:bodyPr/>
          <a:lstStyle/>
          <a:p>
            <a:endParaRPr lang="en-US"/>
          </a:p>
        </p:txBody>
      </p:sp>
      <p:sp>
        <p:nvSpPr>
          <p:cNvPr id="20" name="Text 18"/>
          <p:cNvSpPr/>
          <p:nvPr/>
        </p:nvSpPr>
        <p:spPr>
          <a:xfrm>
            <a:off x="4480560" y="1993392"/>
            <a:ext cx="1645920" cy="256032"/>
          </a:xfrm>
          <a:prstGeom prst="rect">
            <a:avLst/>
          </a:prstGeom>
          <a:noFill/>
          <a:ln/>
        </p:spPr>
        <p:txBody>
          <a:bodyPr wrap="square" lIns="0" tIns="0" rIns="0" bIns="0" rtlCol="0" anchor="ctr">
            <a:normAutofit/>
          </a:bodyPr>
          <a:lstStyle/>
          <a:p>
            <a:pPr marL="0" indent="0" algn="ctr">
              <a:buNone/>
            </a:pPr>
            <a:r>
              <a:rPr lang="en-US" sz="1050" b="1" dirty="0">
                <a:solidFill>
                  <a:srgbClr val="F8FAFC"/>
                </a:solidFill>
                <a:latin typeface="Aptos" pitchFamily="34" charset="0"/>
                <a:ea typeface="Aptos" pitchFamily="34" charset="-122"/>
                <a:cs typeface="Aptos" pitchFamily="34" charset="-120"/>
              </a:rPr>
              <a:t>Case study deep dive</a:t>
            </a:r>
            <a:endParaRPr lang="en-US" sz="1050" dirty="0"/>
          </a:p>
        </p:txBody>
      </p:sp>
      <p:sp>
        <p:nvSpPr>
          <p:cNvPr id="21" name="Text 19"/>
          <p:cNvSpPr/>
          <p:nvPr/>
        </p:nvSpPr>
        <p:spPr>
          <a:xfrm>
            <a:off x="4480560" y="2404872"/>
            <a:ext cx="1645920" cy="594360"/>
          </a:xfrm>
          <a:prstGeom prst="rect">
            <a:avLst/>
          </a:prstGeom>
          <a:noFill/>
          <a:ln/>
        </p:spPr>
        <p:txBody>
          <a:bodyPr wrap="square" lIns="254" tIns="254" rIns="254" bIns="254" rtlCol="0" anchor="ctr">
            <a:normAutofit/>
          </a:bodyPr>
          <a:lstStyle/>
          <a:p>
            <a:pPr marL="0" indent="0" algn="ctr">
              <a:buNone/>
            </a:pPr>
            <a:r>
              <a:rPr lang="en-US" sz="720" dirty="0">
                <a:solidFill>
                  <a:srgbClr val="A7B3C6"/>
                </a:solidFill>
                <a:latin typeface="Aptos" pitchFamily="34" charset="0"/>
                <a:ea typeface="Aptos" pitchFamily="34" charset="-122"/>
                <a:cs typeface="Aptos" pitchFamily="34" charset="-120"/>
              </a:rPr>
              <a:t>Knobology and the EBUS simulator as the best teaching modules.</a:t>
            </a:r>
            <a:endParaRPr lang="en-US" sz="720" dirty="0"/>
          </a:p>
        </p:txBody>
      </p:sp>
      <p:sp>
        <p:nvSpPr>
          <p:cNvPr id="22" name="Shape 20"/>
          <p:cNvSpPr/>
          <p:nvPr/>
        </p:nvSpPr>
        <p:spPr>
          <a:xfrm>
            <a:off x="6766560" y="1417320"/>
            <a:ext cx="384048" cy="384048"/>
          </a:xfrm>
          <a:prstGeom prst="ellipse">
            <a:avLst/>
          </a:prstGeom>
          <a:solidFill>
            <a:srgbClr val="12BFE2"/>
          </a:solidFill>
          <a:ln w="12700">
            <a:solidFill>
              <a:srgbClr val="12BFE2"/>
            </a:solidFill>
            <a:prstDash val="solid"/>
          </a:ln>
        </p:spPr>
        <p:txBody>
          <a:bodyPr/>
          <a:lstStyle/>
          <a:p>
            <a:endParaRPr lang="en-US"/>
          </a:p>
        </p:txBody>
      </p:sp>
      <p:sp>
        <p:nvSpPr>
          <p:cNvPr id="23" name="Text 21"/>
          <p:cNvSpPr/>
          <p:nvPr/>
        </p:nvSpPr>
        <p:spPr>
          <a:xfrm>
            <a:off x="6766560" y="1499616"/>
            <a:ext cx="384048" cy="146304"/>
          </a:xfrm>
          <a:prstGeom prst="rect">
            <a:avLst/>
          </a:prstGeom>
          <a:noFill/>
          <a:ln/>
        </p:spPr>
        <p:txBody>
          <a:bodyPr wrap="square" lIns="0" tIns="0" rIns="0" bIns="0" rtlCol="0" anchor="ctr"/>
          <a:lstStyle/>
          <a:p>
            <a:pPr marL="0" indent="0" algn="ctr">
              <a:buNone/>
            </a:pPr>
            <a:r>
              <a:rPr lang="en-US" sz="800" b="1" dirty="0">
                <a:solidFill>
                  <a:srgbClr val="070D1A"/>
                </a:solidFill>
              </a:rPr>
              <a:t>4</a:t>
            </a:r>
            <a:endParaRPr lang="en-US" sz="800" dirty="0"/>
          </a:p>
        </p:txBody>
      </p:sp>
      <p:sp>
        <p:nvSpPr>
          <p:cNvPr id="24" name="Text 22"/>
          <p:cNvSpPr/>
          <p:nvPr/>
        </p:nvSpPr>
        <p:spPr>
          <a:xfrm>
            <a:off x="6537960" y="1993392"/>
            <a:ext cx="1645920" cy="256032"/>
          </a:xfrm>
          <a:prstGeom prst="rect">
            <a:avLst/>
          </a:prstGeom>
          <a:noFill/>
          <a:ln/>
        </p:spPr>
        <p:txBody>
          <a:bodyPr wrap="square" lIns="0" tIns="0" rIns="0" bIns="0" rtlCol="0" anchor="ctr">
            <a:normAutofit/>
          </a:bodyPr>
          <a:lstStyle/>
          <a:p>
            <a:pPr marL="0" indent="0" algn="ctr">
              <a:buNone/>
            </a:pPr>
            <a:r>
              <a:rPr lang="en-US" sz="1050" b="1" dirty="0">
                <a:solidFill>
                  <a:srgbClr val="F8FAFC"/>
                </a:solidFill>
                <a:latin typeface="Aptos" pitchFamily="34" charset="0"/>
                <a:ea typeface="Aptos" pitchFamily="34" charset="-122"/>
                <a:cs typeface="Aptos" pitchFamily="34" charset="-120"/>
              </a:rPr>
              <a:t>Leave with a playbook</a:t>
            </a:r>
            <a:endParaRPr lang="en-US" sz="1050" dirty="0"/>
          </a:p>
        </p:txBody>
      </p:sp>
      <p:sp>
        <p:nvSpPr>
          <p:cNvPr id="25" name="Text 23"/>
          <p:cNvSpPr/>
          <p:nvPr/>
        </p:nvSpPr>
        <p:spPr>
          <a:xfrm>
            <a:off x="6537960" y="2404872"/>
            <a:ext cx="1645920" cy="594360"/>
          </a:xfrm>
          <a:prstGeom prst="rect">
            <a:avLst/>
          </a:prstGeom>
          <a:noFill/>
          <a:ln/>
        </p:spPr>
        <p:txBody>
          <a:bodyPr wrap="square" lIns="254" tIns="254" rIns="254" bIns="254" rtlCol="0" anchor="ctr">
            <a:normAutofit/>
          </a:bodyPr>
          <a:lstStyle/>
          <a:p>
            <a:pPr marL="0" indent="0" algn="ctr">
              <a:buNone/>
            </a:pPr>
            <a:r>
              <a:rPr lang="en-US" sz="720" dirty="0">
                <a:solidFill>
                  <a:srgbClr val="A7B3C6"/>
                </a:solidFill>
                <a:latin typeface="Aptos" pitchFamily="34" charset="0"/>
                <a:ea typeface="Aptos" pitchFamily="34" charset="-122"/>
                <a:cs typeface="Aptos" pitchFamily="34" charset="-120"/>
              </a:rPr>
              <a:t>How to start dabbling with Codex, Cursor, Claude Code, etc.</a:t>
            </a:r>
            <a:endParaRPr lang="en-US" sz="720" dirty="0"/>
          </a:p>
        </p:txBody>
      </p:sp>
      <p:sp>
        <p:nvSpPr>
          <p:cNvPr id="26" name="Shape 24"/>
          <p:cNvSpPr/>
          <p:nvPr/>
        </p:nvSpPr>
        <p:spPr>
          <a:xfrm>
            <a:off x="1005840" y="3685032"/>
            <a:ext cx="7132320" cy="594360"/>
          </a:xfrm>
          <a:prstGeom prst="roundRect">
            <a:avLst/>
          </a:prstGeom>
          <a:solidFill>
            <a:srgbClr val="111A2D"/>
          </a:solidFill>
          <a:ln w="12700">
            <a:solidFill>
              <a:srgbClr val="111A2D"/>
            </a:solidFill>
            <a:prstDash val="solid"/>
          </a:ln>
        </p:spPr>
        <p:txBody>
          <a:bodyPr/>
          <a:lstStyle/>
          <a:p>
            <a:endParaRPr lang="en-US"/>
          </a:p>
        </p:txBody>
      </p:sp>
      <p:sp>
        <p:nvSpPr>
          <p:cNvPr id="27" name="Shape 25"/>
          <p:cNvSpPr/>
          <p:nvPr/>
        </p:nvSpPr>
        <p:spPr>
          <a:xfrm>
            <a:off x="1005840" y="3685032"/>
            <a:ext cx="36576" cy="594360"/>
          </a:xfrm>
          <a:prstGeom prst="rect">
            <a:avLst/>
          </a:prstGeom>
          <a:solidFill>
            <a:srgbClr val="2DD4BF"/>
          </a:solidFill>
          <a:ln w="12700">
            <a:solidFill>
              <a:srgbClr val="2DD4BF"/>
            </a:solidFill>
            <a:prstDash val="solid"/>
          </a:ln>
        </p:spPr>
        <p:txBody>
          <a:bodyPr/>
          <a:lstStyle/>
          <a:p>
            <a:endParaRPr lang="en-US"/>
          </a:p>
        </p:txBody>
      </p:sp>
      <p:sp>
        <p:nvSpPr>
          <p:cNvPr id="28" name="Text 26"/>
          <p:cNvSpPr/>
          <p:nvPr/>
        </p:nvSpPr>
        <p:spPr>
          <a:xfrm>
            <a:off x="1170432" y="3849624"/>
            <a:ext cx="6830568" cy="338328"/>
          </a:xfrm>
          <a:prstGeom prst="rect">
            <a:avLst/>
          </a:prstGeom>
          <a:noFill/>
          <a:ln/>
        </p:spPr>
        <p:txBody>
          <a:bodyPr wrap="square" lIns="0" tIns="0" rIns="0" bIns="0" rtlCol="0" anchor="ctr">
            <a:normAutofit/>
          </a:bodyPr>
          <a:lstStyle/>
          <a:p>
            <a:pPr marL="0" indent="0">
              <a:buNone/>
            </a:pPr>
            <a:r>
              <a:rPr lang="en-US" sz="900" dirty="0">
                <a:solidFill>
                  <a:srgbClr val="F8FAFC"/>
                </a:solidFill>
                <a:latin typeface="Aptos" pitchFamily="34" charset="0"/>
                <a:ea typeface="Aptos" pitchFamily="34" charset="-122"/>
                <a:cs typeface="Aptos" pitchFamily="34" charset="-120"/>
              </a:rPr>
              <a:t>The goal is not to teach React or TypeScript.</a:t>
            </a:r>
            <a:endParaRPr lang="en-US" sz="900" dirty="0"/>
          </a:p>
          <a:p>
            <a:pPr marL="0" indent="0">
              <a:buNone/>
            </a:pPr>
            <a:r>
              <a:rPr lang="en-US" sz="900" dirty="0">
                <a:solidFill>
                  <a:srgbClr val="F8FAFC"/>
                </a:solidFill>
                <a:latin typeface="Aptos" pitchFamily="34" charset="0"/>
                <a:ea typeface="Aptos" pitchFamily="34" charset="-122"/>
                <a:cs typeface="Aptos" pitchFamily="34" charset="-120"/>
              </a:rPr>
              <a:t>The goal is to show how clinicians can move from idea → working prototype → reviewed teaching tool.</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70D1A"/>
        </a:solidFill>
        <a:effectLst/>
      </p:bgPr>
    </p:bg>
    <p:spTree>
      <p:nvGrpSpPr>
        <p:cNvPr id="1" name=""/>
        <p:cNvGrpSpPr/>
        <p:nvPr/>
      </p:nvGrpSpPr>
      <p:grpSpPr>
        <a:xfrm>
          <a:off x="0" y="0"/>
          <a:ext cx="0" cy="0"/>
          <a:chOff x="0" y="0"/>
          <a:chExt cx="0" cy="0"/>
        </a:xfrm>
      </p:grpSpPr>
      <p:sp>
        <p:nvSpPr>
          <p:cNvPr id="2" name="Text 0"/>
          <p:cNvSpPr/>
          <p:nvPr/>
        </p:nvSpPr>
        <p:spPr>
          <a:xfrm>
            <a:off x="411480" y="274320"/>
            <a:ext cx="3474720" cy="146304"/>
          </a:xfrm>
          <a:prstGeom prst="rect">
            <a:avLst/>
          </a:prstGeom>
          <a:noFill/>
          <a:ln/>
        </p:spPr>
        <p:txBody>
          <a:bodyPr wrap="square" lIns="0" tIns="0" rIns="0" bIns="0" rtlCol="0" anchor="ctr"/>
          <a:lstStyle/>
          <a:p>
            <a:pPr marL="0" indent="0">
              <a:buNone/>
            </a:pPr>
            <a:r>
              <a:rPr lang="en-US" sz="650" b="1" dirty="0">
                <a:solidFill>
                  <a:srgbClr val="12BFE2"/>
                </a:solidFill>
                <a:latin typeface="Aptos" pitchFamily="34" charset="0"/>
                <a:ea typeface="Aptos" pitchFamily="34" charset="-122"/>
                <a:cs typeface="Aptos" pitchFamily="34" charset="-120"/>
              </a:rPr>
              <a:t>THE OPPORTUNITY</a:t>
            </a:r>
            <a:endParaRPr lang="en-US" sz="650" dirty="0"/>
          </a:p>
        </p:txBody>
      </p:sp>
      <p:sp>
        <p:nvSpPr>
          <p:cNvPr id="3" name="Text 1"/>
          <p:cNvSpPr/>
          <p:nvPr/>
        </p:nvSpPr>
        <p:spPr>
          <a:xfrm>
            <a:off x="411480" y="612648"/>
            <a:ext cx="5669280" cy="384048"/>
          </a:xfrm>
          <a:prstGeom prst="rect">
            <a:avLst/>
          </a:prstGeom>
          <a:noFill/>
          <a:ln/>
        </p:spPr>
        <p:txBody>
          <a:bodyPr wrap="square" lIns="0" tIns="0" rIns="0" bIns="0" rtlCol="0" anchor="ctr">
            <a:normAutofit/>
          </a:bodyPr>
          <a:lstStyle/>
          <a:p>
            <a:pPr marL="0" indent="0">
              <a:buNone/>
            </a:pPr>
            <a:r>
              <a:rPr lang="en-US" sz="2100" b="1" dirty="0">
                <a:solidFill>
                  <a:srgbClr val="F8FAFC"/>
                </a:solidFill>
                <a:latin typeface="Aptos Display" pitchFamily="34" charset="0"/>
                <a:ea typeface="Aptos Display" pitchFamily="34" charset="-122"/>
                <a:cs typeface="Aptos Display" pitchFamily="34" charset="-120"/>
              </a:rPr>
              <a:t>Why clinicians should care</a:t>
            </a:r>
            <a:endParaRPr lang="en-US" sz="2100" dirty="0"/>
          </a:p>
        </p:txBody>
      </p:sp>
      <p:sp>
        <p:nvSpPr>
          <p:cNvPr id="4" name="Text 2"/>
          <p:cNvSpPr/>
          <p:nvPr/>
        </p:nvSpPr>
        <p:spPr>
          <a:xfrm>
            <a:off x="411480" y="4828032"/>
            <a:ext cx="4754880" cy="109728"/>
          </a:xfrm>
          <a:prstGeom prst="rect">
            <a:avLst/>
          </a:prstGeom>
          <a:noFill/>
          <a:ln/>
        </p:spPr>
        <p:txBody>
          <a:bodyPr wrap="square" lIns="0" tIns="0" rIns="0" bIns="0" rtlCol="0" anchor="ctr"/>
          <a:lstStyle/>
          <a:p>
            <a:pPr marL="0" indent="0">
              <a:buNone/>
            </a:pPr>
            <a:r>
              <a:rPr lang="en-US" sz="550" dirty="0">
                <a:solidFill>
                  <a:srgbClr val="5F6B7A"/>
                </a:solidFill>
                <a:latin typeface="Aptos" pitchFamily="34" charset="0"/>
                <a:ea typeface="Aptos" pitchFamily="34" charset="-122"/>
                <a:cs typeface="Aptos" pitchFamily="34" charset="-120"/>
              </a:rPr>
              <a:t>AABIP Webinar 2026  |  AI in Interventional Pulmonology</a:t>
            </a:r>
            <a:endParaRPr lang="en-US" sz="550" dirty="0"/>
          </a:p>
        </p:txBody>
      </p:sp>
      <p:sp>
        <p:nvSpPr>
          <p:cNvPr id="5" name="Text 3"/>
          <p:cNvSpPr/>
          <p:nvPr/>
        </p:nvSpPr>
        <p:spPr>
          <a:xfrm>
            <a:off x="8366760" y="4828032"/>
            <a:ext cx="365760" cy="109728"/>
          </a:xfrm>
          <a:prstGeom prst="rect">
            <a:avLst/>
          </a:prstGeom>
          <a:noFill/>
          <a:ln/>
        </p:spPr>
        <p:txBody>
          <a:bodyPr wrap="square" lIns="0" tIns="0" rIns="0" bIns="0" rtlCol="0" anchor="ctr"/>
          <a:lstStyle/>
          <a:p>
            <a:pPr marL="0" indent="0" algn="r">
              <a:buNone/>
            </a:pPr>
            <a:r>
              <a:rPr lang="en-US" sz="550" dirty="0">
                <a:solidFill>
                  <a:srgbClr val="5F6B7A"/>
                </a:solidFill>
                <a:latin typeface="Aptos" pitchFamily="34" charset="0"/>
                <a:ea typeface="Aptos" pitchFamily="34" charset="-122"/>
                <a:cs typeface="Aptos" pitchFamily="34" charset="-120"/>
              </a:rPr>
              <a:t>3 / 22</a:t>
            </a:r>
            <a:endParaRPr lang="en-US" sz="550" dirty="0"/>
          </a:p>
        </p:txBody>
      </p:sp>
      <p:sp>
        <p:nvSpPr>
          <p:cNvPr id="6" name="Shape 4"/>
          <p:cNvSpPr/>
          <p:nvPr/>
        </p:nvSpPr>
        <p:spPr>
          <a:xfrm>
            <a:off x="411480" y="1060704"/>
            <a:ext cx="1143000" cy="0"/>
          </a:xfrm>
          <a:prstGeom prst="line">
            <a:avLst/>
          </a:prstGeom>
          <a:noFill/>
          <a:ln w="15240">
            <a:solidFill>
              <a:srgbClr val="12BFE2"/>
            </a:solidFill>
            <a:prstDash val="solid"/>
          </a:ln>
        </p:spPr>
        <p:txBody>
          <a:bodyPr/>
          <a:lstStyle/>
          <a:p>
            <a:endParaRPr lang="en-US"/>
          </a:p>
        </p:txBody>
      </p:sp>
      <p:sp>
        <p:nvSpPr>
          <p:cNvPr id="7" name="Shape 5"/>
          <p:cNvSpPr/>
          <p:nvPr/>
        </p:nvSpPr>
        <p:spPr>
          <a:xfrm>
            <a:off x="594360" y="1234440"/>
            <a:ext cx="1874520" cy="1051560"/>
          </a:xfrm>
          <a:prstGeom prst="roundRect">
            <a:avLst>
              <a:gd name="adj" fmla="val 10435"/>
            </a:avLst>
          </a:prstGeom>
          <a:solidFill>
            <a:srgbClr val="111A2D"/>
          </a:solidFill>
          <a:ln w="12700">
            <a:solidFill>
              <a:srgbClr val="111A2D">
                <a:alpha val="0"/>
              </a:srgbClr>
            </a:solidFill>
            <a:prstDash val="solid"/>
          </a:ln>
        </p:spPr>
        <p:txBody>
          <a:bodyPr/>
          <a:lstStyle/>
          <a:p>
            <a:endParaRPr lang="en-US"/>
          </a:p>
        </p:txBody>
      </p:sp>
      <p:sp>
        <p:nvSpPr>
          <p:cNvPr id="8" name="Shape 6"/>
          <p:cNvSpPr/>
          <p:nvPr/>
        </p:nvSpPr>
        <p:spPr>
          <a:xfrm>
            <a:off x="594360" y="1234440"/>
            <a:ext cx="32004" cy="1051560"/>
          </a:xfrm>
          <a:prstGeom prst="rect">
            <a:avLst/>
          </a:prstGeom>
          <a:solidFill>
            <a:srgbClr val="12BFE2"/>
          </a:solidFill>
          <a:ln w="12700">
            <a:solidFill>
              <a:srgbClr val="12BFE2"/>
            </a:solidFill>
            <a:prstDash val="solid"/>
          </a:ln>
        </p:spPr>
        <p:txBody>
          <a:bodyPr/>
          <a:lstStyle/>
          <a:p>
            <a:endParaRPr lang="en-US"/>
          </a:p>
        </p:txBody>
      </p:sp>
      <p:pic>
        <p:nvPicPr>
          <p:cNvPr id="9" name="Image 0" descr="/mnt/data/ppt_extract/ppt/media/image13.png"/>
          <p:cNvPicPr>
            <a:picLocks noChangeAspect="1"/>
          </p:cNvPicPr>
          <p:nvPr/>
        </p:nvPicPr>
        <p:blipFill>
          <a:blip r:embed="rId3"/>
          <a:stretch>
            <a:fillRect/>
          </a:stretch>
        </p:blipFill>
        <p:spPr>
          <a:xfrm>
            <a:off x="713232" y="1353312"/>
            <a:ext cx="219456" cy="219456"/>
          </a:xfrm>
          <a:prstGeom prst="rect">
            <a:avLst/>
          </a:prstGeom>
        </p:spPr>
      </p:pic>
      <p:sp>
        <p:nvSpPr>
          <p:cNvPr id="10" name="Text 7"/>
          <p:cNvSpPr/>
          <p:nvPr/>
        </p:nvSpPr>
        <p:spPr>
          <a:xfrm>
            <a:off x="1014984" y="1362456"/>
            <a:ext cx="1344168" cy="201168"/>
          </a:xfrm>
          <a:prstGeom prst="rect">
            <a:avLst/>
          </a:prstGeom>
          <a:noFill/>
          <a:ln/>
        </p:spPr>
        <p:txBody>
          <a:bodyPr wrap="square" lIns="0" tIns="0" rIns="0" bIns="0" rtlCol="0" anchor="ctr">
            <a:normAutofit/>
          </a:bodyPr>
          <a:lstStyle/>
          <a:p>
            <a:pPr marL="0" indent="0">
              <a:buNone/>
            </a:pPr>
            <a:r>
              <a:rPr lang="en-US" sz="950" b="1" dirty="0">
                <a:solidFill>
                  <a:srgbClr val="F8FAFC"/>
                </a:solidFill>
                <a:latin typeface="Aptos" pitchFamily="34" charset="0"/>
                <a:ea typeface="Aptos" pitchFamily="34" charset="-122"/>
                <a:cs typeface="Aptos" pitchFamily="34" charset="-120"/>
              </a:rPr>
              <a:t>The tools are niche</a:t>
            </a:r>
            <a:endParaRPr lang="en-US" sz="950" dirty="0"/>
          </a:p>
        </p:txBody>
      </p:sp>
      <p:sp>
        <p:nvSpPr>
          <p:cNvPr id="11" name="Text 8"/>
          <p:cNvSpPr/>
          <p:nvPr/>
        </p:nvSpPr>
        <p:spPr>
          <a:xfrm>
            <a:off x="1014984" y="1645920"/>
            <a:ext cx="1344168" cy="548640"/>
          </a:xfrm>
          <a:prstGeom prst="rect">
            <a:avLst/>
          </a:prstGeom>
          <a:noFill/>
          <a:ln/>
        </p:spPr>
        <p:txBody>
          <a:bodyPr wrap="square" lIns="0" tIns="0" rIns="0" bIns="0" rtlCol="0" anchor="ctr">
            <a:normAutofit/>
          </a:bodyPr>
          <a:lstStyle/>
          <a:p>
            <a:pPr marL="0" indent="0">
              <a:buNone/>
            </a:pPr>
            <a:r>
              <a:rPr lang="en-US" sz="780" dirty="0">
                <a:solidFill>
                  <a:srgbClr val="A7B3C6"/>
                </a:solidFill>
                <a:latin typeface="Aptos" pitchFamily="34" charset="0"/>
                <a:ea typeface="Aptos" pitchFamily="34" charset="-122"/>
                <a:cs typeface="Aptos" pitchFamily="34" charset="-120"/>
              </a:rPr>
              <a:t>Our best workflow and teaching ideas are often too specialized for commercial products.</a:t>
            </a:r>
            <a:endParaRPr lang="en-US" sz="780" dirty="0"/>
          </a:p>
        </p:txBody>
      </p:sp>
      <p:sp>
        <p:nvSpPr>
          <p:cNvPr id="12" name="Shape 9"/>
          <p:cNvSpPr/>
          <p:nvPr/>
        </p:nvSpPr>
        <p:spPr>
          <a:xfrm>
            <a:off x="2697480" y="1234440"/>
            <a:ext cx="1874520" cy="1051560"/>
          </a:xfrm>
          <a:prstGeom prst="roundRect">
            <a:avLst>
              <a:gd name="adj" fmla="val 10435"/>
            </a:avLst>
          </a:prstGeom>
          <a:solidFill>
            <a:srgbClr val="111A2D"/>
          </a:solidFill>
          <a:ln w="12700">
            <a:solidFill>
              <a:srgbClr val="111A2D">
                <a:alpha val="0"/>
              </a:srgbClr>
            </a:solidFill>
            <a:prstDash val="solid"/>
          </a:ln>
        </p:spPr>
        <p:txBody>
          <a:bodyPr/>
          <a:lstStyle/>
          <a:p>
            <a:endParaRPr lang="en-US"/>
          </a:p>
        </p:txBody>
      </p:sp>
      <p:sp>
        <p:nvSpPr>
          <p:cNvPr id="13" name="Shape 10"/>
          <p:cNvSpPr/>
          <p:nvPr/>
        </p:nvSpPr>
        <p:spPr>
          <a:xfrm>
            <a:off x="2697480" y="1234440"/>
            <a:ext cx="32004" cy="1051560"/>
          </a:xfrm>
          <a:prstGeom prst="rect">
            <a:avLst/>
          </a:prstGeom>
          <a:solidFill>
            <a:srgbClr val="2DD4BF"/>
          </a:solidFill>
          <a:ln w="12700">
            <a:solidFill>
              <a:srgbClr val="2DD4BF"/>
            </a:solidFill>
            <a:prstDash val="solid"/>
          </a:ln>
        </p:spPr>
        <p:txBody>
          <a:bodyPr/>
          <a:lstStyle/>
          <a:p>
            <a:endParaRPr lang="en-US"/>
          </a:p>
        </p:txBody>
      </p:sp>
      <p:pic>
        <p:nvPicPr>
          <p:cNvPr id="14" name="Image 1" descr="/mnt/data/ppt_extract/ppt/media/image6.png"/>
          <p:cNvPicPr>
            <a:picLocks noChangeAspect="1"/>
          </p:cNvPicPr>
          <p:nvPr/>
        </p:nvPicPr>
        <p:blipFill>
          <a:blip r:embed="rId4"/>
          <a:stretch>
            <a:fillRect/>
          </a:stretch>
        </p:blipFill>
        <p:spPr>
          <a:xfrm>
            <a:off x="2816352" y="1353312"/>
            <a:ext cx="219456" cy="219456"/>
          </a:xfrm>
          <a:prstGeom prst="rect">
            <a:avLst/>
          </a:prstGeom>
        </p:spPr>
      </p:pic>
      <p:sp>
        <p:nvSpPr>
          <p:cNvPr id="15" name="Text 11"/>
          <p:cNvSpPr/>
          <p:nvPr/>
        </p:nvSpPr>
        <p:spPr>
          <a:xfrm>
            <a:off x="3118104" y="1362456"/>
            <a:ext cx="1344168" cy="201168"/>
          </a:xfrm>
          <a:prstGeom prst="rect">
            <a:avLst/>
          </a:prstGeom>
          <a:noFill/>
          <a:ln/>
        </p:spPr>
        <p:txBody>
          <a:bodyPr wrap="square" lIns="0" tIns="0" rIns="0" bIns="0" rtlCol="0" anchor="ctr">
            <a:normAutofit/>
          </a:bodyPr>
          <a:lstStyle/>
          <a:p>
            <a:pPr marL="0" indent="0">
              <a:buNone/>
            </a:pPr>
            <a:r>
              <a:rPr lang="en-US" sz="950" b="1" dirty="0">
                <a:solidFill>
                  <a:srgbClr val="F8FAFC"/>
                </a:solidFill>
                <a:latin typeface="Aptos" pitchFamily="34" charset="0"/>
                <a:ea typeface="Aptos" pitchFamily="34" charset="-122"/>
                <a:cs typeface="Aptos" pitchFamily="34" charset="-120"/>
              </a:rPr>
              <a:t>You own the truth</a:t>
            </a:r>
            <a:endParaRPr lang="en-US" sz="950" dirty="0"/>
          </a:p>
        </p:txBody>
      </p:sp>
      <p:sp>
        <p:nvSpPr>
          <p:cNvPr id="16" name="Text 12"/>
          <p:cNvSpPr/>
          <p:nvPr/>
        </p:nvSpPr>
        <p:spPr>
          <a:xfrm>
            <a:off x="3118104" y="1645920"/>
            <a:ext cx="1344168" cy="548640"/>
          </a:xfrm>
          <a:prstGeom prst="rect">
            <a:avLst/>
          </a:prstGeom>
          <a:noFill/>
          <a:ln/>
        </p:spPr>
        <p:txBody>
          <a:bodyPr wrap="square" lIns="0" tIns="0" rIns="0" bIns="0" rtlCol="0" anchor="ctr">
            <a:normAutofit/>
          </a:bodyPr>
          <a:lstStyle/>
          <a:p>
            <a:pPr marL="0" indent="0">
              <a:buNone/>
            </a:pPr>
            <a:r>
              <a:rPr lang="en-US" sz="780" dirty="0">
                <a:solidFill>
                  <a:srgbClr val="A7B3C6"/>
                </a:solidFill>
                <a:latin typeface="Aptos" pitchFamily="34" charset="0"/>
                <a:ea typeface="Aptos" pitchFamily="34" charset="-122"/>
                <a:cs typeface="Aptos" pitchFamily="34" charset="-120"/>
              </a:rPr>
              <a:t>You know the anatomy, workflow, and failure modes better than anyone.</a:t>
            </a:r>
            <a:endParaRPr lang="en-US" sz="780" dirty="0"/>
          </a:p>
        </p:txBody>
      </p:sp>
      <p:sp>
        <p:nvSpPr>
          <p:cNvPr id="17" name="Shape 13"/>
          <p:cNvSpPr/>
          <p:nvPr/>
        </p:nvSpPr>
        <p:spPr>
          <a:xfrm>
            <a:off x="4800600" y="1234440"/>
            <a:ext cx="1874520" cy="1051560"/>
          </a:xfrm>
          <a:prstGeom prst="roundRect">
            <a:avLst>
              <a:gd name="adj" fmla="val 10435"/>
            </a:avLst>
          </a:prstGeom>
          <a:solidFill>
            <a:srgbClr val="111A2D"/>
          </a:solidFill>
          <a:ln w="12700">
            <a:solidFill>
              <a:srgbClr val="111A2D">
                <a:alpha val="0"/>
              </a:srgbClr>
            </a:solidFill>
            <a:prstDash val="solid"/>
          </a:ln>
        </p:spPr>
        <p:txBody>
          <a:bodyPr/>
          <a:lstStyle/>
          <a:p>
            <a:endParaRPr lang="en-US"/>
          </a:p>
        </p:txBody>
      </p:sp>
      <p:sp>
        <p:nvSpPr>
          <p:cNvPr id="18" name="Shape 14"/>
          <p:cNvSpPr/>
          <p:nvPr/>
        </p:nvSpPr>
        <p:spPr>
          <a:xfrm>
            <a:off x="4800600" y="1234440"/>
            <a:ext cx="32004" cy="1051560"/>
          </a:xfrm>
          <a:prstGeom prst="rect">
            <a:avLst/>
          </a:prstGeom>
          <a:solidFill>
            <a:srgbClr val="F59E0B"/>
          </a:solidFill>
          <a:ln w="12700">
            <a:solidFill>
              <a:srgbClr val="F59E0B"/>
            </a:solidFill>
            <a:prstDash val="solid"/>
          </a:ln>
        </p:spPr>
        <p:txBody>
          <a:bodyPr/>
          <a:lstStyle/>
          <a:p>
            <a:endParaRPr lang="en-US"/>
          </a:p>
        </p:txBody>
      </p:sp>
      <p:pic>
        <p:nvPicPr>
          <p:cNvPr id="19" name="Image 2" descr="/mnt/data/ppt_extract/ppt/media/image25.png"/>
          <p:cNvPicPr>
            <a:picLocks noChangeAspect="1"/>
          </p:cNvPicPr>
          <p:nvPr/>
        </p:nvPicPr>
        <p:blipFill>
          <a:blip r:embed="rId5"/>
          <a:stretch>
            <a:fillRect/>
          </a:stretch>
        </p:blipFill>
        <p:spPr>
          <a:xfrm>
            <a:off x="4919472" y="1353312"/>
            <a:ext cx="219456" cy="219456"/>
          </a:xfrm>
          <a:prstGeom prst="rect">
            <a:avLst/>
          </a:prstGeom>
        </p:spPr>
      </p:pic>
      <p:sp>
        <p:nvSpPr>
          <p:cNvPr id="20" name="Text 15"/>
          <p:cNvSpPr/>
          <p:nvPr/>
        </p:nvSpPr>
        <p:spPr>
          <a:xfrm>
            <a:off x="5221224" y="1362456"/>
            <a:ext cx="1344168" cy="201168"/>
          </a:xfrm>
          <a:prstGeom prst="rect">
            <a:avLst/>
          </a:prstGeom>
          <a:noFill/>
          <a:ln/>
        </p:spPr>
        <p:txBody>
          <a:bodyPr wrap="square" lIns="0" tIns="0" rIns="0" bIns="0" rtlCol="0" anchor="ctr">
            <a:normAutofit/>
          </a:bodyPr>
          <a:lstStyle/>
          <a:p>
            <a:pPr marL="0" indent="0">
              <a:buNone/>
            </a:pPr>
            <a:r>
              <a:rPr lang="en-US" sz="950" b="1" dirty="0">
                <a:solidFill>
                  <a:srgbClr val="F8FAFC"/>
                </a:solidFill>
                <a:latin typeface="Aptos" pitchFamily="34" charset="0"/>
                <a:ea typeface="Aptos" pitchFamily="34" charset="-122"/>
                <a:cs typeface="Aptos" pitchFamily="34" charset="-120"/>
              </a:rPr>
              <a:t>AI lowers friction</a:t>
            </a:r>
            <a:endParaRPr lang="en-US" sz="950" dirty="0"/>
          </a:p>
        </p:txBody>
      </p:sp>
      <p:sp>
        <p:nvSpPr>
          <p:cNvPr id="21" name="Text 16"/>
          <p:cNvSpPr/>
          <p:nvPr/>
        </p:nvSpPr>
        <p:spPr>
          <a:xfrm>
            <a:off x="5221224" y="1645920"/>
            <a:ext cx="1344168" cy="548640"/>
          </a:xfrm>
          <a:prstGeom prst="rect">
            <a:avLst/>
          </a:prstGeom>
          <a:noFill/>
          <a:ln/>
        </p:spPr>
        <p:txBody>
          <a:bodyPr wrap="square" lIns="0" tIns="0" rIns="0" bIns="0" rtlCol="0" anchor="ctr">
            <a:normAutofit/>
          </a:bodyPr>
          <a:lstStyle/>
          <a:p>
            <a:pPr marL="0" indent="0">
              <a:buNone/>
            </a:pPr>
            <a:r>
              <a:rPr lang="en-US" sz="780" dirty="0">
                <a:solidFill>
                  <a:srgbClr val="A7B3C6"/>
                </a:solidFill>
                <a:latin typeface="Aptos" pitchFamily="34" charset="0"/>
                <a:ea typeface="Aptos" pitchFamily="34" charset="-122"/>
                <a:cs typeface="Aptos" pitchFamily="34" charset="-120"/>
              </a:rPr>
              <a:t>Agents can scaffold code, wire content, make tests, and refactor fast.</a:t>
            </a:r>
            <a:endParaRPr lang="en-US" sz="780" dirty="0"/>
          </a:p>
        </p:txBody>
      </p:sp>
      <p:sp>
        <p:nvSpPr>
          <p:cNvPr id="22" name="Shape 17"/>
          <p:cNvSpPr/>
          <p:nvPr/>
        </p:nvSpPr>
        <p:spPr>
          <a:xfrm>
            <a:off x="6903720" y="1234440"/>
            <a:ext cx="1874520" cy="1051560"/>
          </a:xfrm>
          <a:prstGeom prst="roundRect">
            <a:avLst>
              <a:gd name="adj" fmla="val 10435"/>
            </a:avLst>
          </a:prstGeom>
          <a:solidFill>
            <a:srgbClr val="111A2D"/>
          </a:solidFill>
          <a:ln w="12700">
            <a:solidFill>
              <a:srgbClr val="111A2D">
                <a:alpha val="0"/>
              </a:srgbClr>
            </a:solidFill>
            <a:prstDash val="solid"/>
          </a:ln>
        </p:spPr>
        <p:txBody>
          <a:bodyPr/>
          <a:lstStyle/>
          <a:p>
            <a:endParaRPr lang="en-US"/>
          </a:p>
        </p:txBody>
      </p:sp>
      <p:sp>
        <p:nvSpPr>
          <p:cNvPr id="23" name="Shape 18"/>
          <p:cNvSpPr/>
          <p:nvPr/>
        </p:nvSpPr>
        <p:spPr>
          <a:xfrm>
            <a:off x="6903720" y="1234440"/>
            <a:ext cx="32004" cy="1051560"/>
          </a:xfrm>
          <a:prstGeom prst="rect">
            <a:avLst/>
          </a:prstGeom>
          <a:solidFill>
            <a:srgbClr val="12BFE2"/>
          </a:solidFill>
          <a:ln w="12700">
            <a:solidFill>
              <a:srgbClr val="12BFE2"/>
            </a:solidFill>
            <a:prstDash val="solid"/>
          </a:ln>
        </p:spPr>
        <p:txBody>
          <a:bodyPr/>
          <a:lstStyle/>
          <a:p>
            <a:endParaRPr lang="en-US"/>
          </a:p>
        </p:txBody>
      </p:sp>
      <p:pic>
        <p:nvPicPr>
          <p:cNvPr id="24" name="Image 3" descr="/mnt/data/ppt_extract/ppt/media/image15.png"/>
          <p:cNvPicPr>
            <a:picLocks noChangeAspect="1"/>
          </p:cNvPicPr>
          <p:nvPr/>
        </p:nvPicPr>
        <p:blipFill>
          <a:blip r:embed="rId6"/>
          <a:stretch>
            <a:fillRect/>
          </a:stretch>
        </p:blipFill>
        <p:spPr>
          <a:xfrm>
            <a:off x="7022592" y="1353312"/>
            <a:ext cx="219456" cy="219456"/>
          </a:xfrm>
          <a:prstGeom prst="rect">
            <a:avLst/>
          </a:prstGeom>
        </p:spPr>
      </p:pic>
      <p:sp>
        <p:nvSpPr>
          <p:cNvPr id="25" name="Text 19"/>
          <p:cNvSpPr/>
          <p:nvPr/>
        </p:nvSpPr>
        <p:spPr>
          <a:xfrm>
            <a:off x="7324344" y="1362456"/>
            <a:ext cx="1344168" cy="201168"/>
          </a:xfrm>
          <a:prstGeom prst="rect">
            <a:avLst/>
          </a:prstGeom>
          <a:noFill/>
          <a:ln/>
        </p:spPr>
        <p:txBody>
          <a:bodyPr wrap="square" lIns="0" tIns="0" rIns="0" bIns="0" rtlCol="0" anchor="ctr">
            <a:normAutofit/>
          </a:bodyPr>
          <a:lstStyle/>
          <a:p>
            <a:pPr marL="0" indent="0">
              <a:buNone/>
            </a:pPr>
            <a:r>
              <a:rPr lang="en-US" sz="950" b="1" dirty="0">
                <a:solidFill>
                  <a:srgbClr val="F8FAFC"/>
                </a:solidFill>
                <a:latin typeface="Aptos" pitchFamily="34" charset="0"/>
                <a:ea typeface="Aptos" pitchFamily="34" charset="-122"/>
                <a:cs typeface="Aptos" pitchFamily="34" charset="-120"/>
              </a:rPr>
              <a:t>Your role changes</a:t>
            </a:r>
            <a:endParaRPr lang="en-US" sz="950" dirty="0"/>
          </a:p>
        </p:txBody>
      </p:sp>
      <p:sp>
        <p:nvSpPr>
          <p:cNvPr id="26" name="Text 20"/>
          <p:cNvSpPr/>
          <p:nvPr/>
        </p:nvSpPr>
        <p:spPr>
          <a:xfrm>
            <a:off x="7324344" y="1645920"/>
            <a:ext cx="1344168" cy="548640"/>
          </a:xfrm>
          <a:prstGeom prst="rect">
            <a:avLst/>
          </a:prstGeom>
          <a:noFill/>
          <a:ln/>
        </p:spPr>
        <p:txBody>
          <a:bodyPr wrap="square" lIns="0" tIns="0" rIns="0" bIns="0" rtlCol="0" anchor="ctr">
            <a:normAutofit/>
          </a:bodyPr>
          <a:lstStyle/>
          <a:p>
            <a:pPr marL="0" indent="0">
              <a:buNone/>
            </a:pPr>
            <a:r>
              <a:rPr lang="en-US" sz="780" dirty="0">
                <a:solidFill>
                  <a:srgbClr val="A7B3C6"/>
                </a:solidFill>
                <a:latin typeface="Aptos" pitchFamily="34" charset="0"/>
                <a:ea typeface="Aptos" pitchFamily="34" charset="-122"/>
                <a:cs typeface="Aptos" pitchFamily="34" charset="-120"/>
              </a:rPr>
              <a:t>From “write every line” to “specify, review, and iterate.”</a:t>
            </a:r>
            <a:endParaRPr lang="en-US" sz="780" dirty="0"/>
          </a:p>
        </p:txBody>
      </p:sp>
      <p:sp>
        <p:nvSpPr>
          <p:cNvPr id="27" name="Text 21"/>
          <p:cNvSpPr/>
          <p:nvPr/>
        </p:nvSpPr>
        <p:spPr>
          <a:xfrm>
            <a:off x="1097280" y="2971800"/>
            <a:ext cx="6949440" cy="411480"/>
          </a:xfrm>
          <a:prstGeom prst="rect">
            <a:avLst/>
          </a:prstGeom>
          <a:noFill/>
          <a:ln/>
        </p:spPr>
        <p:txBody>
          <a:bodyPr wrap="square" lIns="0" tIns="0" rIns="0" bIns="0" rtlCol="0" anchor="ctr"/>
          <a:lstStyle/>
          <a:p>
            <a:pPr marL="0" indent="0" algn="ctr">
              <a:buNone/>
            </a:pPr>
            <a:r>
              <a:rPr lang="en-US" sz="1800" b="1" dirty="0">
                <a:solidFill>
                  <a:srgbClr val="F8FAFC"/>
                </a:solidFill>
                <a:latin typeface="Aptos Display" pitchFamily="34" charset="0"/>
                <a:ea typeface="Aptos Display" pitchFamily="34" charset="-122"/>
                <a:cs typeface="Aptos Display" pitchFamily="34" charset="-120"/>
              </a:rPr>
              <a:t>The scarce resource is not typing code. It is clinical judgment translated into precise constraints.</a:t>
            </a:r>
            <a:endParaRPr lang="en-US" sz="1800" dirty="0"/>
          </a:p>
        </p:txBody>
      </p:sp>
      <p:sp>
        <p:nvSpPr>
          <p:cNvPr id="28" name="Text 22"/>
          <p:cNvSpPr/>
          <p:nvPr/>
        </p:nvSpPr>
        <p:spPr>
          <a:xfrm>
            <a:off x="1417320" y="3584448"/>
            <a:ext cx="6309360" cy="411480"/>
          </a:xfrm>
          <a:prstGeom prst="rect">
            <a:avLst/>
          </a:prstGeom>
          <a:noFill/>
          <a:ln/>
        </p:spPr>
        <p:txBody>
          <a:bodyPr wrap="square" lIns="0" tIns="0" rIns="0" bIns="0" rtlCol="0" anchor="ctr"/>
          <a:lstStyle/>
          <a:p>
            <a:pPr marL="0" indent="0" algn="ctr">
              <a:buNone/>
            </a:pPr>
            <a:r>
              <a:rPr lang="en-US" sz="950" dirty="0">
                <a:solidFill>
                  <a:srgbClr val="A7B3C6"/>
                </a:solidFill>
                <a:latin typeface="Aptos" pitchFamily="34" charset="0"/>
                <a:ea typeface="Aptos" pitchFamily="34" charset="-122"/>
                <a:cs typeface="Aptos" pitchFamily="34" charset="-120"/>
              </a:rPr>
              <a:t>For medical education, that means defining the learner, the desired behavior, the source of truth, and the review artifact before asking for a polished UI.</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70D1A"/>
        </a:solidFill>
        <a:effectLst/>
      </p:bgPr>
    </p:bg>
    <p:spTree>
      <p:nvGrpSpPr>
        <p:cNvPr id="1" name=""/>
        <p:cNvGrpSpPr/>
        <p:nvPr/>
      </p:nvGrpSpPr>
      <p:grpSpPr>
        <a:xfrm>
          <a:off x="0" y="0"/>
          <a:ext cx="0" cy="0"/>
          <a:chOff x="0" y="0"/>
          <a:chExt cx="0" cy="0"/>
        </a:xfrm>
      </p:grpSpPr>
      <p:sp>
        <p:nvSpPr>
          <p:cNvPr id="2" name="Text 0"/>
          <p:cNvSpPr/>
          <p:nvPr/>
        </p:nvSpPr>
        <p:spPr>
          <a:xfrm>
            <a:off x="411480" y="274320"/>
            <a:ext cx="3474720" cy="146304"/>
          </a:xfrm>
          <a:prstGeom prst="rect">
            <a:avLst/>
          </a:prstGeom>
          <a:noFill/>
          <a:ln/>
        </p:spPr>
        <p:txBody>
          <a:bodyPr wrap="square" lIns="0" tIns="0" rIns="0" bIns="0" rtlCol="0" anchor="ctr"/>
          <a:lstStyle/>
          <a:p>
            <a:pPr marL="0" indent="0">
              <a:buNone/>
            </a:pPr>
            <a:r>
              <a:rPr lang="en-US" sz="650" b="1" dirty="0">
                <a:solidFill>
                  <a:srgbClr val="12BFE2"/>
                </a:solidFill>
                <a:latin typeface="Aptos" pitchFamily="34" charset="0"/>
                <a:ea typeface="Aptos" pitchFamily="34" charset="-122"/>
                <a:cs typeface="Aptos" pitchFamily="34" charset="-120"/>
              </a:rPr>
              <a:t>THE ANALOGY</a:t>
            </a:r>
            <a:endParaRPr lang="en-US" sz="650" dirty="0"/>
          </a:p>
        </p:txBody>
      </p:sp>
      <p:sp>
        <p:nvSpPr>
          <p:cNvPr id="3" name="Text 1"/>
          <p:cNvSpPr/>
          <p:nvPr/>
        </p:nvSpPr>
        <p:spPr>
          <a:xfrm>
            <a:off x="411480" y="612648"/>
            <a:ext cx="5669280" cy="384048"/>
          </a:xfrm>
          <a:prstGeom prst="rect">
            <a:avLst/>
          </a:prstGeom>
          <a:noFill/>
          <a:ln/>
        </p:spPr>
        <p:txBody>
          <a:bodyPr wrap="square" lIns="0" tIns="0" rIns="0" bIns="0" rtlCol="0" anchor="ctr">
            <a:normAutofit/>
          </a:bodyPr>
          <a:lstStyle/>
          <a:p>
            <a:pPr marL="0" indent="0">
              <a:buNone/>
            </a:pPr>
            <a:r>
              <a:rPr lang="en-US" sz="2100" b="1" dirty="0">
                <a:solidFill>
                  <a:srgbClr val="F8FAFC"/>
                </a:solidFill>
                <a:latin typeface="Aptos Display" pitchFamily="34" charset="0"/>
                <a:ea typeface="Aptos Display" pitchFamily="34" charset="-122"/>
                <a:cs typeface="Aptos Display" pitchFamily="34" charset="-120"/>
              </a:rPr>
              <a:t>You direct. AI engineers. You iterate.</a:t>
            </a:r>
            <a:endParaRPr lang="en-US" sz="2100" dirty="0"/>
          </a:p>
        </p:txBody>
      </p:sp>
      <p:sp>
        <p:nvSpPr>
          <p:cNvPr id="4" name="Text 2"/>
          <p:cNvSpPr/>
          <p:nvPr/>
        </p:nvSpPr>
        <p:spPr>
          <a:xfrm>
            <a:off x="411480" y="4828032"/>
            <a:ext cx="4754880" cy="109728"/>
          </a:xfrm>
          <a:prstGeom prst="rect">
            <a:avLst/>
          </a:prstGeom>
          <a:noFill/>
          <a:ln/>
        </p:spPr>
        <p:txBody>
          <a:bodyPr wrap="square" lIns="0" tIns="0" rIns="0" bIns="0" rtlCol="0" anchor="ctr"/>
          <a:lstStyle/>
          <a:p>
            <a:pPr marL="0" indent="0">
              <a:buNone/>
            </a:pPr>
            <a:r>
              <a:rPr lang="en-US" sz="550" dirty="0">
                <a:solidFill>
                  <a:srgbClr val="5F6B7A"/>
                </a:solidFill>
                <a:latin typeface="Aptos" pitchFamily="34" charset="0"/>
                <a:ea typeface="Aptos" pitchFamily="34" charset="-122"/>
                <a:cs typeface="Aptos" pitchFamily="34" charset="-120"/>
              </a:rPr>
              <a:t>AABIP Webinar 2026  |  AI in Interventional Pulmonology</a:t>
            </a:r>
            <a:endParaRPr lang="en-US" sz="550" dirty="0"/>
          </a:p>
        </p:txBody>
      </p:sp>
      <p:sp>
        <p:nvSpPr>
          <p:cNvPr id="5" name="Text 3"/>
          <p:cNvSpPr/>
          <p:nvPr/>
        </p:nvSpPr>
        <p:spPr>
          <a:xfrm>
            <a:off x="8366760" y="4828032"/>
            <a:ext cx="365760" cy="109728"/>
          </a:xfrm>
          <a:prstGeom prst="rect">
            <a:avLst/>
          </a:prstGeom>
          <a:noFill/>
          <a:ln/>
        </p:spPr>
        <p:txBody>
          <a:bodyPr wrap="square" lIns="0" tIns="0" rIns="0" bIns="0" rtlCol="0" anchor="ctr"/>
          <a:lstStyle/>
          <a:p>
            <a:pPr marL="0" indent="0" algn="r">
              <a:buNone/>
            </a:pPr>
            <a:r>
              <a:rPr lang="en-US" sz="550" dirty="0">
                <a:solidFill>
                  <a:srgbClr val="5F6B7A"/>
                </a:solidFill>
                <a:latin typeface="Aptos" pitchFamily="34" charset="0"/>
                <a:ea typeface="Aptos" pitchFamily="34" charset="-122"/>
                <a:cs typeface="Aptos" pitchFamily="34" charset="-120"/>
              </a:rPr>
              <a:t>4 / 22</a:t>
            </a:r>
            <a:endParaRPr lang="en-US" sz="550" dirty="0"/>
          </a:p>
        </p:txBody>
      </p:sp>
      <p:sp>
        <p:nvSpPr>
          <p:cNvPr id="6" name="Shape 4"/>
          <p:cNvSpPr/>
          <p:nvPr/>
        </p:nvSpPr>
        <p:spPr>
          <a:xfrm>
            <a:off x="411480" y="1060704"/>
            <a:ext cx="1143000" cy="0"/>
          </a:xfrm>
          <a:prstGeom prst="line">
            <a:avLst/>
          </a:prstGeom>
          <a:noFill/>
          <a:ln w="15240">
            <a:solidFill>
              <a:srgbClr val="12BFE2"/>
            </a:solidFill>
            <a:prstDash val="solid"/>
          </a:ln>
        </p:spPr>
        <p:txBody>
          <a:bodyPr/>
          <a:lstStyle/>
          <a:p>
            <a:endParaRPr lang="en-US"/>
          </a:p>
        </p:txBody>
      </p:sp>
      <p:sp>
        <p:nvSpPr>
          <p:cNvPr id="7" name="Shape 5"/>
          <p:cNvSpPr/>
          <p:nvPr/>
        </p:nvSpPr>
        <p:spPr>
          <a:xfrm>
            <a:off x="4407408" y="2788920"/>
            <a:ext cx="329184" cy="0"/>
          </a:xfrm>
          <a:prstGeom prst="line">
            <a:avLst/>
          </a:prstGeom>
          <a:noFill/>
          <a:ln w="15240">
            <a:solidFill>
              <a:srgbClr val="12BFE2"/>
            </a:solidFill>
            <a:prstDash val="solid"/>
            <a:tailEnd type="triangle"/>
          </a:ln>
        </p:spPr>
        <p:txBody>
          <a:bodyPr/>
          <a:lstStyle/>
          <a:p>
            <a:endParaRPr lang="en-US"/>
          </a:p>
        </p:txBody>
      </p:sp>
      <p:sp>
        <p:nvSpPr>
          <p:cNvPr id="8" name="Shape 6"/>
          <p:cNvSpPr/>
          <p:nvPr/>
        </p:nvSpPr>
        <p:spPr>
          <a:xfrm>
            <a:off x="594360" y="1234440"/>
            <a:ext cx="3429000" cy="2697480"/>
          </a:xfrm>
          <a:prstGeom prst="roundRect">
            <a:avLst/>
          </a:prstGeom>
          <a:solidFill>
            <a:srgbClr val="111A2D"/>
          </a:solidFill>
          <a:ln w="12700">
            <a:solidFill>
              <a:srgbClr val="111A2D"/>
            </a:solidFill>
            <a:prstDash val="solid"/>
          </a:ln>
        </p:spPr>
        <p:txBody>
          <a:bodyPr/>
          <a:lstStyle/>
          <a:p>
            <a:endParaRPr lang="en-US"/>
          </a:p>
        </p:txBody>
      </p:sp>
      <p:pic>
        <p:nvPicPr>
          <p:cNvPr id="9" name="Image 0" descr="/mnt/data/ppt_extract/ppt/media/image6.png"/>
          <p:cNvPicPr>
            <a:picLocks noChangeAspect="1"/>
          </p:cNvPicPr>
          <p:nvPr/>
        </p:nvPicPr>
        <p:blipFill>
          <a:blip r:embed="rId3"/>
          <a:stretch>
            <a:fillRect/>
          </a:stretch>
        </p:blipFill>
        <p:spPr>
          <a:xfrm>
            <a:off x="822960" y="1490472"/>
            <a:ext cx="329184" cy="329184"/>
          </a:xfrm>
          <a:prstGeom prst="rect">
            <a:avLst/>
          </a:prstGeom>
        </p:spPr>
      </p:pic>
      <p:sp>
        <p:nvSpPr>
          <p:cNvPr id="10" name="Text 7"/>
          <p:cNvSpPr/>
          <p:nvPr/>
        </p:nvSpPr>
        <p:spPr>
          <a:xfrm>
            <a:off x="1243584" y="1499616"/>
            <a:ext cx="2377440" cy="201168"/>
          </a:xfrm>
          <a:prstGeom prst="rect">
            <a:avLst/>
          </a:prstGeom>
          <a:noFill/>
          <a:ln/>
        </p:spPr>
        <p:txBody>
          <a:bodyPr wrap="square" lIns="0" tIns="0" rIns="0" bIns="0" rtlCol="0" anchor="ctr"/>
          <a:lstStyle/>
          <a:p>
            <a:pPr marL="0" indent="0">
              <a:buNone/>
            </a:pPr>
            <a:r>
              <a:rPr lang="en-US" sz="1050" b="1" dirty="0">
                <a:solidFill>
                  <a:srgbClr val="12BFE2"/>
                </a:solidFill>
              </a:rPr>
              <a:t>In the bronchoscopy suite</a:t>
            </a:r>
            <a:endParaRPr lang="en-US" sz="1050" dirty="0"/>
          </a:p>
        </p:txBody>
      </p:sp>
      <p:sp>
        <p:nvSpPr>
          <p:cNvPr id="11" name="Text 8"/>
          <p:cNvSpPr/>
          <p:nvPr/>
        </p:nvSpPr>
        <p:spPr>
          <a:xfrm>
            <a:off x="914400" y="1965960"/>
            <a:ext cx="2697480" cy="1371600"/>
          </a:xfrm>
          <a:prstGeom prst="rect">
            <a:avLst/>
          </a:prstGeom>
          <a:noFill/>
          <a:ln/>
        </p:spPr>
        <p:txBody>
          <a:bodyPr wrap="square" lIns="254" tIns="254" rIns="254" bIns="254" rtlCol="0" anchor="ctr">
            <a:normAutofit/>
          </a:bodyPr>
          <a:lstStyle/>
          <a:p>
            <a:r>
              <a:rPr lang="en-US" sz="850" dirty="0">
                <a:solidFill>
                  <a:srgbClr val="F8FAFC"/>
                </a:solidFill>
              </a:rPr>
              <a:t>You choose the procedure</a:t>
            </a:r>
            <a:endParaRPr lang="en-US" sz="850" dirty="0"/>
          </a:p>
          <a:p>
            <a:r>
              <a:rPr lang="en-US" sz="850" dirty="0">
                <a:solidFill>
                  <a:srgbClr val="F8FAFC"/>
                </a:solidFill>
              </a:rPr>
              <a:t>You navigate to the target</a:t>
            </a:r>
            <a:endParaRPr lang="en-US" sz="850" dirty="0"/>
          </a:p>
          <a:p>
            <a:r>
              <a:rPr lang="en-US" sz="850" dirty="0">
                <a:solidFill>
                  <a:srgbClr val="F8FAFC"/>
                </a:solidFill>
              </a:rPr>
              <a:t>Rep helps with mechanics</a:t>
            </a:r>
            <a:endParaRPr lang="en-US" sz="850" dirty="0"/>
          </a:p>
          <a:p>
            <a:r>
              <a:rPr lang="en-US" sz="850" dirty="0">
                <a:solidFill>
                  <a:srgbClr val="F8FAFC"/>
                </a:solidFill>
              </a:rPr>
              <a:t>You request changes</a:t>
            </a:r>
            <a:endParaRPr lang="en-US" sz="850" dirty="0"/>
          </a:p>
          <a:p>
            <a:r>
              <a:rPr lang="en-US" sz="850" dirty="0">
                <a:solidFill>
                  <a:srgbClr val="F8FAFC"/>
                </a:solidFill>
              </a:rPr>
              <a:t>You decide when it is right</a:t>
            </a:r>
            <a:endParaRPr lang="en-US" sz="850" dirty="0"/>
          </a:p>
        </p:txBody>
      </p:sp>
      <p:sp>
        <p:nvSpPr>
          <p:cNvPr id="12" name="Shape 9"/>
          <p:cNvSpPr/>
          <p:nvPr/>
        </p:nvSpPr>
        <p:spPr>
          <a:xfrm>
            <a:off x="5074920" y="1234440"/>
            <a:ext cx="3429000" cy="2697480"/>
          </a:xfrm>
          <a:prstGeom prst="roundRect">
            <a:avLst/>
          </a:prstGeom>
          <a:solidFill>
            <a:srgbClr val="111A2D"/>
          </a:solidFill>
          <a:ln w="12700">
            <a:solidFill>
              <a:srgbClr val="111A2D"/>
            </a:solidFill>
            <a:prstDash val="solid"/>
          </a:ln>
        </p:spPr>
        <p:txBody>
          <a:bodyPr/>
          <a:lstStyle/>
          <a:p>
            <a:endParaRPr lang="en-US"/>
          </a:p>
        </p:txBody>
      </p:sp>
      <p:pic>
        <p:nvPicPr>
          <p:cNvPr id="13" name="Image 1" descr="/mnt/data/ppt_extract/ppt/media/image8.png"/>
          <p:cNvPicPr>
            <a:picLocks noChangeAspect="1"/>
          </p:cNvPicPr>
          <p:nvPr/>
        </p:nvPicPr>
        <p:blipFill>
          <a:blip r:embed="rId4"/>
          <a:stretch>
            <a:fillRect/>
          </a:stretch>
        </p:blipFill>
        <p:spPr>
          <a:xfrm>
            <a:off x="5349240" y="1490472"/>
            <a:ext cx="329184" cy="329184"/>
          </a:xfrm>
          <a:prstGeom prst="rect">
            <a:avLst/>
          </a:prstGeom>
        </p:spPr>
      </p:pic>
      <p:sp>
        <p:nvSpPr>
          <p:cNvPr id="14" name="Text 10"/>
          <p:cNvSpPr/>
          <p:nvPr/>
        </p:nvSpPr>
        <p:spPr>
          <a:xfrm>
            <a:off x="5760720" y="1499616"/>
            <a:ext cx="2377440" cy="201168"/>
          </a:xfrm>
          <a:prstGeom prst="rect">
            <a:avLst/>
          </a:prstGeom>
          <a:noFill/>
          <a:ln/>
        </p:spPr>
        <p:txBody>
          <a:bodyPr wrap="square" lIns="0" tIns="0" rIns="0" bIns="0" rtlCol="0" anchor="ctr"/>
          <a:lstStyle/>
          <a:p>
            <a:pPr marL="0" indent="0">
              <a:buNone/>
            </a:pPr>
            <a:r>
              <a:rPr lang="en-US" sz="1050" b="1" dirty="0">
                <a:solidFill>
                  <a:srgbClr val="12BFE2"/>
                </a:solidFill>
              </a:rPr>
              <a:t>In AI-assisted development</a:t>
            </a:r>
            <a:endParaRPr lang="en-US" sz="1050" dirty="0"/>
          </a:p>
        </p:txBody>
      </p:sp>
      <p:sp>
        <p:nvSpPr>
          <p:cNvPr id="15" name="Text 11"/>
          <p:cNvSpPr/>
          <p:nvPr/>
        </p:nvSpPr>
        <p:spPr>
          <a:xfrm>
            <a:off x="5440680" y="1965960"/>
            <a:ext cx="2697480" cy="1371600"/>
          </a:xfrm>
          <a:prstGeom prst="rect">
            <a:avLst/>
          </a:prstGeom>
          <a:noFill/>
          <a:ln/>
        </p:spPr>
        <p:txBody>
          <a:bodyPr wrap="square" lIns="254" tIns="254" rIns="254" bIns="254" rtlCol="0" anchor="ctr">
            <a:normAutofit/>
          </a:bodyPr>
          <a:lstStyle/>
          <a:p>
            <a:r>
              <a:rPr lang="en-US" sz="850" dirty="0">
                <a:solidFill>
                  <a:srgbClr val="F8FAFC"/>
                </a:solidFill>
              </a:rPr>
              <a:t>You define the clinical problem</a:t>
            </a:r>
            <a:endParaRPr lang="en-US" sz="850" dirty="0"/>
          </a:p>
          <a:p>
            <a:r>
              <a:rPr lang="en-US" sz="850" dirty="0">
                <a:solidFill>
                  <a:srgbClr val="F8FAFC"/>
                </a:solidFill>
              </a:rPr>
              <a:t>You describe the workflow</a:t>
            </a:r>
            <a:endParaRPr lang="en-US" sz="850" dirty="0"/>
          </a:p>
          <a:p>
            <a:r>
              <a:rPr lang="en-US" sz="850" dirty="0">
                <a:solidFill>
                  <a:srgbClr val="F8FAFC"/>
                </a:solidFill>
              </a:rPr>
              <a:t>AI implements the code</a:t>
            </a:r>
            <a:endParaRPr lang="en-US" sz="850" dirty="0"/>
          </a:p>
          <a:p>
            <a:r>
              <a:rPr lang="en-US" sz="850" dirty="0">
                <a:solidFill>
                  <a:srgbClr val="F8FAFC"/>
                </a:solidFill>
              </a:rPr>
              <a:t>You test and critique</a:t>
            </a:r>
            <a:endParaRPr lang="en-US" sz="850" dirty="0"/>
          </a:p>
          <a:p>
            <a:r>
              <a:rPr lang="en-US" sz="850" dirty="0">
                <a:solidFill>
                  <a:srgbClr val="F8FAFC"/>
                </a:solidFill>
              </a:rPr>
              <a:t>You decide what ships</a:t>
            </a:r>
            <a:endParaRPr lang="en-US" sz="850" dirty="0"/>
          </a:p>
        </p:txBody>
      </p:sp>
      <p:sp>
        <p:nvSpPr>
          <p:cNvPr id="16" name="Shape 12"/>
          <p:cNvSpPr/>
          <p:nvPr/>
        </p:nvSpPr>
        <p:spPr>
          <a:xfrm>
            <a:off x="1188720" y="4005072"/>
            <a:ext cx="6766560" cy="411480"/>
          </a:xfrm>
          <a:prstGeom prst="roundRect">
            <a:avLst/>
          </a:prstGeom>
          <a:solidFill>
            <a:srgbClr val="111A2D"/>
          </a:solidFill>
          <a:ln w="12700">
            <a:solidFill>
              <a:srgbClr val="111A2D"/>
            </a:solidFill>
            <a:prstDash val="solid"/>
          </a:ln>
        </p:spPr>
        <p:txBody>
          <a:bodyPr/>
          <a:lstStyle/>
          <a:p>
            <a:endParaRPr lang="en-US"/>
          </a:p>
        </p:txBody>
      </p:sp>
      <p:sp>
        <p:nvSpPr>
          <p:cNvPr id="17" name="Shape 13"/>
          <p:cNvSpPr/>
          <p:nvPr/>
        </p:nvSpPr>
        <p:spPr>
          <a:xfrm>
            <a:off x="1188720" y="4005072"/>
            <a:ext cx="36576" cy="411480"/>
          </a:xfrm>
          <a:prstGeom prst="rect">
            <a:avLst/>
          </a:prstGeom>
          <a:solidFill>
            <a:srgbClr val="F59E0B"/>
          </a:solidFill>
          <a:ln w="12700">
            <a:solidFill>
              <a:srgbClr val="F59E0B"/>
            </a:solidFill>
            <a:prstDash val="solid"/>
          </a:ln>
        </p:spPr>
        <p:txBody>
          <a:bodyPr/>
          <a:lstStyle/>
          <a:p>
            <a:endParaRPr lang="en-US"/>
          </a:p>
        </p:txBody>
      </p:sp>
      <p:sp>
        <p:nvSpPr>
          <p:cNvPr id="18" name="Text 14"/>
          <p:cNvSpPr/>
          <p:nvPr/>
        </p:nvSpPr>
        <p:spPr>
          <a:xfrm>
            <a:off x="1353312" y="4169664"/>
            <a:ext cx="6464808" cy="155448"/>
          </a:xfrm>
          <a:prstGeom prst="rect">
            <a:avLst/>
          </a:prstGeom>
          <a:noFill/>
          <a:ln/>
        </p:spPr>
        <p:txBody>
          <a:bodyPr wrap="square" lIns="0" tIns="0" rIns="0" bIns="0" rtlCol="0" anchor="ctr">
            <a:normAutofit/>
          </a:bodyPr>
          <a:lstStyle/>
          <a:p>
            <a:pPr marL="0" indent="0">
              <a:buNone/>
            </a:pPr>
            <a:r>
              <a:rPr lang="en-US" sz="900" dirty="0">
                <a:solidFill>
                  <a:srgbClr val="F8FAFC"/>
                </a:solidFill>
                <a:latin typeface="Aptos" pitchFamily="34" charset="0"/>
                <a:ea typeface="Aptos" pitchFamily="34" charset="-122"/>
                <a:cs typeface="Aptos" pitchFamily="34" charset="-120"/>
              </a:rPr>
              <a:t>For medical apps, “vibe coding” should mean fast iteration — not vague clinical thinking.</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70D1A"/>
        </a:solidFill>
        <a:effectLst/>
      </p:bgPr>
    </p:bg>
    <p:spTree>
      <p:nvGrpSpPr>
        <p:cNvPr id="1" name=""/>
        <p:cNvGrpSpPr/>
        <p:nvPr/>
      </p:nvGrpSpPr>
      <p:grpSpPr>
        <a:xfrm>
          <a:off x="0" y="0"/>
          <a:ext cx="0" cy="0"/>
          <a:chOff x="0" y="0"/>
          <a:chExt cx="0" cy="0"/>
        </a:xfrm>
      </p:grpSpPr>
      <p:sp>
        <p:nvSpPr>
          <p:cNvPr id="2" name="Text 0"/>
          <p:cNvSpPr/>
          <p:nvPr/>
        </p:nvSpPr>
        <p:spPr>
          <a:xfrm>
            <a:off x="411480" y="274320"/>
            <a:ext cx="3474720" cy="146304"/>
          </a:xfrm>
          <a:prstGeom prst="rect">
            <a:avLst/>
          </a:prstGeom>
          <a:noFill/>
          <a:ln/>
        </p:spPr>
        <p:txBody>
          <a:bodyPr wrap="square" lIns="0" tIns="0" rIns="0" bIns="0" rtlCol="0" anchor="ctr"/>
          <a:lstStyle/>
          <a:p>
            <a:pPr marL="0" indent="0">
              <a:buNone/>
            </a:pPr>
            <a:r>
              <a:rPr lang="en-US" sz="650" b="1" dirty="0">
                <a:solidFill>
                  <a:srgbClr val="12BFE2"/>
                </a:solidFill>
                <a:latin typeface="Aptos" pitchFamily="34" charset="0"/>
                <a:ea typeface="Aptos" pitchFamily="34" charset="-122"/>
                <a:cs typeface="Aptos" pitchFamily="34" charset="-120"/>
              </a:rPr>
              <a:t>TOOLS</a:t>
            </a:r>
            <a:endParaRPr lang="en-US" sz="650" dirty="0"/>
          </a:p>
        </p:txBody>
      </p:sp>
      <p:sp>
        <p:nvSpPr>
          <p:cNvPr id="3" name="Text 1"/>
          <p:cNvSpPr/>
          <p:nvPr/>
        </p:nvSpPr>
        <p:spPr>
          <a:xfrm>
            <a:off x="411480" y="612648"/>
            <a:ext cx="5669280" cy="384048"/>
          </a:xfrm>
          <a:prstGeom prst="rect">
            <a:avLst/>
          </a:prstGeom>
          <a:noFill/>
          <a:ln/>
        </p:spPr>
        <p:txBody>
          <a:bodyPr wrap="square" lIns="0" tIns="0" rIns="0" bIns="0" rtlCol="0" anchor="ctr">
            <a:normAutofit/>
          </a:bodyPr>
          <a:lstStyle/>
          <a:p>
            <a:pPr marL="0" indent="0">
              <a:buNone/>
            </a:pPr>
            <a:r>
              <a:rPr lang="en-US" sz="2100" b="1" dirty="0">
                <a:solidFill>
                  <a:srgbClr val="F8FAFC"/>
                </a:solidFill>
                <a:latin typeface="Aptos Display" pitchFamily="34" charset="0"/>
                <a:ea typeface="Aptos Display" pitchFamily="34" charset="-122"/>
                <a:cs typeface="Aptos Display" pitchFamily="34" charset="-120"/>
              </a:rPr>
              <a:t>The coding-tool ladder</a:t>
            </a:r>
            <a:endParaRPr lang="en-US" sz="2100" dirty="0"/>
          </a:p>
        </p:txBody>
      </p:sp>
      <p:sp>
        <p:nvSpPr>
          <p:cNvPr id="4" name="Text 2"/>
          <p:cNvSpPr/>
          <p:nvPr/>
        </p:nvSpPr>
        <p:spPr>
          <a:xfrm>
            <a:off x="411480" y="4828032"/>
            <a:ext cx="4754880" cy="109728"/>
          </a:xfrm>
          <a:prstGeom prst="rect">
            <a:avLst/>
          </a:prstGeom>
          <a:noFill/>
          <a:ln/>
        </p:spPr>
        <p:txBody>
          <a:bodyPr wrap="square" lIns="0" tIns="0" rIns="0" bIns="0" rtlCol="0" anchor="ctr"/>
          <a:lstStyle/>
          <a:p>
            <a:pPr marL="0" indent="0">
              <a:buNone/>
            </a:pPr>
            <a:r>
              <a:rPr lang="en-US" sz="550" dirty="0">
                <a:solidFill>
                  <a:srgbClr val="5F6B7A"/>
                </a:solidFill>
                <a:latin typeface="Aptos" pitchFamily="34" charset="0"/>
                <a:ea typeface="Aptos" pitchFamily="34" charset="-122"/>
                <a:cs typeface="Aptos" pitchFamily="34" charset="-120"/>
              </a:rPr>
              <a:t>AABIP Webinar 2026  |  AI in Interventional Pulmonology</a:t>
            </a:r>
            <a:endParaRPr lang="en-US" sz="550" dirty="0"/>
          </a:p>
        </p:txBody>
      </p:sp>
      <p:sp>
        <p:nvSpPr>
          <p:cNvPr id="5" name="Text 3"/>
          <p:cNvSpPr/>
          <p:nvPr/>
        </p:nvSpPr>
        <p:spPr>
          <a:xfrm>
            <a:off x="8366760" y="4828032"/>
            <a:ext cx="365760" cy="109728"/>
          </a:xfrm>
          <a:prstGeom prst="rect">
            <a:avLst/>
          </a:prstGeom>
          <a:noFill/>
          <a:ln/>
        </p:spPr>
        <p:txBody>
          <a:bodyPr wrap="square" lIns="0" tIns="0" rIns="0" bIns="0" rtlCol="0" anchor="ctr"/>
          <a:lstStyle/>
          <a:p>
            <a:pPr marL="0" indent="0" algn="r">
              <a:buNone/>
            </a:pPr>
            <a:r>
              <a:rPr lang="en-US" sz="550" dirty="0">
                <a:solidFill>
                  <a:srgbClr val="5F6B7A"/>
                </a:solidFill>
                <a:latin typeface="Aptos" pitchFamily="34" charset="0"/>
                <a:ea typeface="Aptos" pitchFamily="34" charset="-122"/>
                <a:cs typeface="Aptos" pitchFamily="34" charset="-120"/>
              </a:rPr>
              <a:t>5 / 22</a:t>
            </a:r>
            <a:endParaRPr lang="en-US" sz="550" dirty="0"/>
          </a:p>
        </p:txBody>
      </p:sp>
      <p:sp>
        <p:nvSpPr>
          <p:cNvPr id="6" name="Shape 4"/>
          <p:cNvSpPr/>
          <p:nvPr/>
        </p:nvSpPr>
        <p:spPr>
          <a:xfrm>
            <a:off x="411480" y="1060704"/>
            <a:ext cx="1143000" cy="0"/>
          </a:xfrm>
          <a:prstGeom prst="line">
            <a:avLst/>
          </a:prstGeom>
          <a:noFill/>
          <a:ln w="15240">
            <a:solidFill>
              <a:srgbClr val="12BFE2"/>
            </a:solidFill>
            <a:prstDash val="solid"/>
          </a:ln>
        </p:spPr>
        <p:txBody>
          <a:bodyPr/>
          <a:lstStyle/>
          <a:p>
            <a:endParaRPr lang="en-US"/>
          </a:p>
        </p:txBody>
      </p:sp>
      <p:sp>
        <p:nvSpPr>
          <p:cNvPr id="7" name="Shape 5"/>
          <p:cNvSpPr/>
          <p:nvPr/>
        </p:nvSpPr>
        <p:spPr>
          <a:xfrm>
            <a:off x="621792" y="1234440"/>
            <a:ext cx="2487168" cy="2651760"/>
          </a:xfrm>
          <a:prstGeom prst="roundRect">
            <a:avLst/>
          </a:prstGeom>
          <a:solidFill>
            <a:srgbClr val="111A2D"/>
          </a:solidFill>
          <a:ln w="8890">
            <a:solidFill>
              <a:srgbClr val="12BFE2"/>
            </a:solidFill>
            <a:prstDash val="solid"/>
          </a:ln>
        </p:spPr>
        <p:txBody>
          <a:bodyPr/>
          <a:lstStyle/>
          <a:p>
            <a:endParaRPr lang="en-US"/>
          </a:p>
        </p:txBody>
      </p:sp>
      <p:sp>
        <p:nvSpPr>
          <p:cNvPr id="8" name="Shape 6"/>
          <p:cNvSpPr/>
          <p:nvPr/>
        </p:nvSpPr>
        <p:spPr>
          <a:xfrm>
            <a:off x="621792" y="1234440"/>
            <a:ext cx="2487168" cy="36576"/>
          </a:xfrm>
          <a:prstGeom prst="rect">
            <a:avLst/>
          </a:prstGeom>
          <a:solidFill>
            <a:srgbClr val="12BFE2"/>
          </a:solidFill>
          <a:ln w="12700">
            <a:solidFill>
              <a:srgbClr val="12BFE2"/>
            </a:solidFill>
            <a:prstDash val="solid"/>
          </a:ln>
        </p:spPr>
        <p:txBody>
          <a:bodyPr/>
          <a:lstStyle/>
          <a:p>
            <a:endParaRPr lang="en-US"/>
          </a:p>
        </p:txBody>
      </p:sp>
      <p:pic>
        <p:nvPicPr>
          <p:cNvPr id="9" name="Image 0" descr="/mnt/data/ppt_extract/ppt/media/image9.png"/>
          <p:cNvPicPr>
            <a:picLocks noChangeAspect="1"/>
          </p:cNvPicPr>
          <p:nvPr/>
        </p:nvPicPr>
        <p:blipFill>
          <a:blip r:embed="rId3"/>
          <a:stretch>
            <a:fillRect/>
          </a:stretch>
        </p:blipFill>
        <p:spPr>
          <a:xfrm>
            <a:off x="768096" y="1508760"/>
            <a:ext cx="292608" cy="292608"/>
          </a:xfrm>
          <a:prstGeom prst="rect">
            <a:avLst/>
          </a:prstGeom>
        </p:spPr>
      </p:pic>
      <p:sp>
        <p:nvSpPr>
          <p:cNvPr id="10" name="Text 7"/>
          <p:cNvSpPr/>
          <p:nvPr/>
        </p:nvSpPr>
        <p:spPr>
          <a:xfrm>
            <a:off x="1124712" y="1527048"/>
            <a:ext cx="1645920" cy="201168"/>
          </a:xfrm>
          <a:prstGeom prst="rect">
            <a:avLst/>
          </a:prstGeom>
          <a:noFill/>
          <a:ln/>
        </p:spPr>
        <p:txBody>
          <a:bodyPr wrap="square" lIns="0" tIns="0" rIns="0" bIns="0" rtlCol="0" anchor="ctr"/>
          <a:lstStyle/>
          <a:p>
            <a:pPr marL="0" indent="0">
              <a:buNone/>
            </a:pPr>
            <a:r>
              <a:rPr lang="en-US" sz="1050" b="1" dirty="0">
                <a:solidFill>
                  <a:srgbClr val="12BFE2"/>
                </a:solidFill>
                <a:latin typeface="Aptos" pitchFamily="34" charset="0"/>
                <a:ea typeface="Aptos" pitchFamily="34" charset="-122"/>
                <a:cs typeface="Aptos" pitchFamily="34" charset="-120"/>
              </a:rPr>
              <a:t>Chat-based</a:t>
            </a:r>
            <a:endParaRPr lang="en-US" sz="1050" dirty="0"/>
          </a:p>
        </p:txBody>
      </p:sp>
      <p:sp>
        <p:nvSpPr>
          <p:cNvPr id="11" name="Text 8"/>
          <p:cNvSpPr/>
          <p:nvPr/>
        </p:nvSpPr>
        <p:spPr>
          <a:xfrm>
            <a:off x="896112" y="2039112"/>
            <a:ext cx="1828800" cy="457200"/>
          </a:xfrm>
          <a:prstGeom prst="rect">
            <a:avLst/>
          </a:prstGeom>
          <a:noFill/>
          <a:ln/>
        </p:spPr>
        <p:txBody>
          <a:bodyPr wrap="square" lIns="0" tIns="0" rIns="0" bIns="0" rtlCol="0" anchor="ctr">
            <a:normAutofit/>
          </a:bodyPr>
          <a:lstStyle/>
          <a:p>
            <a:pPr marL="0" indent="0">
              <a:buNone/>
            </a:pPr>
            <a:r>
              <a:rPr lang="en-US" sz="900" b="1" dirty="0">
                <a:solidFill>
                  <a:srgbClr val="F8FAFC"/>
                </a:solidFill>
                <a:latin typeface="Aptos" pitchFamily="34" charset="0"/>
                <a:ea typeface="Aptos" pitchFamily="34" charset="-122"/>
                <a:cs typeface="Aptos" pitchFamily="34" charset="-120"/>
              </a:rPr>
              <a:t>ChatGPT</a:t>
            </a:r>
            <a:endParaRPr lang="en-US" sz="900" dirty="0"/>
          </a:p>
          <a:p>
            <a:pPr marL="0" indent="0">
              <a:buNone/>
            </a:pPr>
            <a:r>
              <a:rPr lang="en-US" sz="900" b="1" dirty="0">
                <a:solidFill>
                  <a:srgbClr val="F8FAFC"/>
                </a:solidFill>
                <a:latin typeface="Aptos" pitchFamily="34" charset="0"/>
                <a:ea typeface="Aptos" pitchFamily="34" charset="-122"/>
                <a:cs typeface="Aptos" pitchFamily="34" charset="-120"/>
              </a:rPr>
              <a:t>Claude.ai</a:t>
            </a:r>
            <a:endParaRPr lang="en-US" sz="900" dirty="0"/>
          </a:p>
          <a:p>
            <a:pPr marL="0" indent="0">
              <a:buNone/>
            </a:pPr>
            <a:r>
              <a:rPr lang="en-US" sz="900" b="1" dirty="0">
                <a:solidFill>
                  <a:srgbClr val="F8FAFC"/>
                </a:solidFill>
                <a:latin typeface="Aptos" pitchFamily="34" charset="0"/>
                <a:ea typeface="Aptos" pitchFamily="34" charset="-122"/>
                <a:cs typeface="Aptos" pitchFamily="34" charset="-120"/>
              </a:rPr>
              <a:t>Gemini</a:t>
            </a:r>
            <a:endParaRPr lang="en-US" sz="900" dirty="0"/>
          </a:p>
        </p:txBody>
      </p:sp>
      <p:sp>
        <p:nvSpPr>
          <p:cNvPr id="12" name="Text 9"/>
          <p:cNvSpPr/>
          <p:nvPr/>
        </p:nvSpPr>
        <p:spPr>
          <a:xfrm>
            <a:off x="896112" y="2834640"/>
            <a:ext cx="1920240" cy="566928"/>
          </a:xfrm>
          <a:prstGeom prst="rect">
            <a:avLst/>
          </a:prstGeom>
          <a:noFill/>
          <a:ln/>
        </p:spPr>
        <p:txBody>
          <a:bodyPr wrap="square" lIns="0" tIns="0" rIns="0" bIns="0" rtlCol="0" anchor="ctr">
            <a:normAutofit/>
          </a:bodyPr>
          <a:lstStyle/>
          <a:p>
            <a:pPr marL="0" indent="0">
              <a:buNone/>
            </a:pPr>
            <a:r>
              <a:rPr lang="en-US" sz="770" dirty="0">
                <a:solidFill>
                  <a:srgbClr val="A7B3C6"/>
                </a:solidFill>
                <a:latin typeface="Aptos" pitchFamily="34" charset="0"/>
                <a:ea typeface="Aptos" pitchFamily="34" charset="-122"/>
                <a:cs typeface="Aptos" pitchFamily="34" charset="-120"/>
              </a:rPr>
              <a:t>Best for framing, prompts, troubleshooting, and critiquing output.</a:t>
            </a:r>
            <a:endParaRPr lang="en-US" sz="770" dirty="0"/>
          </a:p>
        </p:txBody>
      </p:sp>
      <p:sp>
        <p:nvSpPr>
          <p:cNvPr id="13" name="Shape 10"/>
          <p:cNvSpPr/>
          <p:nvPr/>
        </p:nvSpPr>
        <p:spPr>
          <a:xfrm>
            <a:off x="3410712" y="1234440"/>
            <a:ext cx="2487168" cy="2651760"/>
          </a:xfrm>
          <a:prstGeom prst="roundRect">
            <a:avLst/>
          </a:prstGeom>
          <a:solidFill>
            <a:srgbClr val="111A2D"/>
          </a:solidFill>
          <a:ln w="8890">
            <a:solidFill>
              <a:srgbClr val="2DD4BF"/>
            </a:solidFill>
            <a:prstDash val="solid"/>
          </a:ln>
        </p:spPr>
        <p:txBody>
          <a:bodyPr/>
          <a:lstStyle/>
          <a:p>
            <a:endParaRPr lang="en-US"/>
          </a:p>
        </p:txBody>
      </p:sp>
      <p:sp>
        <p:nvSpPr>
          <p:cNvPr id="14" name="Shape 11"/>
          <p:cNvSpPr/>
          <p:nvPr/>
        </p:nvSpPr>
        <p:spPr>
          <a:xfrm>
            <a:off x="3410712" y="1234440"/>
            <a:ext cx="2487168" cy="36576"/>
          </a:xfrm>
          <a:prstGeom prst="rect">
            <a:avLst/>
          </a:prstGeom>
          <a:solidFill>
            <a:srgbClr val="2DD4BF"/>
          </a:solidFill>
          <a:ln w="12700">
            <a:solidFill>
              <a:srgbClr val="2DD4BF"/>
            </a:solidFill>
            <a:prstDash val="solid"/>
          </a:ln>
        </p:spPr>
        <p:txBody>
          <a:bodyPr/>
          <a:lstStyle/>
          <a:p>
            <a:endParaRPr lang="en-US"/>
          </a:p>
        </p:txBody>
      </p:sp>
      <p:pic>
        <p:nvPicPr>
          <p:cNvPr id="15" name="Image 1" descr="/mnt/data/ppt_extract/ppt/media/image22.png"/>
          <p:cNvPicPr>
            <a:picLocks noChangeAspect="1"/>
          </p:cNvPicPr>
          <p:nvPr/>
        </p:nvPicPr>
        <p:blipFill>
          <a:blip r:embed="rId4"/>
          <a:stretch>
            <a:fillRect/>
          </a:stretch>
        </p:blipFill>
        <p:spPr>
          <a:xfrm>
            <a:off x="3557016" y="1508760"/>
            <a:ext cx="292608" cy="292608"/>
          </a:xfrm>
          <a:prstGeom prst="rect">
            <a:avLst/>
          </a:prstGeom>
        </p:spPr>
      </p:pic>
      <p:sp>
        <p:nvSpPr>
          <p:cNvPr id="16" name="Text 12"/>
          <p:cNvSpPr/>
          <p:nvPr/>
        </p:nvSpPr>
        <p:spPr>
          <a:xfrm>
            <a:off x="3913632" y="1527048"/>
            <a:ext cx="1645920" cy="201168"/>
          </a:xfrm>
          <a:prstGeom prst="rect">
            <a:avLst/>
          </a:prstGeom>
          <a:noFill/>
          <a:ln/>
        </p:spPr>
        <p:txBody>
          <a:bodyPr wrap="square" lIns="0" tIns="0" rIns="0" bIns="0" rtlCol="0" anchor="ctr"/>
          <a:lstStyle/>
          <a:p>
            <a:pPr marL="0" indent="0">
              <a:buNone/>
            </a:pPr>
            <a:r>
              <a:rPr lang="en-US" sz="1050" b="1" dirty="0">
                <a:solidFill>
                  <a:srgbClr val="2DD4BF"/>
                </a:solidFill>
                <a:latin typeface="Aptos" pitchFamily="34" charset="0"/>
                <a:ea typeface="Aptos" pitchFamily="34" charset="-122"/>
                <a:cs typeface="Aptos" pitchFamily="34" charset="-120"/>
              </a:rPr>
              <a:t>IDE-integrated</a:t>
            </a:r>
            <a:endParaRPr lang="en-US" sz="1050" dirty="0"/>
          </a:p>
        </p:txBody>
      </p:sp>
      <p:sp>
        <p:nvSpPr>
          <p:cNvPr id="17" name="Text 13"/>
          <p:cNvSpPr/>
          <p:nvPr/>
        </p:nvSpPr>
        <p:spPr>
          <a:xfrm>
            <a:off x="3685032" y="2039112"/>
            <a:ext cx="1828800" cy="457200"/>
          </a:xfrm>
          <a:prstGeom prst="rect">
            <a:avLst/>
          </a:prstGeom>
          <a:noFill/>
          <a:ln/>
        </p:spPr>
        <p:txBody>
          <a:bodyPr wrap="square" lIns="0" tIns="0" rIns="0" bIns="0" rtlCol="0" anchor="ctr">
            <a:normAutofit/>
          </a:bodyPr>
          <a:lstStyle/>
          <a:p>
            <a:pPr marL="0" indent="0">
              <a:buNone/>
            </a:pPr>
            <a:r>
              <a:rPr lang="en-US" sz="900" b="1" dirty="0">
                <a:solidFill>
                  <a:srgbClr val="F8FAFC"/>
                </a:solidFill>
                <a:latin typeface="Aptos" pitchFamily="34" charset="0"/>
                <a:ea typeface="Aptos" pitchFamily="34" charset="-122"/>
                <a:cs typeface="Aptos" pitchFamily="34" charset="-120"/>
              </a:rPr>
              <a:t>Cursor</a:t>
            </a:r>
            <a:endParaRPr lang="en-US" sz="900" dirty="0"/>
          </a:p>
          <a:p>
            <a:pPr marL="0" indent="0">
              <a:buNone/>
            </a:pPr>
            <a:r>
              <a:rPr lang="en-US" sz="900" b="1" dirty="0">
                <a:solidFill>
                  <a:srgbClr val="F8FAFC"/>
                </a:solidFill>
                <a:latin typeface="Aptos" pitchFamily="34" charset="0"/>
                <a:ea typeface="Aptos" pitchFamily="34" charset="-122"/>
                <a:cs typeface="Aptos" pitchFamily="34" charset="-120"/>
              </a:rPr>
              <a:t>Windsurf</a:t>
            </a:r>
            <a:endParaRPr lang="en-US" sz="900" dirty="0"/>
          </a:p>
          <a:p>
            <a:pPr marL="0" indent="0">
              <a:buNone/>
            </a:pPr>
            <a:r>
              <a:rPr lang="en-US" sz="900" b="1" dirty="0">
                <a:solidFill>
                  <a:srgbClr val="F8FAFC"/>
                </a:solidFill>
                <a:latin typeface="Aptos" pitchFamily="34" charset="0"/>
                <a:ea typeface="Aptos" pitchFamily="34" charset="-122"/>
                <a:cs typeface="Aptos" pitchFamily="34" charset="-120"/>
              </a:rPr>
              <a:t>GitHub Copilot</a:t>
            </a:r>
            <a:endParaRPr lang="en-US" sz="900" dirty="0"/>
          </a:p>
        </p:txBody>
      </p:sp>
      <p:sp>
        <p:nvSpPr>
          <p:cNvPr id="18" name="Text 14"/>
          <p:cNvSpPr/>
          <p:nvPr/>
        </p:nvSpPr>
        <p:spPr>
          <a:xfrm>
            <a:off x="3685032" y="2834640"/>
            <a:ext cx="1920240" cy="566928"/>
          </a:xfrm>
          <a:prstGeom prst="rect">
            <a:avLst/>
          </a:prstGeom>
          <a:noFill/>
          <a:ln/>
        </p:spPr>
        <p:txBody>
          <a:bodyPr wrap="square" lIns="0" tIns="0" rIns="0" bIns="0" rtlCol="0" anchor="ctr">
            <a:normAutofit/>
          </a:bodyPr>
          <a:lstStyle/>
          <a:p>
            <a:pPr marL="0" indent="0">
              <a:buNone/>
            </a:pPr>
            <a:r>
              <a:rPr lang="en-US" sz="770" dirty="0">
                <a:solidFill>
                  <a:srgbClr val="A7B3C6"/>
                </a:solidFill>
                <a:latin typeface="Aptos" pitchFamily="34" charset="0"/>
                <a:ea typeface="Aptos" pitchFamily="34" charset="-122"/>
                <a:cs typeface="Aptos" pitchFamily="34" charset="-120"/>
              </a:rPr>
              <a:t>Best when you want AI inside the editor, aware of files and code context.</a:t>
            </a:r>
            <a:endParaRPr lang="en-US" sz="770" dirty="0"/>
          </a:p>
        </p:txBody>
      </p:sp>
      <p:sp>
        <p:nvSpPr>
          <p:cNvPr id="19" name="Shape 15"/>
          <p:cNvSpPr/>
          <p:nvPr/>
        </p:nvSpPr>
        <p:spPr>
          <a:xfrm>
            <a:off x="6199632" y="1234440"/>
            <a:ext cx="2487168" cy="2651760"/>
          </a:xfrm>
          <a:prstGeom prst="roundRect">
            <a:avLst/>
          </a:prstGeom>
          <a:solidFill>
            <a:srgbClr val="111A2D"/>
          </a:solidFill>
          <a:ln w="8890">
            <a:solidFill>
              <a:srgbClr val="F59E0B"/>
            </a:solidFill>
            <a:prstDash val="solid"/>
          </a:ln>
        </p:spPr>
        <p:txBody>
          <a:bodyPr/>
          <a:lstStyle/>
          <a:p>
            <a:endParaRPr lang="en-US"/>
          </a:p>
        </p:txBody>
      </p:sp>
      <p:sp>
        <p:nvSpPr>
          <p:cNvPr id="20" name="Shape 16"/>
          <p:cNvSpPr/>
          <p:nvPr/>
        </p:nvSpPr>
        <p:spPr>
          <a:xfrm>
            <a:off x="6199632" y="1234440"/>
            <a:ext cx="2487168" cy="36576"/>
          </a:xfrm>
          <a:prstGeom prst="rect">
            <a:avLst/>
          </a:prstGeom>
          <a:solidFill>
            <a:srgbClr val="F59E0B"/>
          </a:solidFill>
          <a:ln w="12700">
            <a:solidFill>
              <a:srgbClr val="F59E0B"/>
            </a:solidFill>
            <a:prstDash val="solid"/>
          </a:ln>
        </p:spPr>
        <p:txBody>
          <a:bodyPr/>
          <a:lstStyle/>
          <a:p>
            <a:endParaRPr lang="en-US"/>
          </a:p>
        </p:txBody>
      </p:sp>
      <p:pic>
        <p:nvPicPr>
          <p:cNvPr id="21" name="Image 2" descr="/mnt/data/ppt_extract/ppt/media/image23.png"/>
          <p:cNvPicPr>
            <a:picLocks noChangeAspect="1"/>
          </p:cNvPicPr>
          <p:nvPr/>
        </p:nvPicPr>
        <p:blipFill>
          <a:blip r:embed="rId5"/>
          <a:stretch>
            <a:fillRect/>
          </a:stretch>
        </p:blipFill>
        <p:spPr>
          <a:xfrm>
            <a:off x="6345936" y="1508760"/>
            <a:ext cx="292608" cy="292608"/>
          </a:xfrm>
          <a:prstGeom prst="rect">
            <a:avLst/>
          </a:prstGeom>
        </p:spPr>
      </p:pic>
      <p:sp>
        <p:nvSpPr>
          <p:cNvPr id="22" name="Text 17"/>
          <p:cNvSpPr/>
          <p:nvPr/>
        </p:nvSpPr>
        <p:spPr>
          <a:xfrm>
            <a:off x="6702552" y="1527048"/>
            <a:ext cx="1645920" cy="201168"/>
          </a:xfrm>
          <a:prstGeom prst="rect">
            <a:avLst/>
          </a:prstGeom>
          <a:noFill/>
          <a:ln/>
        </p:spPr>
        <p:txBody>
          <a:bodyPr wrap="square" lIns="0" tIns="0" rIns="0" bIns="0" rtlCol="0" anchor="ctr"/>
          <a:lstStyle/>
          <a:p>
            <a:pPr marL="0" indent="0">
              <a:buNone/>
            </a:pPr>
            <a:r>
              <a:rPr lang="en-US" sz="1050" b="1" dirty="0">
                <a:solidFill>
                  <a:srgbClr val="F59E0B"/>
                </a:solidFill>
                <a:latin typeface="Aptos" pitchFamily="34" charset="0"/>
                <a:ea typeface="Aptos" pitchFamily="34" charset="-122"/>
                <a:cs typeface="Aptos" pitchFamily="34" charset="-120"/>
              </a:rPr>
              <a:t>Agentic / CLI</a:t>
            </a:r>
            <a:endParaRPr lang="en-US" sz="1050" dirty="0"/>
          </a:p>
        </p:txBody>
      </p:sp>
      <p:sp>
        <p:nvSpPr>
          <p:cNvPr id="23" name="Text 18"/>
          <p:cNvSpPr/>
          <p:nvPr/>
        </p:nvSpPr>
        <p:spPr>
          <a:xfrm>
            <a:off x="6473952" y="2039112"/>
            <a:ext cx="1828800" cy="457200"/>
          </a:xfrm>
          <a:prstGeom prst="rect">
            <a:avLst/>
          </a:prstGeom>
          <a:noFill/>
          <a:ln/>
        </p:spPr>
        <p:txBody>
          <a:bodyPr wrap="square" lIns="0" tIns="0" rIns="0" bIns="0" rtlCol="0" anchor="ctr">
            <a:normAutofit/>
          </a:bodyPr>
          <a:lstStyle/>
          <a:p>
            <a:pPr marL="0" indent="0">
              <a:buNone/>
            </a:pPr>
            <a:r>
              <a:rPr lang="en-US" sz="900" b="1" dirty="0">
                <a:solidFill>
                  <a:srgbClr val="F8FAFC"/>
                </a:solidFill>
                <a:latin typeface="Aptos" pitchFamily="34" charset="0"/>
                <a:ea typeface="Aptos" pitchFamily="34" charset="-122"/>
                <a:cs typeface="Aptos" pitchFamily="34" charset="-120"/>
              </a:rPr>
              <a:t>Codex CLI</a:t>
            </a:r>
            <a:endParaRPr lang="en-US" sz="900" dirty="0"/>
          </a:p>
          <a:p>
            <a:pPr marL="0" indent="0">
              <a:buNone/>
            </a:pPr>
            <a:r>
              <a:rPr lang="en-US" sz="900" b="1" dirty="0">
                <a:solidFill>
                  <a:srgbClr val="F8FAFC"/>
                </a:solidFill>
                <a:latin typeface="Aptos" pitchFamily="34" charset="0"/>
                <a:ea typeface="Aptos" pitchFamily="34" charset="-122"/>
                <a:cs typeface="Aptos" pitchFamily="34" charset="-120"/>
              </a:rPr>
              <a:t>Claude Code</a:t>
            </a:r>
            <a:endParaRPr lang="en-US" sz="900" dirty="0"/>
          </a:p>
          <a:p>
            <a:pPr marL="0" indent="0">
              <a:buNone/>
            </a:pPr>
            <a:r>
              <a:rPr lang="en-US" sz="900" b="1" dirty="0">
                <a:solidFill>
                  <a:srgbClr val="F8FAFC"/>
                </a:solidFill>
                <a:latin typeface="Aptos" pitchFamily="34" charset="0"/>
                <a:ea typeface="Aptos" pitchFamily="34" charset="-122"/>
                <a:cs typeface="Aptos" pitchFamily="34" charset="-120"/>
              </a:rPr>
              <a:t>OpenHands / agents</a:t>
            </a:r>
            <a:endParaRPr lang="en-US" sz="900" dirty="0"/>
          </a:p>
        </p:txBody>
      </p:sp>
      <p:sp>
        <p:nvSpPr>
          <p:cNvPr id="24" name="Text 19"/>
          <p:cNvSpPr/>
          <p:nvPr/>
        </p:nvSpPr>
        <p:spPr>
          <a:xfrm>
            <a:off x="6473952" y="2834640"/>
            <a:ext cx="1920240" cy="566928"/>
          </a:xfrm>
          <a:prstGeom prst="rect">
            <a:avLst/>
          </a:prstGeom>
          <a:noFill/>
          <a:ln/>
        </p:spPr>
        <p:txBody>
          <a:bodyPr wrap="square" lIns="0" tIns="0" rIns="0" bIns="0" rtlCol="0" anchor="ctr">
            <a:normAutofit/>
          </a:bodyPr>
          <a:lstStyle/>
          <a:p>
            <a:pPr marL="0" indent="0">
              <a:buNone/>
            </a:pPr>
            <a:r>
              <a:rPr lang="en-US" sz="770" dirty="0">
                <a:solidFill>
                  <a:srgbClr val="A7B3C6"/>
                </a:solidFill>
                <a:latin typeface="Aptos" pitchFamily="34" charset="0"/>
                <a:ea typeface="Aptos" pitchFamily="34" charset="-122"/>
                <a:cs typeface="Aptos" pitchFamily="34" charset="-120"/>
              </a:rPr>
              <a:t>Best for multi-file changes, running tests, refactoring, and repo-wide tasks.</a:t>
            </a:r>
            <a:endParaRPr lang="en-US" sz="770" dirty="0"/>
          </a:p>
        </p:txBody>
      </p:sp>
      <p:sp>
        <p:nvSpPr>
          <p:cNvPr id="25" name="Text 20"/>
          <p:cNvSpPr/>
          <p:nvPr/>
        </p:nvSpPr>
        <p:spPr>
          <a:xfrm>
            <a:off x="822960" y="4160520"/>
            <a:ext cx="7498080" cy="219456"/>
          </a:xfrm>
          <a:prstGeom prst="rect">
            <a:avLst/>
          </a:prstGeom>
          <a:noFill/>
          <a:ln/>
        </p:spPr>
        <p:txBody>
          <a:bodyPr wrap="square" lIns="0" tIns="0" rIns="0" bIns="0" rtlCol="0" anchor="ctr"/>
          <a:lstStyle/>
          <a:p>
            <a:pPr marL="0" indent="0" algn="ctr">
              <a:buNone/>
            </a:pPr>
            <a:r>
              <a:rPr lang="en-US" sz="920" b="1" dirty="0">
                <a:solidFill>
                  <a:srgbClr val="F8FAFC"/>
                </a:solidFill>
                <a:latin typeface="Aptos" pitchFamily="34" charset="0"/>
                <a:ea typeface="Aptos" pitchFamily="34" charset="-122"/>
                <a:cs typeface="Aptos" pitchFamily="34" charset="-120"/>
              </a:rPr>
              <a:t>Practical advice: start in chat, then graduate to a repo-aware tool when the project has files, tests, and repeatable commands.</a:t>
            </a:r>
            <a:endParaRPr lang="en-US" sz="920" dirty="0"/>
          </a:p>
        </p:txBody>
      </p:sp>
      <p:sp>
        <p:nvSpPr>
          <p:cNvPr id="26" name="Text 21"/>
          <p:cNvSpPr/>
          <p:nvPr/>
        </p:nvSpPr>
        <p:spPr>
          <a:xfrm>
            <a:off x="1143000" y="4462272"/>
            <a:ext cx="6858000" cy="137160"/>
          </a:xfrm>
          <a:prstGeom prst="rect">
            <a:avLst/>
          </a:prstGeom>
          <a:noFill/>
          <a:ln/>
        </p:spPr>
        <p:txBody>
          <a:bodyPr wrap="square" lIns="0" tIns="0" rIns="0" bIns="0" rtlCol="0" anchor="ctr"/>
          <a:lstStyle/>
          <a:p>
            <a:pPr marL="0" indent="0" algn="ctr">
              <a:buNone/>
            </a:pPr>
            <a:r>
              <a:rPr lang="en-US" sz="650" dirty="0">
                <a:solidFill>
                  <a:srgbClr val="A7B3C6"/>
                </a:solidFill>
                <a:latin typeface="Aptos" pitchFamily="34" charset="0"/>
                <a:ea typeface="Aptos" pitchFamily="34" charset="-122"/>
                <a:cs typeface="Aptos" pitchFamily="34" charset="-120"/>
              </a:rPr>
              <a:t>Tool names and pricing change. The durable pattern is: context → bounded task → tests → review.</a:t>
            </a:r>
            <a:endParaRPr lang="en-US" sz="6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70D1A"/>
        </a:solidFill>
        <a:effectLst/>
      </p:bgPr>
    </p:bg>
    <p:spTree>
      <p:nvGrpSpPr>
        <p:cNvPr id="1" name=""/>
        <p:cNvGrpSpPr/>
        <p:nvPr/>
      </p:nvGrpSpPr>
      <p:grpSpPr>
        <a:xfrm>
          <a:off x="0" y="0"/>
          <a:ext cx="0" cy="0"/>
          <a:chOff x="0" y="0"/>
          <a:chExt cx="0" cy="0"/>
        </a:xfrm>
      </p:grpSpPr>
      <p:sp>
        <p:nvSpPr>
          <p:cNvPr id="2" name="Text 0"/>
          <p:cNvSpPr/>
          <p:nvPr/>
        </p:nvSpPr>
        <p:spPr>
          <a:xfrm>
            <a:off x="411480" y="274320"/>
            <a:ext cx="3474720" cy="146304"/>
          </a:xfrm>
          <a:prstGeom prst="rect">
            <a:avLst/>
          </a:prstGeom>
          <a:noFill/>
          <a:ln/>
        </p:spPr>
        <p:txBody>
          <a:bodyPr wrap="square" lIns="0" tIns="0" rIns="0" bIns="0" rtlCol="0" anchor="ctr"/>
          <a:lstStyle/>
          <a:p>
            <a:pPr marL="0" indent="0">
              <a:buNone/>
            </a:pPr>
            <a:r>
              <a:rPr lang="en-US" sz="650" b="1" dirty="0">
                <a:solidFill>
                  <a:srgbClr val="12BFE2"/>
                </a:solidFill>
                <a:latin typeface="Aptos" pitchFamily="34" charset="0"/>
                <a:ea typeface="Aptos" pitchFamily="34" charset="-122"/>
                <a:cs typeface="Aptos" pitchFamily="34" charset="-120"/>
              </a:rPr>
              <a:t>CASE STUDY</a:t>
            </a:r>
            <a:endParaRPr lang="en-US" sz="650" dirty="0"/>
          </a:p>
        </p:txBody>
      </p:sp>
      <p:sp>
        <p:nvSpPr>
          <p:cNvPr id="3" name="Text 1"/>
          <p:cNvSpPr/>
          <p:nvPr/>
        </p:nvSpPr>
        <p:spPr>
          <a:xfrm>
            <a:off x="411480" y="612648"/>
            <a:ext cx="5669280" cy="384048"/>
          </a:xfrm>
          <a:prstGeom prst="rect">
            <a:avLst/>
          </a:prstGeom>
          <a:noFill/>
          <a:ln/>
        </p:spPr>
        <p:txBody>
          <a:bodyPr wrap="square" lIns="0" tIns="0" rIns="0" bIns="0" rtlCol="0" anchor="ctr">
            <a:normAutofit/>
          </a:bodyPr>
          <a:lstStyle/>
          <a:p>
            <a:pPr marL="0" indent="0">
              <a:buNone/>
            </a:pPr>
            <a:r>
              <a:rPr lang="en-US" sz="2100" b="1" dirty="0">
                <a:solidFill>
                  <a:srgbClr val="F8FAFC"/>
                </a:solidFill>
                <a:latin typeface="Aptos Display" pitchFamily="34" charset="0"/>
                <a:ea typeface="Aptos Display" pitchFamily="34" charset="-122"/>
                <a:cs typeface="Aptos Display" pitchFamily="34" charset="-120"/>
              </a:rPr>
              <a:t>Southern California EBUS pre-course site</a:t>
            </a:r>
            <a:endParaRPr lang="en-US" sz="2100" dirty="0"/>
          </a:p>
        </p:txBody>
      </p:sp>
      <p:sp>
        <p:nvSpPr>
          <p:cNvPr id="4" name="Text 2"/>
          <p:cNvSpPr/>
          <p:nvPr/>
        </p:nvSpPr>
        <p:spPr>
          <a:xfrm>
            <a:off x="411480" y="4828032"/>
            <a:ext cx="4754880" cy="109728"/>
          </a:xfrm>
          <a:prstGeom prst="rect">
            <a:avLst/>
          </a:prstGeom>
          <a:noFill/>
          <a:ln/>
        </p:spPr>
        <p:txBody>
          <a:bodyPr wrap="square" lIns="0" tIns="0" rIns="0" bIns="0" rtlCol="0" anchor="ctr"/>
          <a:lstStyle/>
          <a:p>
            <a:pPr marL="0" indent="0">
              <a:buNone/>
            </a:pPr>
            <a:r>
              <a:rPr lang="en-US" sz="550" dirty="0">
                <a:solidFill>
                  <a:srgbClr val="5F6B7A"/>
                </a:solidFill>
                <a:latin typeface="Aptos" pitchFamily="34" charset="0"/>
                <a:ea typeface="Aptos" pitchFamily="34" charset="-122"/>
                <a:cs typeface="Aptos" pitchFamily="34" charset="-120"/>
              </a:rPr>
              <a:t>AABIP Webinar 2026  |  AI in Interventional Pulmonology</a:t>
            </a:r>
            <a:endParaRPr lang="en-US" sz="550" dirty="0"/>
          </a:p>
        </p:txBody>
      </p:sp>
      <p:sp>
        <p:nvSpPr>
          <p:cNvPr id="5" name="Text 3"/>
          <p:cNvSpPr/>
          <p:nvPr/>
        </p:nvSpPr>
        <p:spPr>
          <a:xfrm>
            <a:off x="8366760" y="4828032"/>
            <a:ext cx="365760" cy="109728"/>
          </a:xfrm>
          <a:prstGeom prst="rect">
            <a:avLst/>
          </a:prstGeom>
          <a:noFill/>
          <a:ln/>
        </p:spPr>
        <p:txBody>
          <a:bodyPr wrap="square" lIns="0" tIns="0" rIns="0" bIns="0" rtlCol="0" anchor="ctr"/>
          <a:lstStyle/>
          <a:p>
            <a:pPr marL="0" indent="0" algn="r">
              <a:buNone/>
            </a:pPr>
            <a:r>
              <a:rPr lang="en-US" sz="550" dirty="0">
                <a:solidFill>
                  <a:srgbClr val="5F6B7A"/>
                </a:solidFill>
                <a:latin typeface="Aptos" pitchFamily="34" charset="0"/>
                <a:ea typeface="Aptos" pitchFamily="34" charset="-122"/>
                <a:cs typeface="Aptos" pitchFamily="34" charset="-120"/>
              </a:rPr>
              <a:t>6 / 22</a:t>
            </a:r>
            <a:endParaRPr lang="en-US" sz="550" dirty="0"/>
          </a:p>
        </p:txBody>
      </p:sp>
      <p:sp>
        <p:nvSpPr>
          <p:cNvPr id="6" name="Shape 4"/>
          <p:cNvSpPr/>
          <p:nvPr/>
        </p:nvSpPr>
        <p:spPr>
          <a:xfrm>
            <a:off x="411480" y="1060704"/>
            <a:ext cx="1143000" cy="0"/>
          </a:xfrm>
          <a:prstGeom prst="line">
            <a:avLst/>
          </a:prstGeom>
          <a:noFill/>
          <a:ln w="15240">
            <a:solidFill>
              <a:srgbClr val="12BFE2"/>
            </a:solidFill>
            <a:prstDash val="solid"/>
          </a:ln>
        </p:spPr>
        <p:txBody>
          <a:bodyPr/>
          <a:lstStyle/>
          <a:p>
            <a:endParaRPr lang="en-US"/>
          </a:p>
        </p:txBody>
      </p:sp>
      <p:sp>
        <p:nvSpPr>
          <p:cNvPr id="7" name="Shape 5"/>
          <p:cNvSpPr/>
          <p:nvPr/>
        </p:nvSpPr>
        <p:spPr>
          <a:xfrm>
            <a:off x="6492240" y="941832"/>
            <a:ext cx="1645920" cy="3520440"/>
          </a:xfrm>
          <a:prstGeom prst="roundRect">
            <a:avLst/>
          </a:prstGeom>
          <a:solidFill>
            <a:srgbClr val="111827"/>
          </a:solidFill>
          <a:ln w="12700">
            <a:solidFill>
              <a:srgbClr val="1F2937"/>
            </a:solidFill>
            <a:prstDash val="solid"/>
          </a:ln>
        </p:spPr>
        <p:txBody>
          <a:bodyPr/>
          <a:lstStyle/>
          <a:p>
            <a:endParaRPr lang="en-US"/>
          </a:p>
        </p:txBody>
      </p:sp>
      <p:pic>
        <p:nvPicPr>
          <p:cNvPr id="8" name="Image 0" descr="/mnt/data/ppt_extract/ppt/media/image18.png"/>
          <p:cNvPicPr>
            <a:picLocks noChangeAspect="1"/>
          </p:cNvPicPr>
          <p:nvPr/>
        </p:nvPicPr>
        <p:blipFill>
          <a:blip r:embed="rId3"/>
          <a:stretch>
            <a:fillRect/>
          </a:stretch>
        </p:blipFill>
        <p:spPr>
          <a:xfrm>
            <a:off x="6601968" y="1441779"/>
            <a:ext cx="1426464" cy="2529690"/>
          </a:xfrm>
          <a:prstGeom prst="rect">
            <a:avLst/>
          </a:prstGeom>
        </p:spPr>
      </p:pic>
      <p:sp>
        <p:nvSpPr>
          <p:cNvPr id="9" name="Text 6"/>
          <p:cNvSpPr/>
          <p:nvPr/>
        </p:nvSpPr>
        <p:spPr>
          <a:xfrm>
            <a:off x="594360" y="1234440"/>
            <a:ext cx="1097280" cy="128016"/>
          </a:xfrm>
          <a:prstGeom prst="rect">
            <a:avLst/>
          </a:prstGeom>
          <a:noFill/>
          <a:ln/>
        </p:spPr>
        <p:txBody>
          <a:bodyPr wrap="square" lIns="0" tIns="0" rIns="0" bIns="0" rtlCol="0" anchor="ctr"/>
          <a:lstStyle/>
          <a:p>
            <a:pPr marL="0" indent="0">
              <a:buNone/>
            </a:pPr>
            <a:r>
              <a:rPr lang="en-US" sz="560" b="1" dirty="0">
                <a:solidFill>
                  <a:srgbClr val="F87171"/>
                </a:solidFill>
                <a:latin typeface="Aptos" pitchFamily="34" charset="0"/>
                <a:ea typeface="Aptos" pitchFamily="34" charset="-122"/>
                <a:cs typeface="Aptos" pitchFamily="34" charset="-120"/>
              </a:rPr>
              <a:t>THE PROBLEM</a:t>
            </a:r>
            <a:endParaRPr lang="en-US" sz="560" dirty="0"/>
          </a:p>
        </p:txBody>
      </p:sp>
      <p:sp>
        <p:nvSpPr>
          <p:cNvPr id="10" name="Text 7"/>
          <p:cNvSpPr/>
          <p:nvPr/>
        </p:nvSpPr>
        <p:spPr>
          <a:xfrm>
            <a:off x="594360" y="1444752"/>
            <a:ext cx="5166360" cy="347472"/>
          </a:xfrm>
          <a:prstGeom prst="rect">
            <a:avLst/>
          </a:prstGeom>
          <a:noFill/>
          <a:ln/>
        </p:spPr>
        <p:txBody>
          <a:bodyPr wrap="square" lIns="0" tIns="0" rIns="0" bIns="0" rtlCol="0" anchor="ctr">
            <a:normAutofit/>
          </a:bodyPr>
          <a:lstStyle/>
          <a:p>
            <a:pPr marL="0" indent="0">
              <a:buNone/>
            </a:pPr>
            <a:r>
              <a:rPr lang="en-US" sz="1600" b="1" dirty="0">
                <a:solidFill>
                  <a:srgbClr val="F8FAFC"/>
                </a:solidFill>
                <a:latin typeface="Aptos Display" pitchFamily="34" charset="0"/>
                <a:ea typeface="Aptos Display" pitchFamily="34" charset="-122"/>
                <a:cs typeface="Aptos Display" pitchFamily="34" charset="-120"/>
              </a:rPr>
              <a:t>First-year fellows needed structured prep before the live hands-on EBUS course.</a:t>
            </a:r>
            <a:endParaRPr lang="en-US" sz="1600" dirty="0"/>
          </a:p>
        </p:txBody>
      </p:sp>
      <p:sp>
        <p:nvSpPr>
          <p:cNvPr id="11" name="Text 8"/>
          <p:cNvSpPr/>
          <p:nvPr/>
        </p:nvSpPr>
        <p:spPr>
          <a:xfrm>
            <a:off x="594360" y="1938528"/>
            <a:ext cx="5074920" cy="310896"/>
          </a:xfrm>
          <a:prstGeom prst="rect">
            <a:avLst/>
          </a:prstGeom>
          <a:noFill/>
          <a:ln/>
        </p:spPr>
        <p:txBody>
          <a:bodyPr wrap="square" lIns="0" tIns="0" rIns="0" bIns="0" rtlCol="0" anchor="ctr">
            <a:normAutofit/>
          </a:bodyPr>
          <a:lstStyle/>
          <a:p>
            <a:pPr marL="0" indent="0">
              <a:buNone/>
            </a:pPr>
            <a:r>
              <a:rPr lang="en-US" sz="870" dirty="0">
                <a:solidFill>
                  <a:srgbClr val="A7B3C6"/>
                </a:solidFill>
                <a:latin typeface="Aptos" pitchFamily="34" charset="0"/>
                <a:ea typeface="Aptos" pitchFamily="34" charset="-122"/>
                <a:cs typeface="Aptos" pitchFamily="34" charset="-120"/>
              </a:rPr>
              <a:t>Existing prep was fragmented: slides, videos, station knowledge, faculty coaching, and mental maps spread across multiple places.</a:t>
            </a:r>
            <a:endParaRPr lang="en-US" sz="870" dirty="0"/>
          </a:p>
        </p:txBody>
      </p:sp>
      <p:sp>
        <p:nvSpPr>
          <p:cNvPr id="12" name="Text 9"/>
          <p:cNvSpPr/>
          <p:nvPr/>
        </p:nvSpPr>
        <p:spPr>
          <a:xfrm>
            <a:off x="594360" y="2615184"/>
            <a:ext cx="1097280" cy="128016"/>
          </a:xfrm>
          <a:prstGeom prst="rect">
            <a:avLst/>
          </a:prstGeom>
          <a:noFill/>
          <a:ln/>
        </p:spPr>
        <p:txBody>
          <a:bodyPr wrap="square" lIns="0" tIns="0" rIns="0" bIns="0" rtlCol="0" anchor="ctr"/>
          <a:lstStyle/>
          <a:p>
            <a:pPr marL="0" indent="0">
              <a:buNone/>
            </a:pPr>
            <a:r>
              <a:rPr lang="en-US" sz="560" b="1" dirty="0">
                <a:solidFill>
                  <a:srgbClr val="12BFE2"/>
                </a:solidFill>
                <a:latin typeface="Aptos" pitchFamily="34" charset="0"/>
                <a:ea typeface="Aptos" pitchFamily="34" charset="-122"/>
                <a:cs typeface="Aptos" pitchFamily="34" charset="-120"/>
              </a:rPr>
              <a:t>THE GOAL</a:t>
            </a:r>
            <a:endParaRPr lang="en-US" sz="560" dirty="0"/>
          </a:p>
        </p:txBody>
      </p:sp>
      <p:sp>
        <p:nvSpPr>
          <p:cNvPr id="13" name="Text 10"/>
          <p:cNvSpPr/>
          <p:nvPr/>
        </p:nvSpPr>
        <p:spPr>
          <a:xfrm>
            <a:off x="594360" y="2834640"/>
            <a:ext cx="2834640" cy="237744"/>
          </a:xfrm>
          <a:prstGeom prst="rect">
            <a:avLst/>
          </a:prstGeom>
          <a:noFill/>
          <a:ln/>
        </p:spPr>
        <p:txBody>
          <a:bodyPr wrap="square" lIns="0" tIns="0" rIns="0" bIns="0" rtlCol="0" anchor="ctr"/>
          <a:lstStyle/>
          <a:p>
            <a:pPr marL="0" indent="0">
              <a:buNone/>
            </a:pPr>
            <a:r>
              <a:rPr lang="en-US" sz="1000" b="1" dirty="0">
                <a:solidFill>
                  <a:srgbClr val="F8FAFC"/>
                </a:solidFill>
                <a:latin typeface="Aptos" pitchFamily="34" charset="0"/>
                <a:ea typeface="Aptos" pitchFamily="34" charset="-122"/>
                <a:cs typeface="Aptos" pitchFamily="34" charset="-120"/>
              </a:rPr>
              <a:t>One web-based course workflow:</a:t>
            </a:r>
            <a:endParaRPr lang="en-US" sz="1000" dirty="0"/>
          </a:p>
        </p:txBody>
      </p:sp>
      <p:sp>
        <p:nvSpPr>
          <p:cNvPr id="14" name="Text 11"/>
          <p:cNvSpPr/>
          <p:nvPr/>
        </p:nvSpPr>
        <p:spPr>
          <a:xfrm>
            <a:off x="594360" y="3218688"/>
            <a:ext cx="1060704" cy="274320"/>
          </a:xfrm>
          <a:prstGeom prst="rect">
            <a:avLst/>
          </a:prstGeom>
          <a:solidFill>
            <a:srgbClr val="102133"/>
          </a:solidFill>
          <a:ln>
            <a:solidFill>
              <a:srgbClr val="102133">
                <a:alpha val="0"/>
              </a:srgbClr>
            </a:solidFill>
          </a:ln>
        </p:spPr>
        <p:txBody>
          <a:bodyPr wrap="square" lIns="1016" tIns="1016" rIns="1016" bIns="1016" rtlCol="0" anchor="ctr">
            <a:normAutofit/>
          </a:bodyPr>
          <a:lstStyle/>
          <a:p>
            <a:pPr marL="0" indent="0" algn="ctr">
              <a:buNone/>
            </a:pPr>
            <a:r>
              <a:rPr lang="en-US" sz="720" dirty="0">
                <a:solidFill>
                  <a:srgbClr val="F8FAFC"/>
                </a:solidFill>
                <a:latin typeface="Aptos" pitchFamily="34" charset="0"/>
                <a:ea typeface="Aptos" pitchFamily="34" charset="-122"/>
                <a:cs typeface="Aptos" pitchFamily="34" charset="-120"/>
              </a:rPr>
              <a:t>Pretest</a:t>
            </a:r>
            <a:endParaRPr lang="en-US" sz="720" dirty="0"/>
          </a:p>
        </p:txBody>
      </p:sp>
      <p:sp>
        <p:nvSpPr>
          <p:cNvPr id="15" name="Text 12"/>
          <p:cNvSpPr/>
          <p:nvPr/>
        </p:nvSpPr>
        <p:spPr>
          <a:xfrm>
            <a:off x="1828800" y="3218688"/>
            <a:ext cx="1060704" cy="274320"/>
          </a:xfrm>
          <a:prstGeom prst="rect">
            <a:avLst/>
          </a:prstGeom>
          <a:solidFill>
            <a:srgbClr val="102133"/>
          </a:solidFill>
          <a:ln>
            <a:solidFill>
              <a:srgbClr val="102133">
                <a:alpha val="0"/>
              </a:srgbClr>
            </a:solidFill>
          </a:ln>
        </p:spPr>
        <p:txBody>
          <a:bodyPr wrap="square" lIns="1016" tIns="1016" rIns="1016" bIns="1016" rtlCol="0" anchor="ctr">
            <a:normAutofit/>
          </a:bodyPr>
          <a:lstStyle/>
          <a:p>
            <a:pPr marL="0" indent="0" algn="ctr">
              <a:buNone/>
            </a:pPr>
            <a:r>
              <a:rPr lang="en-US" sz="720" dirty="0">
                <a:solidFill>
                  <a:srgbClr val="F8FAFC"/>
                </a:solidFill>
                <a:latin typeface="Aptos" pitchFamily="34" charset="0"/>
                <a:ea typeface="Aptos" pitchFamily="34" charset="-122"/>
                <a:cs typeface="Aptos" pitchFamily="34" charset="-120"/>
              </a:rPr>
              <a:t>Lectures</a:t>
            </a:r>
            <a:endParaRPr lang="en-US" sz="720" dirty="0"/>
          </a:p>
        </p:txBody>
      </p:sp>
      <p:sp>
        <p:nvSpPr>
          <p:cNvPr id="16" name="Text 13"/>
          <p:cNvSpPr/>
          <p:nvPr/>
        </p:nvSpPr>
        <p:spPr>
          <a:xfrm>
            <a:off x="3063240" y="3218688"/>
            <a:ext cx="1060704" cy="274320"/>
          </a:xfrm>
          <a:prstGeom prst="rect">
            <a:avLst/>
          </a:prstGeom>
          <a:solidFill>
            <a:srgbClr val="102133"/>
          </a:solidFill>
          <a:ln>
            <a:solidFill>
              <a:srgbClr val="102133">
                <a:alpha val="0"/>
              </a:srgbClr>
            </a:solidFill>
          </a:ln>
        </p:spPr>
        <p:txBody>
          <a:bodyPr wrap="square" lIns="1016" tIns="1016" rIns="1016" bIns="1016" rtlCol="0" anchor="ctr">
            <a:normAutofit/>
          </a:bodyPr>
          <a:lstStyle/>
          <a:p>
            <a:pPr marL="0" indent="0" algn="ctr">
              <a:buNone/>
            </a:pPr>
            <a:r>
              <a:rPr lang="en-US" sz="720" dirty="0">
                <a:solidFill>
                  <a:srgbClr val="F8FAFC"/>
                </a:solidFill>
                <a:latin typeface="Aptos" pitchFamily="34" charset="0"/>
                <a:ea typeface="Aptos" pitchFamily="34" charset="-122"/>
                <a:cs typeface="Aptos" pitchFamily="34" charset="-120"/>
              </a:rPr>
              <a:t>Knobology</a:t>
            </a:r>
            <a:endParaRPr lang="en-US" sz="720" dirty="0"/>
          </a:p>
        </p:txBody>
      </p:sp>
      <p:sp>
        <p:nvSpPr>
          <p:cNvPr id="17" name="Text 14"/>
          <p:cNvSpPr/>
          <p:nvPr/>
        </p:nvSpPr>
        <p:spPr>
          <a:xfrm>
            <a:off x="4297680" y="3218688"/>
            <a:ext cx="1060704" cy="274320"/>
          </a:xfrm>
          <a:prstGeom prst="rect">
            <a:avLst/>
          </a:prstGeom>
          <a:solidFill>
            <a:srgbClr val="102133"/>
          </a:solidFill>
          <a:ln>
            <a:solidFill>
              <a:srgbClr val="102133">
                <a:alpha val="0"/>
              </a:srgbClr>
            </a:solidFill>
          </a:ln>
        </p:spPr>
        <p:txBody>
          <a:bodyPr wrap="square" lIns="1016" tIns="1016" rIns="1016" bIns="1016" rtlCol="0" anchor="ctr">
            <a:normAutofit/>
          </a:bodyPr>
          <a:lstStyle/>
          <a:p>
            <a:pPr marL="0" indent="0" algn="ctr">
              <a:buNone/>
            </a:pPr>
            <a:r>
              <a:rPr lang="en-US" sz="720" dirty="0">
                <a:solidFill>
                  <a:srgbClr val="F8FAFC"/>
                </a:solidFill>
                <a:latin typeface="Aptos" pitchFamily="34" charset="0"/>
                <a:ea typeface="Aptos" pitchFamily="34" charset="-122"/>
                <a:cs typeface="Aptos" pitchFamily="34" charset="-120"/>
              </a:rPr>
              <a:t>Stations</a:t>
            </a:r>
            <a:endParaRPr lang="en-US" sz="720" dirty="0"/>
          </a:p>
        </p:txBody>
      </p:sp>
      <p:sp>
        <p:nvSpPr>
          <p:cNvPr id="18" name="Text 15"/>
          <p:cNvSpPr/>
          <p:nvPr/>
        </p:nvSpPr>
        <p:spPr>
          <a:xfrm>
            <a:off x="594360" y="3657600"/>
            <a:ext cx="1060704" cy="274320"/>
          </a:xfrm>
          <a:prstGeom prst="rect">
            <a:avLst/>
          </a:prstGeom>
          <a:solidFill>
            <a:srgbClr val="0E2A3A"/>
          </a:solidFill>
          <a:ln>
            <a:solidFill>
              <a:srgbClr val="0E2A3A">
                <a:alpha val="0"/>
              </a:srgbClr>
            </a:solidFill>
          </a:ln>
        </p:spPr>
        <p:txBody>
          <a:bodyPr wrap="square" lIns="1016" tIns="1016" rIns="1016" bIns="1016" rtlCol="0" anchor="ctr">
            <a:normAutofit/>
          </a:bodyPr>
          <a:lstStyle/>
          <a:p>
            <a:pPr marL="0" indent="0" algn="ctr">
              <a:buNone/>
            </a:pPr>
            <a:r>
              <a:rPr lang="en-US" sz="720" dirty="0">
                <a:solidFill>
                  <a:srgbClr val="12BFE2"/>
                </a:solidFill>
                <a:latin typeface="Aptos" pitchFamily="34" charset="0"/>
                <a:ea typeface="Aptos" pitchFamily="34" charset="-122"/>
                <a:cs typeface="Aptos" pitchFamily="34" charset="-120"/>
              </a:rPr>
              <a:t>3D anatomy</a:t>
            </a:r>
            <a:endParaRPr lang="en-US" sz="720" dirty="0"/>
          </a:p>
        </p:txBody>
      </p:sp>
      <p:sp>
        <p:nvSpPr>
          <p:cNvPr id="19" name="Text 16"/>
          <p:cNvSpPr/>
          <p:nvPr/>
        </p:nvSpPr>
        <p:spPr>
          <a:xfrm>
            <a:off x="1828800" y="3657600"/>
            <a:ext cx="1060704" cy="274320"/>
          </a:xfrm>
          <a:prstGeom prst="rect">
            <a:avLst/>
          </a:prstGeom>
          <a:solidFill>
            <a:srgbClr val="0E2A3A"/>
          </a:solidFill>
          <a:ln>
            <a:solidFill>
              <a:srgbClr val="0E2A3A">
                <a:alpha val="0"/>
              </a:srgbClr>
            </a:solidFill>
          </a:ln>
        </p:spPr>
        <p:txBody>
          <a:bodyPr wrap="square" lIns="1016" tIns="1016" rIns="1016" bIns="1016" rtlCol="0" anchor="ctr">
            <a:normAutofit/>
          </a:bodyPr>
          <a:lstStyle/>
          <a:p>
            <a:pPr marL="0" indent="0" algn="ctr">
              <a:buNone/>
            </a:pPr>
            <a:r>
              <a:rPr lang="en-US" sz="720" dirty="0">
                <a:solidFill>
                  <a:srgbClr val="12BFE2"/>
                </a:solidFill>
                <a:latin typeface="Aptos" pitchFamily="34" charset="0"/>
                <a:ea typeface="Aptos" pitchFamily="34" charset="-122"/>
                <a:cs typeface="Aptos" pitchFamily="34" charset="-120"/>
              </a:rPr>
              <a:t>EBUS simulator</a:t>
            </a:r>
            <a:endParaRPr lang="en-US" sz="720" dirty="0"/>
          </a:p>
        </p:txBody>
      </p:sp>
      <p:sp>
        <p:nvSpPr>
          <p:cNvPr id="20" name="Text 17"/>
          <p:cNvSpPr/>
          <p:nvPr/>
        </p:nvSpPr>
        <p:spPr>
          <a:xfrm>
            <a:off x="3063240" y="3657600"/>
            <a:ext cx="1060704" cy="274320"/>
          </a:xfrm>
          <a:prstGeom prst="rect">
            <a:avLst/>
          </a:prstGeom>
          <a:solidFill>
            <a:srgbClr val="0E2A3A"/>
          </a:solidFill>
          <a:ln>
            <a:solidFill>
              <a:srgbClr val="0E2A3A">
                <a:alpha val="0"/>
              </a:srgbClr>
            </a:solidFill>
          </a:ln>
        </p:spPr>
        <p:txBody>
          <a:bodyPr wrap="square" lIns="1016" tIns="1016" rIns="1016" bIns="1016" rtlCol="0" anchor="ctr">
            <a:normAutofit/>
          </a:bodyPr>
          <a:lstStyle/>
          <a:p>
            <a:pPr marL="0" indent="0" algn="ctr">
              <a:buNone/>
            </a:pPr>
            <a:r>
              <a:rPr lang="en-US" sz="720" dirty="0">
                <a:solidFill>
                  <a:srgbClr val="12BFE2"/>
                </a:solidFill>
                <a:latin typeface="Aptos" pitchFamily="34" charset="0"/>
                <a:ea typeface="Aptos" pitchFamily="34" charset="-122"/>
                <a:cs typeface="Aptos" pitchFamily="34" charset="-120"/>
              </a:rPr>
              <a:t>Quiz</a:t>
            </a:r>
            <a:endParaRPr lang="en-US" sz="720" dirty="0"/>
          </a:p>
        </p:txBody>
      </p:sp>
      <p:sp>
        <p:nvSpPr>
          <p:cNvPr id="21" name="Text 18"/>
          <p:cNvSpPr/>
          <p:nvPr/>
        </p:nvSpPr>
        <p:spPr>
          <a:xfrm>
            <a:off x="4297680" y="3657600"/>
            <a:ext cx="1060704" cy="274320"/>
          </a:xfrm>
          <a:prstGeom prst="rect">
            <a:avLst/>
          </a:prstGeom>
          <a:solidFill>
            <a:srgbClr val="0E2A3A"/>
          </a:solidFill>
          <a:ln>
            <a:solidFill>
              <a:srgbClr val="0E2A3A">
                <a:alpha val="0"/>
              </a:srgbClr>
            </a:solidFill>
          </a:ln>
        </p:spPr>
        <p:txBody>
          <a:bodyPr wrap="square" lIns="1016" tIns="1016" rIns="1016" bIns="1016" rtlCol="0" anchor="ctr">
            <a:normAutofit/>
          </a:bodyPr>
          <a:lstStyle/>
          <a:p>
            <a:pPr marL="0" indent="0" algn="ctr">
              <a:buNone/>
            </a:pPr>
            <a:r>
              <a:rPr lang="en-US" sz="720" dirty="0">
                <a:solidFill>
                  <a:srgbClr val="12BFE2"/>
                </a:solidFill>
                <a:latin typeface="Aptos" pitchFamily="34" charset="0"/>
                <a:ea typeface="Aptos" pitchFamily="34" charset="-122"/>
                <a:cs typeface="Aptos" pitchFamily="34" charset="-120"/>
              </a:rPr>
              <a:t>Progress</a:t>
            </a:r>
            <a:endParaRPr lang="en-US" sz="720" dirty="0"/>
          </a:p>
        </p:txBody>
      </p:sp>
      <p:sp>
        <p:nvSpPr>
          <p:cNvPr id="22" name="Text 19"/>
          <p:cNvSpPr/>
          <p:nvPr/>
        </p:nvSpPr>
        <p:spPr>
          <a:xfrm>
            <a:off x="594360" y="4279392"/>
            <a:ext cx="5303520" cy="146304"/>
          </a:xfrm>
          <a:prstGeom prst="rect">
            <a:avLst/>
          </a:prstGeom>
          <a:noFill/>
          <a:ln/>
        </p:spPr>
        <p:txBody>
          <a:bodyPr wrap="square" lIns="0" tIns="0" rIns="0" bIns="0" rtlCol="0" anchor="ctr"/>
          <a:lstStyle/>
          <a:p>
            <a:pPr marL="0" indent="0">
              <a:buNone/>
            </a:pPr>
            <a:r>
              <a:rPr lang="en-US" sz="700" b="1" dirty="0">
                <a:solidFill>
                  <a:srgbClr val="F59E0B"/>
                </a:solidFill>
                <a:latin typeface="Aptos" pitchFamily="34" charset="0"/>
                <a:ea typeface="Aptos" pitchFamily="34" charset="-122"/>
                <a:cs typeface="Aptos" pitchFamily="34" charset="-120"/>
              </a:rPr>
              <a:t>Case-study teaching point: a custom app built around a real educational workflow, not a generic app idea.</a:t>
            </a:r>
            <a:endParaRPr lang="en-US" sz="7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70D1A"/>
        </a:solidFill>
        <a:effectLst/>
      </p:bgPr>
    </p:bg>
    <p:spTree>
      <p:nvGrpSpPr>
        <p:cNvPr id="1" name=""/>
        <p:cNvGrpSpPr/>
        <p:nvPr/>
      </p:nvGrpSpPr>
      <p:grpSpPr>
        <a:xfrm>
          <a:off x="0" y="0"/>
          <a:ext cx="0" cy="0"/>
          <a:chOff x="0" y="0"/>
          <a:chExt cx="0" cy="0"/>
        </a:xfrm>
      </p:grpSpPr>
      <p:sp>
        <p:nvSpPr>
          <p:cNvPr id="2" name="Text 0"/>
          <p:cNvSpPr/>
          <p:nvPr/>
        </p:nvSpPr>
        <p:spPr>
          <a:xfrm>
            <a:off x="411480" y="274320"/>
            <a:ext cx="3474720" cy="146304"/>
          </a:xfrm>
          <a:prstGeom prst="rect">
            <a:avLst/>
          </a:prstGeom>
          <a:noFill/>
          <a:ln/>
        </p:spPr>
        <p:txBody>
          <a:bodyPr wrap="square" lIns="0" tIns="0" rIns="0" bIns="0" rtlCol="0" anchor="ctr"/>
          <a:lstStyle/>
          <a:p>
            <a:pPr marL="0" indent="0">
              <a:buNone/>
            </a:pPr>
            <a:r>
              <a:rPr lang="en-US" sz="650" b="1" dirty="0">
                <a:solidFill>
                  <a:srgbClr val="12BFE2"/>
                </a:solidFill>
                <a:latin typeface="Aptos" pitchFamily="34" charset="0"/>
                <a:ea typeface="Aptos" pitchFamily="34" charset="-122"/>
                <a:cs typeface="Aptos" pitchFamily="34" charset="-120"/>
              </a:rPr>
              <a:t>CASE STUDY</a:t>
            </a:r>
            <a:endParaRPr lang="en-US" sz="650" dirty="0"/>
          </a:p>
        </p:txBody>
      </p:sp>
      <p:sp>
        <p:nvSpPr>
          <p:cNvPr id="3" name="Text 1"/>
          <p:cNvSpPr/>
          <p:nvPr/>
        </p:nvSpPr>
        <p:spPr>
          <a:xfrm>
            <a:off x="411480" y="612648"/>
            <a:ext cx="5669280" cy="384048"/>
          </a:xfrm>
          <a:prstGeom prst="rect">
            <a:avLst/>
          </a:prstGeom>
          <a:noFill/>
          <a:ln/>
        </p:spPr>
        <p:txBody>
          <a:bodyPr wrap="square" lIns="0" tIns="0" rIns="0" bIns="0" rtlCol="0" anchor="ctr">
            <a:normAutofit/>
          </a:bodyPr>
          <a:lstStyle/>
          <a:p>
            <a:pPr marL="0" indent="0">
              <a:buNone/>
            </a:pPr>
            <a:r>
              <a:rPr lang="en-US" sz="2100" b="1" dirty="0">
                <a:solidFill>
                  <a:srgbClr val="F8FAFC"/>
                </a:solidFill>
                <a:latin typeface="Aptos Display" pitchFamily="34" charset="0"/>
                <a:ea typeface="Aptos Display" pitchFamily="34" charset="-122"/>
                <a:cs typeface="Aptos Display" pitchFamily="34" charset="-120"/>
              </a:rPr>
              <a:t>A real learning tool, not a slide viewer</a:t>
            </a:r>
            <a:endParaRPr lang="en-US" sz="2100" dirty="0"/>
          </a:p>
        </p:txBody>
      </p:sp>
      <p:sp>
        <p:nvSpPr>
          <p:cNvPr id="4" name="Text 2"/>
          <p:cNvSpPr/>
          <p:nvPr/>
        </p:nvSpPr>
        <p:spPr>
          <a:xfrm>
            <a:off x="411480" y="4828032"/>
            <a:ext cx="4754880" cy="109728"/>
          </a:xfrm>
          <a:prstGeom prst="rect">
            <a:avLst/>
          </a:prstGeom>
          <a:noFill/>
          <a:ln/>
        </p:spPr>
        <p:txBody>
          <a:bodyPr wrap="square" lIns="0" tIns="0" rIns="0" bIns="0" rtlCol="0" anchor="ctr"/>
          <a:lstStyle/>
          <a:p>
            <a:pPr marL="0" indent="0">
              <a:buNone/>
            </a:pPr>
            <a:r>
              <a:rPr lang="en-US" sz="550" dirty="0">
                <a:solidFill>
                  <a:srgbClr val="5F6B7A"/>
                </a:solidFill>
                <a:latin typeface="Aptos" pitchFamily="34" charset="0"/>
                <a:ea typeface="Aptos" pitchFamily="34" charset="-122"/>
                <a:cs typeface="Aptos" pitchFamily="34" charset="-120"/>
              </a:rPr>
              <a:t>AABIP Webinar 2026  |  AI in Interventional Pulmonology</a:t>
            </a:r>
            <a:endParaRPr lang="en-US" sz="550" dirty="0"/>
          </a:p>
        </p:txBody>
      </p:sp>
      <p:sp>
        <p:nvSpPr>
          <p:cNvPr id="5" name="Text 3"/>
          <p:cNvSpPr/>
          <p:nvPr/>
        </p:nvSpPr>
        <p:spPr>
          <a:xfrm>
            <a:off x="8366760" y="4828032"/>
            <a:ext cx="365760" cy="109728"/>
          </a:xfrm>
          <a:prstGeom prst="rect">
            <a:avLst/>
          </a:prstGeom>
          <a:noFill/>
          <a:ln/>
        </p:spPr>
        <p:txBody>
          <a:bodyPr wrap="square" lIns="0" tIns="0" rIns="0" bIns="0" rtlCol="0" anchor="ctr"/>
          <a:lstStyle/>
          <a:p>
            <a:pPr marL="0" indent="0" algn="r">
              <a:buNone/>
            </a:pPr>
            <a:r>
              <a:rPr lang="en-US" sz="550" dirty="0">
                <a:solidFill>
                  <a:srgbClr val="5F6B7A"/>
                </a:solidFill>
                <a:latin typeface="Aptos" pitchFamily="34" charset="0"/>
                <a:ea typeface="Aptos" pitchFamily="34" charset="-122"/>
                <a:cs typeface="Aptos" pitchFamily="34" charset="-120"/>
              </a:rPr>
              <a:t>7 / 22</a:t>
            </a:r>
            <a:endParaRPr lang="en-US" sz="550" dirty="0"/>
          </a:p>
        </p:txBody>
      </p:sp>
      <p:sp>
        <p:nvSpPr>
          <p:cNvPr id="6" name="Shape 4"/>
          <p:cNvSpPr/>
          <p:nvPr/>
        </p:nvSpPr>
        <p:spPr>
          <a:xfrm>
            <a:off x="411480" y="1060704"/>
            <a:ext cx="1143000" cy="0"/>
          </a:xfrm>
          <a:prstGeom prst="line">
            <a:avLst/>
          </a:prstGeom>
          <a:noFill/>
          <a:ln w="15240">
            <a:solidFill>
              <a:srgbClr val="12BFE2"/>
            </a:solidFill>
            <a:prstDash val="solid"/>
          </a:ln>
        </p:spPr>
        <p:txBody>
          <a:bodyPr/>
          <a:lstStyle/>
          <a:p>
            <a:endParaRPr lang="en-US"/>
          </a:p>
        </p:txBody>
      </p:sp>
      <p:sp>
        <p:nvSpPr>
          <p:cNvPr id="7" name="Shape 5"/>
          <p:cNvSpPr/>
          <p:nvPr/>
        </p:nvSpPr>
        <p:spPr>
          <a:xfrm>
            <a:off x="594360" y="1143000"/>
            <a:ext cx="1600200" cy="438912"/>
          </a:xfrm>
          <a:prstGeom prst="roundRect">
            <a:avLst>
              <a:gd name="adj" fmla="val 25000"/>
            </a:avLst>
          </a:prstGeom>
          <a:solidFill>
            <a:srgbClr val="111A2D"/>
          </a:solidFill>
          <a:ln w="12700">
            <a:solidFill>
              <a:srgbClr val="111A2D"/>
            </a:solidFill>
            <a:prstDash val="solid"/>
          </a:ln>
        </p:spPr>
        <p:txBody>
          <a:bodyPr/>
          <a:lstStyle/>
          <a:p>
            <a:endParaRPr lang="en-US"/>
          </a:p>
        </p:txBody>
      </p:sp>
      <p:sp>
        <p:nvSpPr>
          <p:cNvPr id="8" name="Text 6"/>
          <p:cNvSpPr/>
          <p:nvPr/>
        </p:nvSpPr>
        <p:spPr>
          <a:xfrm>
            <a:off x="704088" y="1216152"/>
            <a:ext cx="1380744" cy="164592"/>
          </a:xfrm>
          <a:prstGeom prst="rect">
            <a:avLst/>
          </a:prstGeom>
          <a:noFill/>
          <a:ln/>
        </p:spPr>
        <p:txBody>
          <a:bodyPr wrap="square" lIns="0" tIns="0" rIns="0" bIns="0" rtlCol="0" anchor="ctr"/>
          <a:lstStyle/>
          <a:p>
            <a:pPr marL="0" indent="0">
              <a:buNone/>
            </a:pPr>
            <a:r>
              <a:rPr lang="en-US" sz="1050" b="1" dirty="0">
                <a:solidFill>
                  <a:srgbClr val="12BFE2"/>
                </a:solidFill>
                <a:latin typeface="Aptos Display" pitchFamily="34" charset="0"/>
                <a:ea typeface="Aptos Display" pitchFamily="34" charset="-122"/>
                <a:cs typeface="Aptos Display" pitchFamily="34" charset="-120"/>
              </a:rPr>
              <a:t>React / Vite / TS</a:t>
            </a:r>
            <a:endParaRPr lang="en-US" sz="1050" dirty="0"/>
          </a:p>
        </p:txBody>
      </p:sp>
      <p:sp>
        <p:nvSpPr>
          <p:cNvPr id="9" name="Text 7"/>
          <p:cNvSpPr/>
          <p:nvPr/>
        </p:nvSpPr>
        <p:spPr>
          <a:xfrm>
            <a:off x="704088" y="1389888"/>
            <a:ext cx="1380744" cy="109728"/>
          </a:xfrm>
          <a:prstGeom prst="rect">
            <a:avLst/>
          </a:prstGeom>
          <a:noFill/>
          <a:ln/>
        </p:spPr>
        <p:txBody>
          <a:bodyPr wrap="square" lIns="0" tIns="0" rIns="0" bIns="0" rtlCol="0" anchor="ctr">
            <a:normAutofit/>
          </a:bodyPr>
          <a:lstStyle/>
          <a:p>
            <a:pPr marL="0" indent="0">
              <a:buNone/>
            </a:pPr>
            <a:r>
              <a:rPr lang="en-US" sz="580" dirty="0">
                <a:solidFill>
                  <a:srgbClr val="A7B3C6"/>
                </a:solidFill>
                <a:latin typeface="Aptos" pitchFamily="34" charset="0"/>
                <a:ea typeface="Aptos" pitchFamily="34" charset="-122"/>
                <a:cs typeface="Aptos" pitchFamily="34" charset="-120"/>
              </a:rPr>
              <a:t>web stack</a:t>
            </a:r>
            <a:endParaRPr lang="en-US" sz="580" dirty="0"/>
          </a:p>
        </p:txBody>
      </p:sp>
      <p:sp>
        <p:nvSpPr>
          <p:cNvPr id="10" name="Shape 8"/>
          <p:cNvSpPr/>
          <p:nvPr/>
        </p:nvSpPr>
        <p:spPr>
          <a:xfrm>
            <a:off x="2331720" y="1143000"/>
            <a:ext cx="1600200" cy="438912"/>
          </a:xfrm>
          <a:prstGeom prst="roundRect">
            <a:avLst>
              <a:gd name="adj" fmla="val 25000"/>
            </a:avLst>
          </a:prstGeom>
          <a:solidFill>
            <a:srgbClr val="111A2D"/>
          </a:solidFill>
          <a:ln w="12700">
            <a:solidFill>
              <a:srgbClr val="111A2D"/>
            </a:solidFill>
            <a:prstDash val="solid"/>
          </a:ln>
        </p:spPr>
        <p:txBody>
          <a:bodyPr/>
          <a:lstStyle/>
          <a:p>
            <a:endParaRPr lang="en-US"/>
          </a:p>
        </p:txBody>
      </p:sp>
      <p:sp>
        <p:nvSpPr>
          <p:cNvPr id="11" name="Text 9"/>
          <p:cNvSpPr/>
          <p:nvPr/>
        </p:nvSpPr>
        <p:spPr>
          <a:xfrm>
            <a:off x="2441448" y="1216152"/>
            <a:ext cx="1380744" cy="164592"/>
          </a:xfrm>
          <a:prstGeom prst="rect">
            <a:avLst/>
          </a:prstGeom>
          <a:noFill/>
          <a:ln/>
        </p:spPr>
        <p:txBody>
          <a:bodyPr wrap="square" lIns="0" tIns="0" rIns="0" bIns="0" rtlCol="0" anchor="ctr"/>
          <a:lstStyle/>
          <a:p>
            <a:pPr marL="0" indent="0">
              <a:buNone/>
            </a:pPr>
            <a:r>
              <a:rPr lang="en-US" sz="1050" b="1" dirty="0">
                <a:solidFill>
                  <a:srgbClr val="2DD4BF"/>
                </a:solidFill>
                <a:latin typeface="Aptos Display" pitchFamily="34" charset="0"/>
                <a:ea typeface="Aptos Display" pitchFamily="34" charset="-122"/>
                <a:cs typeface="Aptos Display" pitchFamily="34" charset="-120"/>
              </a:rPr>
              <a:t>29</a:t>
            </a:r>
            <a:endParaRPr lang="en-US" sz="1050" dirty="0"/>
          </a:p>
        </p:txBody>
      </p:sp>
      <p:sp>
        <p:nvSpPr>
          <p:cNvPr id="12" name="Text 10"/>
          <p:cNvSpPr/>
          <p:nvPr/>
        </p:nvSpPr>
        <p:spPr>
          <a:xfrm>
            <a:off x="2441448" y="1389888"/>
            <a:ext cx="1380744" cy="109728"/>
          </a:xfrm>
          <a:prstGeom prst="rect">
            <a:avLst/>
          </a:prstGeom>
          <a:noFill/>
          <a:ln/>
        </p:spPr>
        <p:txBody>
          <a:bodyPr wrap="square" lIns="0" tIns="0" rIns="0" bIns="0" rtlCol="0" anchor="ctr">
            <a:normAutofit/>
          </a:bodyPr>
          <a:lstStyle/>
          <a:p>
            <a:pPr marL="0" indent="0">
              <a:buNone/>
            </a:pPr>
            <a:r>
              <a:rPr lang="en-US" sz="580" dirty="0">
                <a:solidFill>
                  <a:srgbClr val="A7B3C6"/>
                </a:solidFill>
                <a:latin typeface="Aptos" pitchFamily="34" charset="0"/>
                <a:ea typeface="Aptos" pitchFamily="34" charset="-122"/>
                <a:cs typeface="Aptos" pitchFamily="34" charset="-120"/>
              </a:rPr>
              <a:t>local JSON/Markdown content files</a:t>
            </a:r>
            <a:endParaRPr lang="en-US" sz="580" dirty="0"/>
          </a:p>
        </p:txBody>
      </p:sp>
      <p:sp>
        <p:nvSpPr>
          <p:cNvPr id="13" name="Shape 11"/>
          <p:cNvSpPr/>
          <p:nvPr/>
        </p:nvSpPr>
        <p:spPr>
          <a:xfrm>
            <a:off x="4069080" y="1143000"/>
            <a:ext cx="1600200" cy="438912"/>
          </a:xfrm>
          <a:prstGeom prst="roundRect">
            <a:avLst>
              <a:gd name="adj" fmla="val 25000"/>
            </a:avLst>
          </a:prstGeom>
          <a:solidFill>
            <a:srgbClr val="111A2D"/>
          </a:solidFill>
          <a:ln w="12700">
            <a:solidFill>
              <a:srgbClr val="111A2D"/>
            </a:solidFill>
            <a:prstDash val="solid"/>
          </a:ln>
        </p:spPr>
        <p:txBody>
          <a:bodyPr/>
          <a:lstStyle/>
          <a:p>
            <a:endParaRPr lang="en-US"/>
          </a:p>
        </p:txBody>
      </p:sp>
      <p:sp>
        <p:nvSpPr>
          <p:cNvPr id="14" name="Text 12"/>
          <p:cNvSpPr/>
          <p:nvPr/>
        </p:nvSpPr>
        <p:spPr>
          <a:xfrm>
            <a:off x="4178808" y="1216152"/>
            <a:ext cx="1380744" cy="164592"/>
          </a:xfrm>
          <a:prstGeom prst="rect">
            <a:avLst/>
          </a:prstGeom>
          <a:noFill/>
          <a:ln/>
        </p:spPr>
        <p:txBody>
          <a:bodyPr wrap="square" lIns="0" tIns="0" rIns="0" bIns="0" rtlCol="0" anchor="ctr"/>
          <a:lstStyle/>
          <a:p>
            <a:pPr marL="0" indent="0">
              <a:buNone/>
            </a:pPr>
            <a:r>
              <a:rPr lang="en-US" sz="1050" b="1" dirty="0">
                <a:solidFill>
                  <a:srgbClr val="F59E0B"/>
                </a:solidFill>
                <a:latin typeface="Aptos Display" pitchFamily="34" charset="0"/>
                <a:ea typeface="Aptos Display" pitchFamily="34" charset="-122"/>
                <a:cs typeface="Aptos Display" pitchFamily="34" charset="-120"/>
              </a:rPr>
              <a:t>85</a:t>
            </a:r>
            <a:endParaRPr lang="en-US" sz="1050" dirty="0"/>
          </a:p>
        </p:txBody>
      </p:sp>
      <p:sp>
        <p:nvSpPr>
          <p:cNvPr id="15" name="Text 13"/>
          <p:cNvSpPr/>
          <p:nvPr/>
        </p:nvSpPr>
        <p:spPr>
          <a:xfrm>
            <a:off x="4178808" y="1389888"/>
            <a:ext cx="1380744" cy="109728"/>
          </a:xfrm>
          <a:prstGeom prst="rect">
            <a:avLst/>
          </a:prstGeom>
          <a:noFill/>
          <a:ln/>
        </p:spPr>
        <p:txBody>
          <a:bodyPr wrap="square" lIns="0" tIns="0" rIns="0" bIns="0" rtlCol="0" anchor="ctr">
            <a:normAutofit/>
          </a:bodyPr>
          <a:lstStyle/>
          <a:p>
            <a:pPr marL="0" indent="0">
              <a:buNone/>
            </a:pPr>
            <a:r>
              <a:rPr lang="en-US" sz="580" dirty="0">
                <a:solidFill>
                  <a:srgbClr val="A7B3C6"/>
                </a:solidFill>
                <a:latin typeface="Aptos" pitchFamily="34" charset="0"/>
                <a:ea typeface="Aptos" pitchFamily="34" charset="-122"/>
                <a:cs typeface="Aptos" pitchFamily="34" charset="-120"/>
              </a:rPr>
              <a:t>Vitest checks in repo review</a:t>
            </a:r>
            <a:endParaRPr lang="en-US" sz="580" dirty="0"/>
          </a:p>
        </p:txBody>
      </p:sp>
      <p:sp>
        <p:nvSpPr>
          <p:cNvPr id="16" name="Shape 14"/>
          <p:cNvSpPr/>
          <p:nvPr/>
        </p:nvSpPr>
        <p:spPr>
          <a:xfrm>
            <a:off x="5806440" y="1143000"/>
            <a:ext cx="1600200" cy="438912"/>
          </a:xfrm>
          <a:prstGeom prst="roundRect">
            <a:avLst>
              <a:gd name="adj" fmla="val 25000"/>
            </a:avLst>
          </a:prstGeom>
          <a:solidFill>
            <a:srgbClr val="111A2D"/>
          </a:solidFill>
          <a:ln w="12700">
            <a:solidFill>
              <a:srgbClr val="111A2D"/>
            </a:solidFill>
            <a:prstDash val="solid"/>
          </a:ln>
        </p:spPr>
        <p:txBody>
          <a:bodyPr/>
          <a:lstStyle/>
          <a:p>
            <a:endParaRPr lang="en-US"/>
          </a:p>
        </p:txBody>
      </p:sp>
      <p:sp>
        <p:nvSpPr>
          <p:cNvPr id="17" name="Text 15"/>
          <p:cNvSpPr/>
          <p:nvPr/>
        </p:nvSpPr>
        <p:spPr>
          <a:xfrm>
            <a:off x="5916168" y="1216152"/>
            <a:ext cx="1380744" cy="164592"/>
          </a:xfrm>
          <a:prstGeom prst="rect">
            <a:avLst/>
          </a:prstGeom>
          <a:noFill/>
          <a:ln/>
        </p:spPr>
        <p:txBody>
          <a:bodyPr wrap="square" lIns="0" tIns="0" rIns="0" bIns="0" rtlCol="0" anchor="ctr"/>
          <a:lstStyle/>
          <a:p>
            <a:pPr marL="0" indent="0">
              <a:buNone/>
            </a:pPr>
            <a:r>
              <a:rPr lang="en-US" sz="1050" b="1" dirty="0">
                <a:solidFill>
                  <a:srgbClr val="12BFE2"/>
                </a:solidFill>
                <a:latin typeface="Aptos Display" pitchFamily="34" charset="0"/>
                <a:ea typeface="Aptos Display" pitchFamily="34" charset="-122"/>
                <a:cs typeface="Aptos Display" pitchFamily="34" charset="-120"/>
              </a:rPr>
              <a:t>Offline-first</a:t>
            </a:r>
            <a:endParaRPr lang="en-US" sz="1050" dirty="0"/>
          </a:p>
        </p:txBody>
      </p:sp>
      <p:sp>
        <p:nvSpPr>
          <p:cNvPr id="18" name="Text 16"/>
          <p:cNvSpPr/>
          <p:nvPr/>
        </p:nvSpPr>
        <p:spPr>
          <a:xfrm>
            <a:off x="5916168" y="1389888"/>
            <a:ext cx="1380744" cy="109728"/>
          </a:xfrm>
          <a:prstGeom prst="rect">
            <a:avLst/>
          </a:prstGeom>
          <a:noFill/>
          <a:ln/>
        </p:spPr>
        <p:txBody>
          <a:bodyPr wrap="square" lIns="0" tIns="0" rIns="0" bIns="0" rtlCol="0" anchor="ctr">
            <a:normAutofit/>
          </a:bodyPr>
          <a:lstStyle/>
          <a:p>
            <a:pPr marL="0" indent="0">
              <a:buNone/>
            </a:pPr>
            <a:r>
              <a:rPr lang="en-US" sz="580" dirty="0">
                <a:solidFill>
                  <a:srgbClr val="A7B3C6"/>
                </a:solidFill>
                <a:latin typeface="Aptos" pitchFamily="34" charset="0"/>
                <a:ea typeface="Aptos" pitchFamily="34" charset="-122"/>
                <a:cs typeface="Aptos" pitchFamily="34" charset="-120"/>
              </a:rPr>
              <a:t>local learner progress</a:t>
            </a:r>
            <a:endParaRPr lang="en-US" sz="580" dirty="0"/>
          </a:p>
        </p:txBody>
      </p:sp>
      <p:sp>
        <p:nvSpPr>
          <p:cNvPr id="19" name="Shape 17"/>
          <p:cNvSpPr/>
          <p:nvPr/>
        </p:nvSpPr>
        <p:spPr>
          <a:xfrm>
            <a:off x="7543800" y="1143000"/>
            <a:ext cx="1005840" cy="438912"/>
          </a:xfrm>
          <a:prstGeom prst="roundRect">
            <a:avLst>
              <a:gd name="adj" fmla="val 25000"/>
            </a:avLst>
          </a:prstGeom>
          <a:solidFill>
            <a:srgbClr val="111A2D"/>
          </a:solidFill>
          <a:ln w="12700">
            <a:solidFill>
              <a:srgbClr val="111A2D"/>
            </a:solidFill>
            <a:prstDash val="solid"/>
          </a:ln>
        </p:spPr>
        <p:txBody>
          <a:bodyPr/>
          <a:lstStyle/>
          <a:p>
            <a:endParaRPr lang="en-US"/>
          </a:p>
        </p:txBody>
      </p:sp>
      <p:sp>
        <p:nvSpPr>
          <p:cNvPr id="20" name="Text 18"/>
          <p:cNvSpPr/>
          <p:nvPr/>
        </p:nvSpPr>
        <p:spPr>
          <a:xfrm>
            <a:off x="7653528" y="1216152"/>
            <a:ext cx="786384" cy="164592"/>
          </a:xfrm>
          <a:prstGeom prst="rect">
            <a:avLst/>
          </a:prstGeom>
          <a:noFill/>
          <a:ln/>
        </p:spPr>
        <p:txBody>
          <a:bodyPr wrap="square" lIns="0" tIns="0" rIns="0" bIns="0" rtlCol="0" anchor="ctr"/>
          <a:lstStyle/>
          <a:p>
            <a:pPr marL="0" indent="0">
              <a:buNone/>
            </a:pPr>
            <a:r>
              <a:rPr lang="en-US" sz="1050" b="1" dirty="0">
                <a:solidFill>
                  <a:srgbClr val="2DD4BF"/>
                </a:solidFill>
                <a:latin typeface="Aptos Display" pitchFamily="34" charset="0"/>
                <a:ea typeface="Aptos Display" pitchFamily="34" charset="-122"/>
                <a:cs typeface="Aptos Display" pitchFamily="34" charset="-120"/>
              </a:rPr>
              <a:t>Ready</a:t>
            </a:r>
            <a:endParaRPr lang="en-US" sz="1050" dirty="0"/>
          </a:p>
        </p:txBody>
      </p:sp>
      <p:sp>
        <p:nvSpPr>
          <p:cNvPr id="21" name="Text 19"/>
          <p:cNvSpPr/>
          <p:nvPr/>
        </p:nvSpPr>
        <p:spPr>
          <a:xfrm>
            <a:off x="7653528" y="1389888"/>
            <a:ext cx="786384" cy="109728"/>
          </a:xfrm>
          <a:prstGeom prst="rect">
            <a:avLst/>
          </a:prstGeom>
          <a:noFill/>
          <a:ln/>
        </p:spPr>
        <p:txBody>
          <a:bodyPr wrap="square" lIns="0" tIns="0" rIns="0" bIns="0" rtlCol="0" anchor="ctr">
            <a:normAutofit/>
          </a:bodyPr>
          <a:lstStyle/>
          <a:p>
            <a:pPr marL="0" indent="0">
              <a:buNone/>
            </a:pPr>
            <a:r>
              <a:rPr lang="en-US" sz="580" dirty="0">
                <a:solidFill>
                  <a:srgbClr val="A7B3C6"/>
                </a:solidFill>
                <a:latin typeface="Aptos" pitchFamily="34" charset="0"/>
                <a:ea typeface="Aptos" pitchFamily="34" charset="-122"/>
                <a:cs typeface="Aptos" pitchFamily="34" charset="-120"/>
              </a:rPr>
              <a:t>pre-course workflow</a:t>
            </a:r>
            <a:endParaRPr lang="en-US" sz="580" dirty="0"/>
          </a:p>
        </p:txBody>
      </p:sp>
      <p:sp>
        <p:nvSpPr>
          <p:cNvPr id="22" name="Shape 20"/>
          <p:cNvSpPr/>
          <p:nvPr/>
        </p:nvSpPr>
        <p:spPr>
          <a:xfrm>
            <a:off x="621792" y="1901952"/>
            <a:ext cx="2514600" cy="384048"/>
          </a:xfrm>
          <a:prstGeom prst="roundRect">
            <a:avLst/>
          </a:prstGeom>
          <a:solidFill>
            <a:srgbClr val="111A2D"/>
          </a:solidFill>
          <a:ln w="12700">
            <a:solidFill>
              <a:srgbClr val="111A2D"/>
            </a:solidFill>
            <a:prstDash val="solid"/>
          </a:ln>
        </p:spPr>
        <p:txBody>
          <a:bodyPr/>
          <a:lstStyle/>
          <a:p>
            <a:endParaRPr lang="en-US"/>
          </a:p>
        </p:txBody>
      </p:sp>
      <p:sp>
        <p:nvSpPr>
          <p:cNvPr id="23" name="Text 21"/>
          <p:cNvSpPr/>
          <p:nvPr/>
        </p:nvSpPr>
        <p:spPr>
          <a:xfrm>
            <a:off x="777240" y="1993392"/>
            <a:ext cx="914400" cy="109728"/>
          </a:xfrm>
          <a:prstGeom prst="rect">
            <a:avLst/>
          </a:prstGeom>
          <a:noFill/>
          <a:ln/>
        </p:spPr>
        <p:txBody>
          <a:bodyPr wrap="square" lIns="0" tIns="0" rIns="0" bIns="0" rtlCol="0" anchor="ctr"/>
          <a:lstStyle/>
          <a:p>
            <a:pPr marL="0" indent="0">
              <a:buNone/>
            </a:pPr>
            <a:r>
              <a:rPr lang="en-US" sz="770" b="1" dirty="0">
                <a:solidFill>
                  <a:srgbClr val="F8FAFC"/>
                </a:solidFill>
                <a:latin typeface="Aptos" pitchFamily="34" charset="0"/>
                <a:ea typeface="Aptos" pitchFamily="34" charset="-122"/>
                <a:cs typeface="Aptos" pitchFamily="34" charset="-120"/>
              </a:rPr>
              <a:t>Pretest gate</a:t>
            </a:r>
            <a:endParaRPr lang="en-US" sz="770" dirty="0"/>
          </a:p>
        </p:txBody>
      </p:sp>
      <p:sp>
        <p:nvSpPr>
          <p:cNvPr id="24" name="Text 22"/>
          <p:cNvSpPr/>
          <p:nvPr/>
        </p:nvSpPr>
        <p:spPr>
          <a:xfrm>
            <a:off x="1764792" y="1993392"/>
            <a:ext cx="1188720" cy="109728"/>
          </a:xfrm>
          <a:prstGeom prst="rect">
            <a:avLst/>
          </a:prstGeom>
          <a:noFill/>
          <a:ln/>
        </p:spPr>
        <p:txBody>
          <a:bodyPr wrap="square" lIns="0" tIns="0" rIns="0" bIns="0" rtlCol="0" anchor="ctr">
            <a:normAutofit/>
          </a:bodyPr>
          <a:lstStyle/>
          <a:p>
            <a:pPr marL="0" indent="0">
              <a:buNone/>
            </a:pPr>
            <a:r>
              <a:rPr lang="en-US" sz="640" dirty="0">
                <a:solidFill>
                  <a:srgbClr val="A7B3C6"/>
                </a:solidFill>
                <a:latin typeface="Aptos" pitchFamily="34" charset="0"/>
                <a:ea typeface="Aptos" pitchFamily="34" charset="-122"/>
                <a:cs typeface="Aptos" pitchFamily="34" charset="-120"/>
              </a:rPr>
              <a:t>Unlocks learning path</a:t>
            </a:r>
            <a:endParaRPr lang="en-US" sz="640" dirty="0"/>
          </a:p>
        </p:txBody>
      </p:sp>
      <p:sp>
        <p:nvSpPr>
          <p:cNvPr id="25" name="Shape 23"/>
          <p:cNvSpPr/>
          <p:nvPr/>
        </p:nvSpPr>
        <p:spPr>
          <a:xfrm>
            <a:off x="3456432" y="1901952"/>
            <a:ext cx="2514600" cy="384048"/>
          </a:xfrm>
          <a:prstGeom prst="roundRect">
            <a:avLst/>
          </a:prstGeom>
          <a:solidFill>
            <a:srgbClr val="111A2D"/>
          </a:solidFill>
          <a:ln w="12700">
            <a:solidFill>
              <a:srgbClr val="111A2D"/>
            </a:solidFill>
            <a:prstDash val="solid"/>
          </a:ln>
        </p:spPr>
        <p:txBody>
          <a:bodyPr/>
          <a:lstStyle/>
          <a:p>
            <a:endParaRPr lang="en-US"/>
          </a:p>
        </p:txBody>
      </p:sp>
      <p:sp>
        <p:nvSpPr>
          <p:cNvPr id="26" name="Text 24"/>
          <p:cNvSpPr/>
          <p:nvPr/>
        </p:nvSpPr>
        <p:spPr>
          <a:xfrm>
            <a:off x="3611880" y="1993392"/>
            <a:ext cx="914400" cy="109728"/>
          </a:xfrm>
          <a:prstGeom prst="rect">
            <a:avLst/>
          </a:prstGeom>
          <a:noFill/>
          <a:ln/>
        </p:spPr>
        <p:txBody>
          <a:bodyPr wrap="square" lIns="0" tIns="0" rIns="0" bIns="0" rtlCol="0" anchor="ctr"/>
          <a:lstStyle/>
          <a:p>
            <a:pPr marL="0" indent="0">
              <a:buNone/>
            </a:pPr>
            <a:r>
              <a:rPr lang="en-US" sz="770" b="1" dirty="0">
                <a:solidFill>
                  <a:srgbClr val="F8FAFC"/>
                </a:solidFill>
                <a:latin typeface="Aptos" pitchFamily="34" charset="0"/>
                <a:ea typeface="Aptos" pitchFamily="34" charset="-122"/>
                <a:cs typeface="Aptos" pitchFamily="34" charset="-120"/>
              </a:rPr>
              <a:t>Lecture prep</a:t>
            </a:r>
            <a:endParaRPr lang="en-US" sz="770" dirty="0"/>
          </a:p>
        </p:txBody>
      </p:sp>
      <p:sp>
        <p:nvSpPr>
          <p:cNvPr id="27" name="Text 25"/>
          <p:cNvSpPr/>
          <p:nvPr/>
        </p:nvSpPr>
        <p:spPr>
          <a:xfrm>
            <a:off x="4599432" y="1993392"/>
            <a:ext cx="1188720" cy="109728"/>
          </a:xfrm>
          <a:prstGeom prst="rect">
            <a:avLst/>
          </a:prstGeom>
          <a:noFill/>
          <a:ln/>
        </p:spPr>
        <p:txBody>
          <a:bodyPr wrap="square" lIns="0" tIns="0" rIns="0" bIns="0" rtlCol="0" anchor="ctr">
            <a:normAutofit/>
          </a:bodyPr>
          <a:lstStyle/>
          <a:p>
            <a:pPr marL="0" indent="0">
              <a:buNone/>
            </a:pPr>
            <a:r>
              <a:rPr lang="en-US" sz="640" dirty="0">
                <a:solidFill>
                  <a:srgbClr val="A7B3C6"/>
                </a:solidFill>
                <a:latin typeface="Aptos" pitchFamily="34" charset="0"/>
                <a:ea typeface="Aptos" pitchFamily="34" charset="-122"/>
                <a:cs typeface="Aptos" pitchFamily="34" charset="-120"/>
              </a:rPr>
              <a:t>Course materials</a:t>
            </a:r>
            <a:endParaRPr lang="en-US" sz="640" dirty="0"/>
          </a:p>
        </p:txBody>
      </p:sp>
      <p:sp>
        <p:nvSpPr>
          <p:cNvPr id="28" name="Shape 26"/>
          <p:cNvSpPr/>
          <p:nvPr/>
        </p:nvSpPr>
        <p:spPr>
          <a:xfrm>
            <a:off x="6291072" y="1901952"/>
            <a:ext cx="2514600" cy="384048"/>
          </a:xfrm>
          <a:prstGeom prst="roundRect">
            <a:avLst/>
          </a:prstGeom>
          <a:solidFill>
            <a:srgbClr val="111A2D"/>
          </a:solidFill>
          <a:ln w="12700">
            <a:solidFill>
              <a:srgbClr val="111A2D"/>
            </a:solidFill>
            <a:prstDash val="solid"/>
          </a:ln>
        </p:spPr>
        <p:txBody>
          <a:bodyPr/>
          <a:lstStyle/>
          <a:p>
            <a:endParaRPr lang="en-US"/>
          </a:p>
        </p:txBody>
      </p:sp>
      <p:sp>
        <p:nvSpPr>
          <p:cNvPr id="29" name="Text 27"/>
          <p:cNvSpPr/>
          <p:nvPr/>
        </p:nvSpPr>
        <p:spPr>
          <a:xfrm>
            <a:off x="6446520" y="1993392"/>
            <a:ext cx="914400" cy="109728"/>
          </a:xfrm>
          <a:prstGeom prst="rect">
            <a:avLst/>
          </a:prstGeom>
          <a:noFill/>
          <a:ln/>
        </p:spPr>
        <p:txBody>
          <a:bodyPr wrap="square" lIns="0" tIns="0" rIns="0" bIns="0" rtlCol="0" anchor="ctr"/>
          <a:lstStyle/>
          <a:p>
            <a:pPr marL="0" indent="0">
              <a:buNone/>
            </a:pPr>
            <a:r>
              <a:rPr lang="en-US" sz="770" b="1" dirty="0">
                <a:solidFill>
                  <a:srgbClr val="F8FAFC"/>
                </a:solidFill>
                <a:latin typeface="Aptos" pitchFamily="34" charset="0"/>
                <a:ea typeface="Aptos" pitchFamily="34" charset="-122"/>
                <a:cs typeface="Aptos" pitchFamily="34" charset="-120"/>
              </a:rPr>
              <a:t>Knobology</a:t>
            </a:r>
            <a:endParaRPr lang="en-US" sz="770" dirty="0"/>
          </a:p>
        </p:txBody>
      </p:sp>
      <p:sp>
        <p:nvSpPr>
          <p:cNvPr id="30" name="Text 28"/>
          <p:cNvSpPr/>
          <p:nvPr/>
        </p:nvSpPr>
        <p:spPr>
          <a:xfrm>
            <a:off x="7434072" y="1993392"/>
            <a:ext cx="1188720" cy="109728"/>
          </a:xfrm>
          <a:prstGeom prst="rect">
            <a:avLst/>
          </a:prstGeom>
          <a:noFill/>
          <a:ln/>
        </p:spPr>
        <p:txBody>
          <a:bodyPr wrap="square" lIns="0" tIns="0" rIns="0" bIns="0" rtlCol="0" anchor="ctr">
            <a:normAutofit/>
          </a:bodyPr>
          <a:lstStyle/>
          <a:p>
            <a:pPr marL="0" indent="0">
              <a:buNone/>
            </a:pPr>
            <a:r>
              <a:rPr lang="en-US" sz="640" dirty="0">
                <a:solidFill>
                  <a:srgbClr val="A7B3C6"/>
                </a:solidFill>
                <a:latin typeface="Aptos" pitchFamily="34" charset="0"/>
                <a:ea typeface="Aptos" pitchFamily="34" charset="-122"/>
                <a:cs typeface="Aptos" pitchFamily="34" charset="-120"/>
              </a:rPr>
              <a:t>Fix-the-image lab</a:t>
            </a:r>
            <a:endParaRPr lang="en-US" sz="640" dirty="0"/>
          </a:p>
        </p:txBody>
      </p:sp>
      <p:sp>
        <p:nvSpPr>
          <p:cNvPr id="31" name="Shape 29"/>
          <p:cNvSpPr/>
          <p:nvPr/>
        </p:nvSpPr>
        <p:spPr>
          <a:xfrm>
            <a:off x="621792" y="2468880"/>
            <a:ext cx="2514600" cy="384048"/>
          </a:xfrm>
          <a:prstGeom prst="roundRect">
            <a:avLst/>
          </a:prstGeom>
          <a:solidFill>
            <a:srgbClr val="111A2D"/>
          </a:solidFill>
          <a:ln w="12700">
            <a:solidFill>
              <a:srgbClr val="111A2D"/>
            </a:solidFill>
            <a:prstDash val="solid"/>
          </a:ln>
        </p:spPr>
        <p:txBody>
          <a:bodyPr/>
          <a:lstStyle/>
          <a:p>
            <a:endParaRPr lang="en-US"/>
          </a:p>
        </p:txBody>
      </p:sp>
      <p:sp>
        <p:nvSpPr>
          <p:cNvPr id="32" name="Text 30"/>
          <p:cNvSpPr/>
          <p:nvPr/>
        </p:nvSpPr>
        <p:spPr>
          <a:xfrm>
            <a:off x="777240" y="2560320"/>
            <a:ext cx="914400" cy="109728"/>
          </a:xfrm>
          <a:prstGeom prst="rect">
            <a:avLst/>
          </a:prstGeom>
          <a:noFill/>
          <a:ln/>
        </p:spPr>
        <p:txBody>
          <a:bodyPr wrap="square" lIns="0" tIns="0" rIns="0" bIns="0" rtlCol="0" anchor="ctr"/>
          <a:lstStyle/>
          <a:p>
            <a:pPr marL="0" indent="0">
              <a:buNone/>
            </a:pPr>
            <a:r>
              <a:rPr lang="en-US" sz="770" b="1" dirty="0">
                <a:solidFill>
                  <a:srgbClr val="F8FAFC"/>
                </a:solidFill>
                <a:latin typeface="Aptos" pitchFamily="34" charset="0"/>
                <a:ea typeface="Aptos" pitchFamily="34" charset="-122"/>
                <a:cs typeface="Aptos" pitchFamily="34" charset="-120"/>
              </a:rPr>
              <a:t>Station map</a:t>
            </a:r>
            <a:endParaRPr lang="en-US" sz="770" dirty="0"/>
          </a:p>
        </p:txBody>
      </p:sp>
      <p:sp>
        <p:nvSpPr>
          <p:cNvPr id="33" name="Text 31"/>
          <p:cNvSpPr/>
          <p:nvPr/>
        </p:nvSpPr>
        <p:spPr>
          <a:xfrm>
            <a:off x="1764792" y="2560320"/>
            <a:ext cx="1188720" cy="109728"/>
          </a:xfrm>
          <a:prstGeom prst="rect">
            <a:avLst/>
          </a:prstGeom>
          <a:noFill/>
          <a:ln/>
        </p:spPr>
        <p:txBody>
          <a:bodyPr wrap="square" lIns="0" tIns="0" rIns="0" bIns="0" rtlCol="0" anchor="ctr">
            <a:normAutofit/>
          </a:bodyPr>
          <a:lstStyle/>
          <a:p>
            <a:pPr marL="0" indent="0">
              <a:buNone/>
            </a:pPr>
            <a:r>
              <a:rPr lang="en-US" sz="640" dirty="0">
                <a:solidFill>
                  <a:srgbClr val="A7B3C6"/>
                </a:solidFill>
                <a:latin typeface="Aptos" pitchFamily="34" charset="0"/>
                <a:ea typeface="Aptos" pitchFamily="34" charset="-122"/>
                <a:cs typeface="Aptos" pitchFamily="34" charset="-120"/>
              </a:rPr>
              <a:t>Tap-to-learn anatomy</a:t>
            </a:r>
            <a:endParaRPr lang="en-US" sz="640" dirty="0"/>
          </a:p>
        </p:txBody>
      </p:sp>
      <p:sp>
        <p:nvSpPr>
          <p:cNvPr id="34" name="Shape 32"/>
          <p:cNvSpPr/>
          <p:nvPr/>
        </p:nvSpPr>
        <p:spPr>
          <a:xfrm>
            <a:off x="3456432" y="2468880"/>
            <a:ext cx="2514600" cy="384048"/>
          </a:xfrm>
          <a:prstGeom prst="roundRect">
            <a:avLst/>
          </a:prstGeom>
          <a:solidFill>
            <a:srgbClr val="111A2D"/>
          </a:solidFill>
          <a:ln w="12700">
            <a:solidFill>
              <a:srgbClr val="111A2D"/>
            </a:solidFill>
            <a:prstDash val="solid"/>
          </a:ln>
        </p:spPr>
        <p:txBody>
          <a:bodyPr/>
          <a:lstStyle/>
          <a:p>
            <a:endParaRPr lang="en-US"/>
          </a:p>
        </p:txBody>
      </p:sp>
      <p:sp>
        <p:nvSpPr>
          <p:cNvPr id="35" name="Text 33"/>
          <p:cNvSpPr/>
          <p:nvPr/>
        </p:nvSpPr>
        <p:spPr>
          <a:xfrm>
            <a:off x="3611880" y="2560320"/>
            <a:ext cx="914400" cy="109728"/>
          </a:xfrm>
          <a:prstGeom prst="rect">
            <a:avLst/>
          </a:prstGeom>
          <a:noFill/>
          <a:ln/>
        </p:spPr>
        <p:txBody>
          <a:bodyPr wrap="square" lIns="0" tIns="0" rIns="0" bIns="0" rtlCol="0" anchor="ctr"/>
          <a:lstStyle/>
          <a:p>
            <a:pPr marL="0" indent="0">
              <a:buNone/>
            </a:pPr>
            <a:r>
              <a:rPr lang="en-US" sz="770" b="1" dirty="0">
                <a:solidFill>
                  <a:srgbClr val="F8FAFC"/>
                </a:solidFill>
                <a:latin typeface="Aptos" pitchFamily="34" charset="0"/>
                <a:ea typeface="Aptos" pitchFamily="34" charset="-122"/>
                <a:cs typeface="Aptos" pitchFamily="34" charset="-120"/>
              </a:rPr>
              <a:t>Flashcards</a:t>
            </a:r>
            <a:endParaRPr lang="en-US" sz="770" dirty="0"/>
          </a:p>
        </p:txBody>
      </p:sp>
      <p:sp>
        <p:nvSpPr>
          <p:cNvPr id="36" name="Text 34"/>
          <p:cNvSpPr/>
          <p:nvPr/>
        </p:nvSpPr>
        <p:spPr>
          <a:xfrm>
            <a:off x="4599432" y="2560320"/>
            <a:ext cx="1188720" cy="109728"/>
          </a:xfrm>
          <a:prstGeom prst="rect">
            <a:avLst/>
          </a:prstGeom>
          <a:noFill/>
          <a:ln/>
        </p:spPr>
        <p:txBody>
          <a:bodyPr wrap="square" lIns="0" tIns="0" rIns="0" bIns="0" rtlCol="0" anchor="ctr">
            <a:normAutofit/>
          </a:bodyPr>
          <a:lstStyle/>
          <a:p>
            <a:pPr marL="0" indent="0">
              <a:buNone/>
            </a:pPr>
            <a:r>
              <a:rPr lang="en-US" sz="640" dirty="0">
                <a:solidFill>
                  <a:srgbClr val="A7B3C6"/>
                </a:solidFill>
                <a:latin typeface="Aptos" pitchFamily="34" charset="0"/>
                <a:ea typeface="Aptos" pitchFamily="34" charset="-122"/>
                <a:cs typeface="Aptos" pitchFamily="34" charset="-120"/>
              </a:rPr>
              <a:t>Retrieval practice</a:t>
            </a:r>
            <a:endParaRPr lang="en-US" sz="640" dirty="0"/>
          </a:p>
        </p:txBody>
      </p:sp>
      <p:sp>
        <p:nvSpPr>
          <p:cNvPr id="37" name="Shape 35"/>
          <p:cNvSpPr/>
          <p:nvPr/>
        </p:nvSpPr>
        <p:spPr>
          <a:xfrm>
            <a:off x="6291072" y="2468880"/>
            <a:ext cx="2514600" cy="384048"/>
          </a:xfrm>
          <a:prstGeom prst="roundRect">
            <a:avLst/>
          </a:prstGeom>
          <a:solidFill>
            <a:srgbClr val="111A2D"/>
          </a:solidFill>
          <a:ln w="12700">
            <a:solidFill>
              <a:srgbClr val="111A2D"/>
            </a:solidFill>
            <a:prstDash val="solid"/>
          </a:ln>
        </p:spPr>
        <p:txBody>
          <a:bodyPr/>
          <a:lstStyle/>
          <a:p>
            <a:endParaRPr lang="en-US"/>
          </a:p>
        </p:txBody>
      </p:sp>
      <p:sp>
        <p:nvSpPr>
          <p:cNvPr id="38" name="Text 36"/>
          <p:cNvSpPr/>
          <p:nvPr/>
        </p:nvSpPr>
        <p:spPr>
          <a:xfrm>
            <a:off x="6446520" y="2560320"/>
            <a:ext cx="914400" cy="109728"/>
          </a:xfrm>
          <a:prstGeom prst="rect">
            <a:avLst/>
          </a:prstGeom>
          <a:noFill/>
          <a:ln/>
        </p:spPr>
        <p:txBody>
          <a:bodyPr wrap="square" lIns="0" tIns="0" rIns="0" bIns="0" rtlCol="0" anchor="ctr"/>
          <a:lstStyle/>
          <a:p>
            <a:pPr marL="0" indent="0">
              <a:buNone/>
            </a:pPr>
            <a:r>
              <a:rPr lang="en-US" sz="770" b="1" dirty="0">
                <a:solidFill>
                  <a:srgbClr val="F8FAFC"/>
                </a:solidFill>
                <a:latin typeface="Aptos" pitchFamily="34" charset="0"/>
                <a:ea typeface="Aptos" pitchFamily="34" charset="-122"/>
                <a:cs typeface="Aptos" pitchFamily="34" charset="-120"/>
              </a:rPr>
              <a:t>Recognition quiz</a:t>
            </a:r>
            <a:endParaRPr lang="en-US" sz="770" dirty="0"/>
          </a:p>
        </p:txBody>
      </p:sp>
      <p:sp>
        <p:nvSpPr>
          <p:cNvPr id="39" name="Text 37"/>
          <p:cNvSpPr/>
          <p:nvPr/>
        </p:nvSpPr>
        <p:spPr>
          <a:xfrm>
            <a:off x="7434072" y="2560320"/>
            <a:ext cx="1188720" cy="109728"/>
          </a:xfrm>
          <a:prstGeom prst="rect">
            <a:avLst/>
          </a:prstGeom>
          <a:noFill/>
          <a:ln/>
        </p:spPr>
        <p:txBody>
          <a:bodyPr wrap="square" lIns="0" tIns="0" rIns="0" bIns="0" rtlCol="0" anchor="ctr">
            <a:normAutofit/>
          </a:bodyPr>
          <a:lstStyle/>
          <a:p>
            <a:pPr marL="0" indent="0">
              <a:buNone/>
            </a:pPr>
            <a:r>
              <a:rPr lang="en-US" sz="640" dirty="0">
                <a:solidFill>
                  <a:srgbClr val="A7B3C6"/>
                </a:solidFill>
                <a:latin typeface="Aptos" pitchFamily="34" charset="0"/>
                <a:ea typeface="Aptos" pitchFamily="34" charset="-122"/>
                <a:cs typeface="Aptos" pitchFamily="34" charset="-120"/>
              </a:rPr>
              <a:t>Immediate feedback</a:t>
            </a:r>
            <a:endParaRPr lang="en-US" sz="640" dirty="0"/>
          </a:p>
        </p:txBody>
      </p:sp>
      <p:sp>
        <p:nvSpPr>
          <p:cNvPr id="40" name="Shape 38"/>
          <p:cNvSpPr/>
          <p:nvPr/>
        </p:nvSpPr>
        <p:spPr>
          <a:xfrm>
            <a:off x="621792" y="3035808"/>
            <a:ext cx="2514600" cy="384048"/>
          </a:xfrm>
          <a:prstGeom prst="roundRect">
            <a:avLst/>
          </a:prstGeom>
          <a:solidFill>
            <a:srgbClr val="111A2D"/>
          </a:solidFill>
          <a:ln w="12700">
            <a:solidFill>
              <a:srgbClr val="111A2D"/>
            </a:solidFill>
            <a:prstDash val="solid"/>
          </a:ln>
        </p:spPr>
        <p:txBody>
          <a:bodyPr/>
          <a:lstStyle/>
          <a:p>
            <a:endParaRPr lang="en-US"/>
          </a:p>
        </p:txBody>
      </p:sp>
      <p:sp>
        <p:nvSpPr>
          <p:cNvPr id="41" name="Text 39"/>
          <p:cNvSpPr/>
          <p:nvPr/>
        </p:nvSpPr>
        <p:spPr>
          <a:xfrm>
            <a:off x="777240" y="3127248"/>
            <a:ext cx="914400" cy="109728"/>
          </a:xfrm>
          <a:prstGeom prst="rect">
            <a:avLst/>
          </a:prstGeom>
          <a:noFill/>
          <a:ln/>
        </p:spPr>
        <p:txBody>
          <a:bodyPr wrap="square" lIns="0" tIns="0" rIns="0" bIns="0" rtlCol="0" anchor="ctr"/>
          <a:lstStyle/>
          <a:p>
            <a:pPr marL="0" indent="0">
              <a:buNone/>
            </a:pPr>
            <a:r>
              <a:rPr lang="en-US" sz="770" b="1" dirty="0">
                <a:solidFill>
                  <a:srgbClr val="F8FAFC"/>
                </a:solidFill>
                <a:latin typeface="Aptos" pitchFamily="34" charset="0"/>
                <a:ea typeface="Aptos" pitchFamily="34" charset="-122"/>
                <a:cs typeface="Aptos" pitchFamily="34" charset="-120"/>
              </a:rPr>
              <a:t>3D anatomy</a:t>
            </a:r>
            <a:endParaRPr lang="en-US" sz="770" dirty="0"/>
          </a:p>
        </p:txBody>
      </p:sp>
      <p:sp>
        <p:nvSpPr>
          <p:cNvPr id="42" name="Text 40"/>
          <p:cNvSpPr/>
          <p:nvPr/>
        </p:nvSpPr>
        <p:spPr>
          <a:xfrm>
            <a:off x="1764792" y="3127248"/>
            <a:ext cx="1188720" cy="109728"/>
          </a:xfrm>
          <a:prstGeom prst="rect">
            <a:avLst/>
          </a:prstGeom>
          <a:noFill/>
          <a:ln/>
        </p:spPr>
        <p:txBody>
          <a:bodyPr wrap="square" lIns="0" tIns="0" rIns="0" bIns="0" rtlCol="0" anchor="ctr">
            <a:normAutofit/>
          </a:bodyPr>
          <a:lstStyle/>
          <a:p>
            <a:pPr marL="0" indent="0">
              <a:buNone/>
            </a:pPr>
            <a:r>
              <a:rPr lang="en-US" sz="640" dirty="0">
                <a:solidFill>
                  <a:srgbClr val="A7B3C6"/>
                </a:solidFill>
                <a:latin typeface="Aptos" pitchFamily="34" charset="0"/>
                <a:ea typeface="Aptos" pitchFamily="34" charset="-122"/>
                <a:cs typeface="Aptos" pitchFamily="34" charset="-120"/>
              </a:rPr>
              <a:t>CT / segmentation context</a:t>
            </a:r>
            <a:endParaRPr lang="en-US" sz="640" dirty="0"/>
          </a:p>
        </p:txBody>
      </p:sp>
      <p:sp>
        <p:nvSpPr>
          <p:cNvPr id="43" name="Shape 41"/>
          <p:cNvSpPr/>
          <p:nvPr/>
        </p:nvSpPr>
        <p:spPr>
          <a:xfrm>
            <a:off x="3456432" y="3035808"/>
            <a:ext cx="2514600" cy="384048"/>
          </a:xfrm>
          <a:prstGeom prst="roundRect">
            <a:avLst/>
          </a:prstGeom>
          <a:solidFill>
            <a:srgbClr val="111A2D"/>
          </a:solidFill>
          <a:ln w="12700">
            <a:solidFill>
              <a:srgbClr val="111A2D"/>
            </a:solidFill>
            <a:prstDash val="solid"/>
          </a:ln>
        </p:spPr>
        <p:txBody>
          <a:bodyPr/>
          <a:lstStyle/>
          <a:p>
            <a:endParaRPr lang="en-US"/>
          </a:p>
        </p:txBody>
      </p:sp>
      <p:sp>
        <p:nvSpPr>
          <p:cNvPr id="44" name="Text 42"/>
          <p:cNvSpPr/>
          <p:nvPr/>
        </p:nvSpPr>
        <p:spPr>
          <a:xfrm>
            <a:off x="3611880" y="3127248"/>
            <a:ext cx="914400" cy="109728"/>
          </a:xfrm>
          <a:prstGeom prst="rect">
            <a:avLst/>
          </a:prstGeom>
          <a:noFill/>
          <a:ln/>
        </p:spPr>
        <p:txBody>
          <a:bodyPr wrap="square" lIns="0" tIns="0" rIns="0" bIns="0" rtlCol="0" anchor="ctr"/>
          <a:lstStyle/>
          <a:p>
            <a:pPr marL="0" indent="0">
              <a:buNone/>
            </a:pPr>
            <a:r>
              <a:rPr lang="en-US" sz="770" b="1" dirty="0">
                <a:solidFill>
                  <a:srgbClr val="F8FAFC"/>
                </a:solidFill>
                <a:latin typeface="Aptos" pitchFamily="34" charset="0"/>
                <a:ea typeface="Aptos" pitchFamily="34" charset="-122"/>
                <a:cs typeface="Aptos" pitchFamily="34" charset="-120"/>
              </a:rPr>
              <a:t>EBUS simulator</a:t>
            </a:r>
            <a:endParaRPr lang="en-US" sz="770" dirty="0"/>
          </a:p>
        </p:txBody>
      </p:sp>
      <p:sp>
        <p:nvSpPr>
          <p:cNvPr id="45" name="Text 43"/>
          <p:cNvSpPr/>
          <p:nvPr/>
        </p:nvSpPr>
        <p:spPr>
          <a:xfrm>
            <a:off x="4599432" y="3127248"/>
            <a:ext cx="1188720" cy="109728"/>
          </a:xfrm>
          <a:prstGeom prst="rect">
            <a:avLst/>
          </a:prstGeom>
          <a:noFill/>
          <a:ln/>
        </p:spPr>
        <p:txBody>
          <a:bodyPr wrap="square" lIns="0" tIns="0" rIns="0" bIns="0" rtlCol="0" anchor="ctr">
            <a:normAutofit/>
          </a:bodyPr>
          <a:lstStyle/>
          <a:p>
            <a:pPr marL="0" indent="0">
              <a:buNone/>
            </a:pPr>
            <a:r>
              <a:rPr lang="en-US" sz="640" dirty="0">
                <a:solidFill>
                  <a:srgbClr val="A7B3C6"/>
                </a:solidFill>
                <a:latin typeface="Aptos" pitchFamily="34" charset="0"/>
                <a:ea typeface="Aptos" pitchFamily="34" charset="-122"/>
                <a:cs typeface="Aptos" pitchFamily="34" charset="-120"/>
              </a:rPr>
              <a:t>Preset-driven views</a:t>
            </a:r>
            <a:endParaRPr lang="en-US" sz="640" dirty="0"/>
          </a:p>
        </p:txBody>
      </p:sp>
      <p:sp>
        <p:nvSpPr>
          <p:cNvPr id="46" name="Shape 44"/>
          <p:cNvSpPr/>
          <p:nvPr/>
        </p:nvSpPr>
        <p:spPr>
          <a:xfrm>
            <a:off x="6291072" y="3035808"/>
            <a:ext cx="2514600" cy="384048"/>
          </a:xfrm>
          <a:prstGeom prst="roundRect">
            <a:avLst/>
          </a:prstGeom>
          <a:solidFill>
            <a:srgbClr val="111A2D"/>
          </a:solidFill>
          <a:ln w="12700">
            <a:solidFill>
              <a:srgbClr val="111A2D"/>
            </a:solidFill>
            <a:prstDash val="solid"/>
          </a:ln>
        </p:spPr>
        <p:txBody>
          <a:bodyPr/>
          <a:lstStyle/>
          <a:p>
            <a:endParaRPr lang="en-US"/>
          </a:p>
        </p:txBody>
      </p:sp>
      <p:sp>
        <p:nvSpPr>
          <p:cNvPr id="47" name="Text 45"/>
          <p:cNvSpPr/>
          <p:nvPr/>
        </p:nvSpPr>
        <p:spPr>
          <a:xfrm>
            <a:off x="6446520" y="3127248"/>
            <a:ext cx="914400" cy="109728"/>
          </a:xfrm>
          <a:prstGeom prst="rect">
            <a:avLst/>
          </a:prstGeom>
          <a:noFill/>
          <a:ln/>
        </p:spPr>
        <p:txBody>
          <a:bodyPr wrap="square" lIns="0" tIns="0" rIns="0" bIns="0" rtlCol="0" anchor="ctr"/>
          <a:lstStyle/>
          <a:p>
            <a:pPr marL="0" indent="0">
              <a:buNone/>
            </a:pPr>
            <a:r>
              <a:rPr lang="en-US" sz="770" b="1" dirty="0">
                <a:solidFill>
                  <a:srgbClr val="F8FAFC"/>
                </a:solidFill>
                <a:latin typeface="Aptos" pitchFamily="34" charset="0"/>
                <a:ea typeface="Aptos" pitchFamily="34" charset="-122"/>
                <a:cs typeface="Aptos" pitchFamily="34" charset="-120"/>
              </a:rPr>
              <a:t>Mixed quiz</a:t>
            </a:r>
            <a:endParaRPr lang="en-US" sz="770" dirty="0"/>
          </a:p>
        </p:txBody>
      </p:sp>
      <p:sp>
        <p:nvSpPr>
          <p:cNvPr id="48" name="Text 46"/>
          <p:cNvSpPr/>
          <p:nvPr/>
        </p:nvSpPr>
        <p:spPr>
          <a:xfrm>
            <a:off x="7434072" y="3127248"/>
            <a:ext cx="1188720" cy="109728"/>
          </a:xfrm>
          <a:prstGeom prst="rect">
            <a:avLst/>
          </a:prstGeom>
          <a:noFill/>
          <a:ln/>
        </p:spPr>
        <p:txBody>
          <a:bodyPr wrap="square" lIns="0" tIns="0" rIns="0" bIns="0" rtlCol="0" anchor="ctr">
            <a:normAutofit/>
          </a:bodyPr>
          <a:lstStyle/>
          <a:p>
            <a:pPr marL="0" indent="0">
              <a:buNone/>
            </a:pPr>
            <a:r>
              <a:rPr lang="en-US" sz="640" dirty="0">
                <a:solidFill>
                  <a:srgbClr val="A7B3C6"/>
                </a:solidFill>
                <a:latin typeface="Aptos" pitchFamily="34" charset="0"/>
                <a:ea typeface="Aptos" pitchFamily="34" charset="-122"/>
                <a:cs typeface="Aptos" pitchFamily="34" charset="-120"/>
              </a:rPr>
              <a:t>Scoring and review</a:t>
            </a:r>
            <a:endParaRPr lang="en-US" sz="640" dirty="0"/>
          </a:p>
        </p:txBody>
      </p:sp>
      <p:sp>
        <p:nvSpPr>
          <p:cNvPr id="49" name="Shape 47"/>
          <p:cNvSpPr/>
          <p:nvPr/>
        </p:nvSpPr>
        <p:spPr>
          <a:xfrm>
            <a:off x="1005840" y="4160520"/>
            <a:ext cx="7132320" cy="402336"/>
          </a:xfrm>
          <a:prstGeom prst="roundRect">
            <a:avLst/>
          </a:prstGeom>
          <a:solidFill>
            <a:srgbClr val="111A2D"/>
          </a:solidFill>
          <a:ln w="12700">
            <a:solidFill>
              <a:srgbClr val="111A2D"/>
            </a:solidFill>
            <a:prstDash val="solid"/>
          </a:ln>
        </p:spPr>
        <p:txBody>
          <a:bodyPr/>
          <a:lstStyle/>
          <a:p>
            <a:endParaRPr lang="en-US"/>
          </a:p>
        </p:txBody>
      </p:sp>
      <p:sp>
        <p:nvSpPr>
          <p:cNvPr id="50" name="Shape 48"/>
          <p:cNvSpPr/>
          <p:nvPr/>
        </p:nvSpPr>
        <p:spPr>
          <a:xfrm>
            <a:off x="1005840" y="4160520"/>
            <a:ext cx="36576" cy="402336"/>
          </a:xfrm>
          <a:prstGeom prst="rect">
            <a:avLst/>
          </a:prstGeom>
          <a:solidFill>
            <a:srgbClr val="2DD4BF"/>
          </a:solidFill>
          <a:ln w="12700">
            <a:solidFill>
              <a:srgbClr val="2DD4BF"/>
            </a:solidFill>
            <a:prstDash val="solid"/>
          </a:ln>
        </p:spPr>
        <p:txBody>
          <a:bodyPr/>
          <a:lstStyle/>
          <a:p>
            <a:endParaRPr lang="en-US"/>
          </a:p>
        </p:txBody>
      </p:sp>
      <p:sp>
        <p:nvSpPr>
          <p:cNvPr id="51" name="Text 49"/>
          <p:cNvSpPr/>
          <p:nvPr/>
        </p:nvSpPr>
        <p:spPr>
          <a:xfrm>
            <a:off x="1170432" y="4325112"/>
            <a:ext cx="6830568" cy="146304"/>
          </a:xfrm>
          <a:prstGeom prst="rect">
            <a:avLst/>
          </a:prstGeom>
          <a:noFill/>
          <a:ln/>
        </p:spPr>
        <p:txBody>
          <a:bodyPr wrap="square" lIns="0" tIns="0" rIns="0" bIns="0" rtlCol="0" anchor="ctr">
            <a:normAutofit/>
          </a:bodyPr>
          <a:lstStyle/>
          <a:p>
            <a:pPr marL="0" indent="0">
              <a:buNone/>
            </a:pPr>
            <a:r>
              <a:rPr lang="en-US" sz="900" dirty="0">
                <a:solidFill>
                  <a:srgbClr val="F8FAFC"/>
                </a:solidFill>
                <a:latin typeface="Aptos" pitchFamily="34" charset="0"/>
                <a:ea typeface="Aptos" pitchFamily="34" charset="-122"/>
                <a:cs typeface="Aptos" pitchFamily="34" charset="-120"/>
              </a:rPr>
              <a:t>The highest-yield architectural decision: keep curriculum content separate from UI components.</a:t>
            </a:r>
            <a:endParaRPr lang="en-US" sz="900" dirty="0"/>
          </a:p>
        </p:txBody>
      </p:sp>
      <p:sp>
        <p:nvSpPr>
          <p:cNvPr id="52" name="Text 50"/>
          <p:cNvSpPr/>
          <p:nvPr/>
        </p:nvSpPr>
        <p:spPr>
          <a:xfrm>
            <a:off x="2743200" y="4599432"/>
            <a:ext cx="3657600" cy="91440"/>
          </a:xfrm>
          <a:prstGeom prst="rect">
            <a:avLst/>
          </a:prstGeom>
          <a:noFill/>
          <a:ln/>
        </p:spPr>
        <p:txBody>
          <a:bodyPr wrap="square" lIns="0" tIns="0" rIns="0" bIns="0" rtlCol="0" anchor="ctr"/>
          <a:lstStyle/>
          <a:p>
            <a:pPr marL="0" indent="0" algn="ctr">
              <a:buNone/>
            </a:pPr>
            <a:r>
              <a:rPr lang="en-US" sz="520" dirty="0">
                <a:solidFill>
                  <a:srgbClr val="6B7280"/>
                </a:solidFill>
              </a:rPr>
              <a:t>Update test/content counts if the repo changes before the live webinar.</a:t>
            </a:r>
            <a:endParaRPr lang="en-US" sz="52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70D1A"/>
        </a:solidFill>
        <a:effectLst/>
      </p:bgPr>
    </p:bg>
    <p:spTree>
      <p:nvGrpSpPr>
        <p:cNvPr id="1" name=""/>
        <p:cNvGrpSpPr/>
        <p:nvPr/>
      </p:nvGrpSpPr>
      <p:grpSpPr>
        <a:xfrm>
          <a:off x="0" y="0"/>
          <a:ext cx="0" cy="0"/>
          <a:chOff x="0" y="0"/>
          <a:chExt cx="0" cy="0"/>
        </a:xfrm>
      </p:grpSpPr>
      <p:sp>
        <p:nvSpPr>
          <p:cNvPr id="2" name="Text 0"/>
          <p:cNvSpPr/>
          <p:nvPr/>
        </p:nvSpPr>
        <p:spPr>
          <a:xfrm>
            <a:off x="411480" y="274320"/>
            <a:ext cx="3474720" cy="146304"/>
          </a:xfrm>
          <a:prstGeom prst="rect">
            <a:avLst/>
          </a:prstGeom>
          <a:noFill/>
          <a:ln/>
        </p:spPr>
        <p:txBody>
          <a:bodyPr wrap="square" lIns="0" tIns="0" rIns="0" bIns="0" rtlCol="0" anchor="ctr"/>
          <a:lstStyle/>
          <a:p>
            <a:pPr marL="0" indent="0">
              <a:buNone/>
            </a:pPr>
            <a:r>
              <a:rPr lang="en-US" sz="650" b="1" dirty="0">
                <a:solidFill>
                  <a:srgbClr val="12BFE2"/>
                </a:solidFill>
                <a:latin typeface="Aptos" pitchFamily="34" charset="0"/>
                <a:ea typeface="Aptos" pitchFamily="34" charset="-122"/>
                <a:cs typeface="Aptos" pitchFamily="34" charset="-120"/>
              </a:rPr>
              <a:t>BEFORE CODE</a:t>
            </a:r>
            <a:endParaRPr lang="en-US" sz="650" dirty="0"/>
          </a:p>
        </p:txBody>
      </p:sp>
      <p:sp>
        <p:nvSpPr>
          <p:cNvPr id="3" name="Text 1"/>
          <p:cNvSpPr/>
          <p:nvPr/>
        </p:nvSpPr>
        <p:spPr>
          <a:xfrm>
            <a:off x="411480" y="612648"/>
            <a:ext cx="5669280" cy="384048"/>
          </a:xfrm>
          <a:prstGeom prst="rect">
            <a:avLst/>
          </a:prstGeom>
          <a:noFill/>
          <a:ln/>
        </p:spPr>
        <p:txBody>
          <a:bodyPr wrap="square" lIns="0" tIns="0" rIns="0" bIns="0" rtlCol="0" anchor="ctr">
            <a:normAutofit/>
          </a:bodyPr>
          <a:lstStyle/>
          <a:p>
            <a:pPr marL="0" indent="0">
              <a:buNone/>
            </a:pPr>
            <a:r>
              <a:rPr lang="en-US" sz="2100" b="1" dirty="0">
                <a:solidFill>
                  <a:srgbClr val="F8FAFC"/>
                </a:solidFill>
                <a:latin typeface="Aptos Display" pitchFamily="34" charset="0"/>
                <a:ea typeface="Aptos Display" pitchFamily="34" charset="-122"/>
                <a:cs typeface="Aptos Display" pitchFamily="34" charset="-120"/>
              </a:rPr>
              <a:t>Start with the clinical product spec</a:t>
            </a:r>
            <a:endParaRPr lang="en-US" sz="2100" dirty="0"/>
          </a:p>
        </p:txBody>
      </p:sp>
      <p:sp>
        <p:nvSpPr>
          <p:cNvPr id="4" name="Text 2"/>
          <p:cNvSpPr/>
          <p:nvPr/>
        </p:nvSpPr>
        <p:spPr>
          <a:xfrm>
            <a:off x="411480" y="4828032"/>
            <a:ext cx="4754880" cy="109728"/>
          </a:xfrm>
          <a:prstGeom prst="rect">
            <a:avLst/>
          </a:prstGeom>
          <a:noFill/>
          <a:ln/>
        </p:spPr>
        <p:txBody>
          <a:bodyPr wrap="square" lIns="0" tIns="0" rIns="0" bIns="0" rtlCol="0" anchor="ctr"/>
          <a:lstStyle/>
          <a:p>
            <a:pPr marL="0" indent="0">
              <a:buNone/>
            </a:pPr>
            <a:r>
              <a:rPr lang="en-US" sz="550" dirty="0">
                <a:solidFill>
                  <a:srgbClr val="5F6B7A"/>
                </a:solidFill>
                <a:latin typeface="Aptos" pitchFamily="34" charset="0"/>
                <a:ea typeface="Aptos" pitchFamily="34" charset="-122"/>
                <a:cs typeface="Aptos" pitchFamily="34" charset="-120"/>
              </a:rPr>
              <a:t>AABIP Webinar 2026  |  AI in Interventional Pulmonology</a:t>
            </a:r>
            <a:endParaRPr lang="en-US" sz="550" dirty="0"/>
          </a:p>
        </p:txBody>
      </p:sp>
      <p:sp>
        <p:nvSpPr>
          <p:cNvPr id="5" name="Text 3"/>
          <p:cNvSpPr/>
          <p:nvPr/>
        </p:nvSpPr>
        <p:spPr>
          <a:xfrm>
            <a:off x="8366760" y="4828032"/>
            <a:ext cx="365760" cy="109728"/>
          </a:xfrm>
          <a:prstGeom prst="rect">
            <a:avLst/>
          </a:prstGeom>
          <a:noFill/>
          <a:ln/>
        </p:spPr>
        <p:txBody>
          <a:bodyPr wrap="square" lIns="0" tIns="0" rIns="0" bIns="0" rtlCol="0" anchor="ctr"/>
          <a:lstStyle/>
          <a:p>
            <a:pPr marL="0" indent="0" algn="r">
              <a:buNone/>
            </a:pPr>
            <a:r>
              <a:rPr lang="en-US" sz="550" dirty="0">
                <a:solidFill>
                  <a:srgbClr val="5F6B7A"/>
                </a:solidFill>
                <a:latin typeface="Aptos" pitchFamily="34" charset="0"/>
                <a:ea typeface="Aptos" pitchFamily="34" charset="-122"/>
                <a:cs typeface="Aptos" pitchFamily="34" charset="-120"/>
              </a:rPr>
              <a:t>8 / 22</a:t>
            </a:r>
            <a:endParaRPr lang="en-US" sz="550" dirty="0"/>
          </a:p>
        </p:txBody>
      </p:sp>
      <p:sp>
        <p:nvSpPr>
          <p:cNvPr id="6" name="Shape 4"/>
          <p:cNvSpPr/>
          <p:nvPr/>
        </p:nvSpPr>
        <p:spPr>
          <a:xfrm>
            <a:off x="411480" y="1060704"/>
            <a:ext cx="1143000" cy="0"/>
          </a:xfrm>
          <a:prstGeom prst="line">
            <a:avLst/>
          </a:prstGeom>
          <a:noFill/>
          <a:ln w="15240">
            <a:solidFill>
              <a:srgbClr val="12BFE2"/>
            </a:solidFill>
            <a:prstDash val="solid"/>
          </a:ln>
        </p:spPr>
        <p:txBody>
          <a:bodyPr/>
          <a:lstStyle/>
          <a:p>
            <a:endParaRPr lang="en-US"/>
          </a:p>
        </p:txBody>
      </p:sp>
      <p:sp>
        <p:nvSpPr>
          <p:cNvPr id="7" name="Text 5"/>
          <p:cNvSpPr/>
          <p:nvPr/>
        </p:nvSpPr>
        <p:spPr>
          <a:xfrm>
            <a:off x="658368" y="1170432"/>
            <a:ext cx="1828800" cy="182880"/>
          </a:xfrm>
          <a:prstGeom prst="rect">
            <a:avLst/>
          </a:prstGeom>
          <a:noFill/>
          <a:ln/>
        </p:spPr>
        <p:txBody>
          <a:bodyPr wrap="square" lIns="0" tIns="0" rIns="0" bIns="0" rtlCol="0" anchor="ctr"/>
          <a:lstStyle/>
          <a:p>
            <a:pPr marL="0" indent="0">
              <a:buNone/>
            </a:pPr>
            <a:r>
              <a:rPr lang="en-US" sz="900" b="1" dirty="0">
                <a:solidFill>
                  <a:srgbClr val="F87171"/>
                </a:solidFill>
                <a:latin typeface="Aptos" pitchFamily="34" charset="0"/>
                <a:ea typeface="Aptos" pitchFamily="34" charset="-122"/>
                <a:cs typeface="Aptos" pitchFamily="34" charset="-120"/>
              </a:rPr>
              <a:t>Wrong first prompt:</a:t>
            </a:r>
            <a:endParaRPr lang="en-US" sz="900" dirty="0"/>
          </a:p>
        </p:txBody>
      </p:sp>
      <p:sp>
        <p:nvSpPr>
          <p:cNvPr id="8" name="Shape 6"/>
          <p:cNvSpPr/>
          <p:nvPr/>
        </p:nvSpPr>
        <p:spPr>
          <a:xfrm>
            <a:off x="658368" y="1444752"/>
            <a:ext cx="3200400" cy="457200"/>
          </a:xfrm>
          <a:prstGeom prst="roundRect">
            <a:avLst/>
          </a:prstGeom>
          <a:solidFill>
            <a:srgbClr val="111A2D"/>
          </a:solidFill>
          <a:ln w="12700">
            <a:solidFill>
              <a:srgbClr val="111A2D"/>
            </a:solidFill>
            <a:prstDash val="solid"/>
          </a:ln>
        </p:spPr>
        <p:txBody>
          <a:bodyPr/>
          <a:lstStyle/>
          <a:p>
            <a:endParaRPr lang="en-US"/>
          </a:p>
        </p:txBody>
      </p:sp>
      <p:sp>
        <p:nvSpPr>
          <p:cNvPr id="9" name="Shape 7"/>
          <p:cNvSpPr/>
          <p:nvPr/>
        </p:nvSpPr>
        <p:spPr>
          <a:xfrm>
            <a:off x="658368" y="1444752"/>
            <a:ext cx="36576" cy="457200"/>
          </a:xfrm>
          <a:prstGeom prst="rect">
            <a:avLst/>
          </a:prstGeom>
          <a:solidFill>
            <a:srgbClr val="F87171"/>
          </a:solidFill>
          <a:ln w="12700">
            <a:solidFill>
              <a:srgbClr val="F87171"/>
            </a:solidFill>
            <a:prstDash val="solid"/>
          </a:ln>
        </p:spPr>
        <p:txBody>
          <a:bodyPr/>
          <a:lstStyle/>
          <a:p>
            <a:endParaRPr lang="en-US"/>
          </a:p>
        </p:txBody>
      </p:sp>
      <p:sp>
        <p:nvSpPr>
          <p:cNvPr id="10" name="Text 8"/>
          <p:cNvSpPr/>
          <p:nvPr/>
        </p:nvSpPr>
        <p:spPr>
          <a:xfrm>
            <a:off x="822960" y="1609344"/>
            <a:ext cx="2898648" cy="201168"/>
          </a:xfrm>
          <a:prstGeom prst="rect">
            <a:avLst/>
          </a:prstGeom>
          <a:noFill/>
          <a:ln/>
        </p:spPr>
        <p:txBody>
          <a:bodyPr wrap="square" lIns="0" tIns="0" rIns="0" bIns="0" rtlCol="0" anchor="ctr">
            <a:normAutofit/>
          </a:bodyPr>
          <a:lstStyle/>
          <a:p>
            <a:pPr marL="0" indent="0">
              <a:buNone/>
            </a:pPr>
            <a:r>
              <a:rPr lang="en-US" sz="900" dirty="0">
                <a:solidFill>
                  <a:srgbClr val="F8FAFC"/>
                </a:solidFill>
                <a:latin typeface="Aptos" pitchFamily="34" charset="0"/>
                <a:ea typeface="Aptos" pitchFamily="34" charset="-122"/>
                <a:cs typeface="Aptos" pitchFamily="34" charset="-120"/>
              </a:rPr>
              <a:t>“Build me an EBUS course app.”</a:t>
            </a:r>
            <a:endParaRPr lang="en-US" sz="900" dirty="0"/>
          </a:p>
        </p:txBody>
      </p:sp>
      <p:sp>
        <p:nvSpPr>
          <p:cNvPr id="11" name="Text 9"/>
          <p:cNvSpPr/>
          <p:nvPr/>
        </p:nvSpPr>
        <p:spPr>
          <a:xfrm>
            <a:off x="658368" y="2121408"/>
            <a:ext cx="1828800" cy="182880"/>
          </a:xfrm>
          <a:prstGeom prst="rect">
            <a:avLst/>
          </a:prstGeom>
          <a:noFill/>
          <a:ln/>
        </p:spPr>
        <p:txBody>
          <a:bodyPr wrap="square" lIns="0" tIns="0" rIns="0" bIns="0" rtlCol="0" anchor="ctr"/>
          <a:lstStyle/>
          <a:p>
            <a:pPr marL="0" indent="0">
              <a:buNone/>
            </a:pPr>
            <a:r>
              <a:rPr lang="en-US" sz="900" b="1" dirty="0">
                <a:solidFill>
                  <a:srgbClr val="22C55E"/>
                </a:solidFill>
                <a:latin typeface="Aptos" pitchFamily="34" charset="0"/>
                <a:ea typeface="Aptos" pitchFamily="34" charset="-122"/>
                <a:cs typeface="Aptos" pitchFamily="34" charset="-120"/>
              </a:rPr>
              <a:t>Better first prompt:</a:t>
            </a:r>
            <a:endParaRPr lang="en-US" sz="900" dirty="0"/>
          </a:p>
        </p:txBody>
      </p:sp>
      <p:sp>
        <p:nvSpPr>
          <p:cNvPr id="12" name="Shape 10"/>
          <p:cNvSpPr/>
          <p:nvPr/>
        </p:nvSpPr>
        <p:spPr>
          <a:xfrm>
            <a:off x="658368" y="2395728"/>
            <a:ext cx="3200400" cy="950976"/>
          </a:xfrm>
          <a:prstGeom prst="roundRect">
            <a:avLst/>
          </a:prstGeom>
          <a:solidFill>
            <a:srgbClr val="111A2D"/>
          </a:solidFill>
          <a:ln w="12700">
            <a:solidFill>
              <a:srgbClr val="111A2D"/>
            </a:solidFill>
            <a:prstDash val="solid"/>
          </a:ln>
        </p:spPr>
        <p:txBody>
          <a:bodyPr/>
          <a:lstStyle/>
          <a:p>
            <a:endParaRPr lang="en-US"/>
          </a:p>
        </p:txBody>
      </p:sp>
      <p:sp>
        <p:nvSpPr>
          <p:cNvPr id="13" name="Shape 11"/>
          <p:cNvSpPr/>
          <p:nvPr/>
        </p:nvSpPr>
        <p:spPr>
          <a:xfrm>
            <a:off x="658368" y="2395728"/>
            <a:ext cx="36576" cy="950976"/>
          </a:xfrm>
          <a:prstGeom prst="rect">
            <a:avLst/>
          </a:prstGeom>
          <a:solidFill>
            <a:srgbClr val="22C55E"/>
          </a:solidFill>
          <a:ln w="12700">
            <a:solidFill>
              <a:srgbClr val="22C55E"/>
            </a:solidFill>
            <a:prstDash val="solid"/>
          </a:ln>
        </p:spPr>
        <p:txBody>
          <a:bodyPr/>
          <a:lstStyle/>
          <a:p>
            <a:endParaRPr lang="en-US"/>
          </a:p>
        </p:txBody>
      </p:sp>
      <p:sp>
        <p:nvSpPr>
          <p:cNvPr id="14" name="Text 12"/>
          <p:cNvSpPr/>
          <p:nvPr/>
        </p:nvSpPr>
        <p:spPr>
          <a:xfrm>
            <a:off x="822960" y="2560320"/>
            <a:ext cx="2898648" cy="694944"/>
          </a:xfrm>
          <a:prstGeom prst="rect">
            <a:avLst/>
          </a:prstGeom>
          <a:noFill/>
          <a:ln/>
        </p:spPr>
        <p:txBody>
          <a:bodyPr wrap="square" lIns="0" tIns="0" rIns="0" bIns="0" rtlCol="0" anchor="ctr">
            <a:normAutofit/>
          </a:bodyPr>
          <a:lstStyle/>
          <a:p>
            <a:pPr marL="0" indent="0">
              <a:buNone/>
            </a:pPr>
            <a:r>
              <a:rPr lang="en-US" sz="900" dirty="0">
                <a:solidFill>
                  <a:srgbClr val="F8FAFC"/>
                </a:solidFill>
                <a:latin typeface="Aptos" pitchFamily="34" charset="0"/>
                <a:ea typeface="Aptos" pitchFamily="34" charset="-122"/>
                <a:cs typeface="Aptos" pitchFamily="34" charset="-120"/>
              </a:rPr>
              <a:t>“Build one module that teaches first-year fellows to optimize a simulated CP-EBUS image: depth → gain → contrast → Doppler check → freeze/measure. Keep content in JSON, save progress locally, and add tests for state transitions.”</a:t>
            </a:r>
            <a:endParaRPr lang="en-US" sz="900" dirty="0"/>
          </a:p>
        </p:txBody>
      </p:sp>
      <p:sp>
        <p:nvSpPr>
          <p:cNvPr id="15" name="Shape 13"/>
          <p:cNvSpPr/>
          <p:nvPr/>
        </p:nvSpPr>
        <p:spPr>
          <a:xfrm>
            <a:off x="4572000" y="1207008"/>
            <a:ext cx="3886200" cy="2468880"/>
          </a:xfrm>
          <a:prstGeom prst="roundRect">
            <a:avLst/>
          </a:prstGeom>
          <a:solidFill>
            <a:srgbClr val="111A2D"/>
          </a:solidFill>
          <a:ln w="12700">
            <a:solidFill>
              <a:srgbClr val="111A2D"/>
            </a:solidFill>
            <a:prstDash val="solid"/>
          </a:ln>
        </p:spPr>
        <p:txBody>
          <a:bodyPr/>
          <a:lstStyle/>
          <a:p>
            <a:endParaRPr lang="en-US"/>
          </a:p>
        </p:txBody>
      </p:sp>
      <p:sp>
        <p:nvSpPr>
          <p:cNvPr id="16" name="Text 14"/>
          <p:cNvSpPr/>
          <p:nvPr/>
        </p:nvSpPr>
        <p:spPr>
          <a:xfrm>
            <a:off x="4828032" y="1481328"/>
            <a:ext cx="2194560" cy="201168"/>
          </a:xfrm>
          <a:prstGeom prst="rect">
            <a:avLst/>
          </a:prstGeom>
          <a:noFill/>
          <a:ln/>
        </p:spPr>
        <p:txBody>
          <a:bodyPr wrap="square" lIns="0" tIns="0" rIns="0" bIns="0" rtlCol="0" anchor="ctr"/>
          <a:lstStyle/>
          <a:p>
            <a:pPr marL="0" indent="0">
              <a:buNone/>
            </a:pPr>
            <a:r>
              <a:rPr lang="en-US" sz="1100" b="1" dirty="0">
                <a:solidFill>
                  <a:srgbClr val="F8FAFC"/>
                </a:solidFill>
                <a:latin typeface="Aptos" pitchFamily="34" charset="0"/>
                <a:ea typeface="Aptos" pitchFamily="34" charset="-122"/>
                <a:cs typeface="Aptos" pitchFamily="34" charset="-120"/>
              </a:rPr>
              <a:t>The spec should answer:</a:t>
            </a:r>
            <a:endParaRPr lang="en-US" sz="1100" dirty="0"/>
          </a:p>
        </p:txBody>
      </p:sp>
      <p:sp>
        <p:nvSpPr>
          <p:cNvPr id="17" name="Text 15"/>
          <p:cNvSpPr/>
          <p:nvPr/>
        </p:nvSpPr>
        <p:spPr>
          <a:xfrm>
            <a:off x="4828032" y="1847088"/>
            <a:ext cx="777240" cy="118872"/>
          </a:xfrm>
          <a:prstGeom prst="rect">
            <a:avLst/>
          </a:prstGeom>
          <a:noFill/>
          <a:ln/>
        </p:spPr>
        <p:txBody>
          <a:bodyPr wrap="square" lIns="0" tIns="0" rIns="0" bIns="0" rtlCol="0" anchor="ctr"/>
          <a:lstStyle/>
          <a:p>
            <a:pPr marL="0" indent="0">
              <a:buNone/>
            </a:pPr>
            <a:r>
              <a:rPr lang="en-US" sz="720" b="1" dirty="0">
                <a:solidFill>
                  <a:srgbClr val="12BFE2"/>
                </a:solidFill>
                <a:latin typeface="Aptos" pitchFamily="34" charset="0"/>
                <a:ea typeface="Aptos" pitchFamily="34" charset="-122"/>
                <a:cs typeface="Aptos" pitchFamily="34" charset="-120"/>
              </a:rPr>
              <a:t>Learner</a:t>
            </a:r>
            <a:endParaRPr lang="en-US" sz="720" dirty="0"/>
          </a:p>
        </p:txBody>
      </p:sp>
      <p:sp>
        <p:nvSpPr>
          <p:cNvPr id="18" name="Text 16"/>
          <p:cNvSpPr/>
          <p:nvPr/>
        </p:nvSpPr>
        <p:spPr>
          <a:xfrm>
            <a:off x="5650992" y="1847088"/>
            <a:ext cx="2331720" cy="118872"/>
          </a:xfrm>
          <a:prstGeom prst="rect">
            <a:avLst/>
          </a:prstGeom>
          <a:noFill/>
          <a:ln/>
        </p:spPr>
        <p:txBody>
          <a:bodyPr wrap="square" lIns="0" tIns="0" rIns="0" bIns="0" rtlCol="0" anchor="ctr"/>
          <a:lstStyle/>
          <a:p>
            <a:pPr marL="0" indent="0">
              <a:buNone/>
            </a:pPr>
            <a:r>
              <a:rPr lang="en-US" sz="720" dirty="0">
                <a:solidFill>
                  <a:srgbClr val="A7B3C6"/>
                </a:solidFill>
                <a:latin typeface="Aptos" pitchFamily="34" charset="0"/>
                <a:ea typeface="Aptos" pitchFamily="34" charset="-122"/>
                <a:cs typeface="Aptos" pitchFamily="34" charset="-120"/>
              </a:rPr>
              <a:t>Who is this for?</a:t>
            </a:r>
            <a:endParaRPr lang="en-US" sz="720" dirty="0"/>
          </a:p>
        </p:txBody>
      </p:sp>
      <p:sp>
        <p:nvSpPr>
          <p:cNvPr id="19" name="Text 17"/>
          <p:cNvSpPr/>
          <p:nvPr/>
        </p:nvSpPr>
        <p:spPr>
          <a:xfrm>
            <a:off x="4828032" y="2157984"/>
            <a:ext cx="777240" cy="118872"/>
          </a:xfrm>
          <a:prstGeom prst="rect">
            <a:avLst/>
          </a:prstGeom>
          <a:noFill/>
          <a:ln/>
        </p:spPr>
        <p:txBody>
          <a:bodyPr wrap="square" lIns="0" tIns="0" rIns="0" bIns="0" rtlCol="0" anchor="ctr"/>
          <a:lstStyle/>
          <a:p>
            <a:pPr marL="0" indent="0">
              <a:buNone/>
            </a:pPr>
            <a:r>
              <a:rPr lang="en-US" sz="720" b="1" dirty="0">
                <a:solidFill>
                  <a:srgbClr val="12BFE2"/>
                </a:solidFill>
                <a:latin typeface="Aptos" pitchFamily="34" charset="0"/>
                <a:ea typeface="Aptos" pitchFamily="34" charset="-122"/>
                <a:cs typeface="Aptos" pitchFamily="34" charset="-120"/>
              </a:rPr>
              <a:t>Task</a:t>
            </a:r>
            <a:endParaRPr lang="en-US" sz="720" dirty="0"/>
          </a:p>
        </p:txBody>
      </p:sp>
      <p:sp>
        <p:nvSpPr>
          <p:cNvPr id="20" name="Text 18"/>
          <p:cNvSpPr/>
          <p:nvPr/>
        </p:nvSpPr>
        <p:spPr>
          <a:xfrm>
            <a:off x="5650992" y="2157984"/>
            <a:ext cx="2331720" cy="118872"/>
          </a:xfrm>
          <a:prstGeom prst="rect">
            <a:avLst/>
          </a:prstGeom>
          <a:noFill/>
          <a:ln/>
        </p:spPr>
        <p:txBody>
          <a:bodyPr wrap="square" lIns="0" tIns="0" rIns="0" bIns="0" rtlCol="0" anchor="ctr"/>
          <a:lstStyle/>
          <a:p>
            <a:pPr marL="0" indent="0">
              <a:buNone/>
            </a:pPr>
            <a:r>
              <a:rPr lang="en-US" sz="720" dirty="0">
                <a:solidFill>
                  <a:srgbClr val="A7B3C6"/>
                </a:solidFill>
                <a:latin typeface="Aptos" pitchFamily="34" charset="0"/>
                <a:ea typeface="Aptos" pitchFamily="34" charset="-122"/>
                <a:cs typeface="Aptos" pitchFamily="34" charset="-120"/>
              </a:rPr>
              <a:t>What behavior should change?</a:t>
            </a:r>
            <a:endParaRPr lang="en-US" sz="720" dirty="0"/>
          </a:p>
        </p:txBody>
      </p:sp>
      <p:sp>
        <p:nvSpPr>
          <p:cNvPr id="21" name="Text 19"/>
          <p:cNvSpPr/>
          <p:nvPr/>
        </p:nvSpPr>
        <p:spPr>
          <a:xfrm>
            <a:off x="4828032" y="2468880"/>
            <a:ext cx="777240" cy="118872"/>
          </a:xfrm>
          <a:prstGeom prst="rect">
            <a:avLst/>
          </a:prstGeom>
          <a:noFill/>
          <a:ln/>
        </p:spPr>
        <p:txBody>
          <a:bodyPr wrap="square" lIns="0" tIns="0" rIns="0" bIns="0" rtlCol="0" anchor="ctr"/>
          <a:lstStyle/>
          <a:p>
            <a:pPr marL="0" indent="0">
              <a:buNone/>
            </a:pPr>
            <a:r>
              <a:rPr lang="en-US" sz="720" b="1" dirty="0">
                <a:solidFill>
                  <a:srgbClr val="12BFE2"/>
                </a:solidFill>
                <a:latin typeface="Aptos" pitchFamily="34" charset="0"/>
                <a:ea typeface="Aptos" pitchFamily="34" charset="-122"/>
                <a:cs typeface="Aptos" pitchFamily="34" charset="-120"/>
              </a:rPr>
              <a:t>Inputs</a:t>
            </a:r>
            <a:endParaRPr lang="en-US" sz="720" dirty="0"/>
          </a:p>
        </p:txBody>
      </p:sp>
      <p:sp>
        <p:nvSpPr>
          <p:cNvPr id="22" name="Text 20"/>
          <p:cNvSpPr/>
          <p:nvPr/>
        </p:nvSpPr>
        <p:spPr>
          <a:xfrm>
            <a:off x="5650992" y="2468880"/>
            <a:ext cx="2331720" cy="118872"/>
          </a:xfrm>
          <a:prstGeom prst="rect">
            <a:avLst/>
          </a:prstGeom>
          <a:noFill/>
          <a:ln/>
        </p:spPr>
        <p:txBody>
          <a:bodyPr wrap="square" lIns="0" tIns="0" rIns="0" bIns="0" rtlCol="0" anchor="ctr"/>
          <a:lstStyle/>
          <a:p>
            <a:pPr marL="0" indent="0">
              <a:buNone/>
            </a:pPr>
            <a:r>
              <a:rPr lang="en-US" sz="720" dirty="0">
                <a:solidFill>
                  <a:srgbClr val="A7B3C6"/>
                </a:solidFill>
                <a:latin typeface="Aptos" pitchFamily="34" charset="0"/>
                <a:ea typeface="Aptos" pitchFamily="34" charset="-122"/>
                <a:cs typeface="Aptos" pitchFamily="34" charset="-120"/>
              </a:rPr>
              <a:t>What content/assets are authoritative?</a:t>
            </a:r>
            <a:endParaRPr lang="en-US" sz="720" dirty="0"/>
          </a:p>
        </p:txBody>
      </p:sp>
      <p:sp>
        <p:nvSpPr>
          <p:cNvPr id="23" name="Text 21"/>
          <p:cNvSpPr/>
          <p:nvPr/>
        </p:nvSpPr>
        <p:spPr>
          <a:xfrm>
            <a:off x="4828032" y="2779776"/>
            <a:ext cx="777240" cy="118872"/>
          </a:xfrm>
          <a:prstGeom prst="rect">
            <a:avLst/>
          </a:prstGeom>
          <a:noFill/>
          <a:ln/>
        </p:spPr>
        <p:txBody>
          <a:bodyPr wrap="square" lIns="0" tIns="0" rIns="0" bIns="0" rtlCol="0" anchor="ctr"/>
          <a:lstStyle/>
          <a:p>
            <a:pPr marL="0" indent="0">
              <a:buNone/>
            </a:pPr>
            <a:r>
              <a:rPr lang="en-US" sz="720" b="1" dirty="0">
                <a:solidFill>
                  <a:srgbClr val="12BFE2"/>
                </a:solidFill>
                <a:latin typeface="Aptos" pitchFamily="34" charset="0"/>
                <a:ea typeface="Aptos" pitchFamily="34" charset="-122"/>
                <a:cs typeface="Aptos" pitchFamily="34" charset="-120"/>
              </a:rPr>
              <a:t>Feedback</a:t>
            </a:r>
            <a:endParaRPr lang="en-US" sz="720" dirty="0"/>
          </a:p>
        </p:txBody>
      </p:sp>
      <p:sp>
        <p:nvSpPr>
          <p:cNvPr id="24" name="Text 22"/>
          <p:cNvSpPr/>
          <p:nvPr/>
        </p:nvSpPr>
        <p:spPr>
          <a:xfrm>
            <a:off x="5650992" y="2779776"/>
            <a:ext cx="2331720" cy="118872"/>
          </a:xfrm>
          <a:prstGeom prst="rect">
            <a:avLst/>
          </a:prstGeom>
          <a:noFill/>
          <a:ln/>
        </p:spPr>
        <p:txBody>
          <a:bodyPr wrap="square" lIns="0" tIns="0" rIns="0" bIns="0" rtlCol="0" anchor="ctr"/>
          <a:lstStyle/>
          <a:p>
            <a:pPr marL="0" indent="0">
              <a:buNone/>
            </a:pPr>
            <a:r>
              <a:rPr lang="en-US" sz="720" dirty="0">
                <a:solidFill>
                  <a:srgbClr val="A7B3C6"/>
                </a:solidFill>
                <a:latin typeface="Aptos" pitchFamily="34" charset="0"/>
                <a:ea typeface="Aptos" pitchFamily="34" charset="-122"/>
                <a:cs typeface="Aptos" pitchFamily="34" charset="-120"/>
              </a:rPr>
              <a:t>What counts as correct?</a:t>
            </a:r>
            <a:endParaRPr lang="en-US" sz="720" dirty="0"/>
          </a:p>
        </p:txBody>
      </p:sp>
      <p:sp>
        <p:nvSpPr>
          <p:cNvPr id="25" name="Text 23"/>
          <p:cNvSpPr/>
          <p:nvPr/>
        </p:nvSpPr>
        <p:spPr>
          <a:xfrm>
            <a:off x="4828032" y="3090672"/>
            <a:ext cx="777240" cy="118872"/>
          </a:xfrm>
          <a:prstGeom prst="rect">
            <a:avLst/>
          </a:prstGeom>
          <a:noFill/>
          <a:ln/>
        </p:spPr>
        <p:txBody>
          <a:bodyPr wrap="square" lIns="0" tIns="0" rIns="0" bIns="0" rtlCol="0" anchor="ctr"/>
          <a:lstStyle/>
          <a:p>
            <a:pPr marL="0" indent="0">
              <a:buNone/>
            </a:pPr>
            <a:r>
              <a:rPr lang="en-US" sz="720" b="1" dirty="0">
                <a:solidFill>
                  <a:srgbClr val="12BFE2"/>
                </a:solidFill>
                <a:latin typeface="Aptos" pitchFamily="34" charset="0"/>
                <a:ea typeface="Aptos" pitchFamily="34" charset="-122"/>
                <a:cs typeface="Aptos" pitchFamily="34" charset="-120"/>
              </a:rPr>
              <a:t>Boundaries</a:t>
            </a:r>
            <a:endParaRPr lang="en-US" sz="720" dirty="0"/>
          </a:p>
        </p:txBody>
      </p:sp>
      <p:sp>
        <p:nvSpPr>
          <p:cNvPr id="26" name="Text 24"/>
          <p:cNvSpPr/>
          <p:nvPr/>
        </p:nvSpPr>
        <p:spPr>
          <a:xfrm>
            <a:off x="5650992" y="3090672"/>
            <a:ext cx="2331720" cy="118872"/>
          </a:xfrm>
          <a:prstGeom prst="rect">
            <a:avLst/>
          </a:prstGeom>
          <a:noFill/>
          <a:ln/>
        </p:spPr>
        <p:txBody>
          <a:bodyPr wrap="square" lIns="0" tIns="0" rIns="0" bIns="0" rtlCol="0" anchor="ctr"/>
          <a:lstStyle/>
          <a:p>
            <a:pPr marL="0" indent="0">
              <a:buNone/>
            </a:pPr>
            <a:r>
              <a:rPr lang="en-US" sz="720" dirty="0">
                <a:solidFill>
                  <a:srgbClr val="A7B3C6"/>
                </a:solidFill>
                <a:latin typeface="Aptos" pitchFamily="34" charset="0"/>
                <a:ea typeface="Aptos" pitchFamily="34" charset="-122"/>
                <a:cs typeface="Aptos" pitchFamily="34" charset="-120"/>
              </a:rPr>
              <a:t>What must the app not claim or do?</a:t>
            </a:r>
            <a:endParaRPr lang="en-US" sz="720" dirty="0"/>
          </a:p>
        </p:txBody>
      </p:sp>
      <p:sp>
        <p:nvSpPr>
          <p:cNvPr id="27" name="Text 25"/>
          <p:cNvSpPr/>
          <p:nvPr/>
        </p:nvSpPr>
        <p:spPr>
          <a:xfrm>
            <a:off x="4736592" y="3968496"/>
            <a:ext cx="3566160" cy="256032"/>
          </a:xfrm>
          <a:prstGeom prst="rect">
            <a:avLst/>
          </a:prstGeom>
          <a:noFill/>
          <a:ln/>
        </p:spPr>
        <p:txBody>
          <a:bodyPr wrap="square" lIns="0" tIns="0" rIns="0" bIns="0" rtlCol="0" anchor="ctr"/>
          <a:lstStyle/>
          <a:p>
            <a:pPr marL="0" indent="0" algn="ctr">
              <a:buNone/>
            </a:pPr>
            <a:r>
              <a:rPr lang="en-US" sz="1400" b="1" dirty="0">
                <a:solidFill>
                  <a:srgbClr val="F59E0B"/>
                </a:solidFill>
                <a:latin typeface="Aptos Display" pitchFamily="34" charset="0"/>
                <a:ea typeface="Aptos Display" pitchFamily="34" charset="-122"/>
                <a:cs typeface="Aptos Display" pitchFamily="34" charset="-120"/>
              </a:rPr>
              <a:t>Clinical clarity becomes executable.</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70D1A"/>
        </a:solidFill>
        <a:effectLst/>
      </p:bgPr>
    </p:bg>
    <p:spTree>
      <p:nvGrpSpPr>
        <p:cNvPr id="1" name=""/>
        <p:cNvGrpSpPr/>
        <p:nvPr/>
      </p:nvGrpSpPr>
      <p:grpSpPr>
        <a:xfrm>
          <a:off x="0" y="0"/>
          <a:ext cx="0" cy="0"/>
          <a:chOff x="0" y="0"/>
          <a:chExt cx="0" cy="0"/>
        </a:xfrm>
      </p:grpSpPr>
      <p:sp>
        <p:nvSpPr>
          <p:cNvPr id="2" name="Text 0"/>
          <p:cNvSpPr/>
          <p:nvPr/>
        </p:nvSpPr>
        <p:spPr>
          <a:xfrm>
            <a:off x="411480" y="274320"/>
            <a:ext cx="3474720" cy="146304"/>
          </a:xfrm>
          <a:prstGeom prst="rect">
            <a:avLst/>
          </a:prstGeom>
          <a:noFill/>
          <a:ln/>
        </p:spPr>
        <p:txBody>
          <a:bodyPr wrap="square" lIns="0" tIns="0" rIns="0" bIns="0" rtlCol="0" anchor="ctr"/>
          <a:lstStyle/>
          <a:p>
            <a:pPr marL="0" indent="0">
              <a:buNone/>
            </a:pPr>
            <a:r>
              <a:rPr lang="en-US" sz="650" b="1" dirty="0">
                <a:solidFill>
                  <a:srgbClr val="12BFE2"/>
                </a:solidFill>
                <a:latin typeface="Aptos" pitchFamily="34" charset="0"/>
                <a:ea typeface="Aptos" pitchFamily="34" charset="-122"/>
                <a:cs typeface="Aptos" pitchFamily="34" charset="-120"/>
              </a:rPr>
              <a:t>THE TEAM</a:t>
            </a:r>
            <a:endParaRPr lang="en-US" sz="650" dirty="0"/>
          </a:p>
        </p:txBody>
      </p:sp>
      <p:sp>
        <p:nvSpPr>
          <p:cNvPr id="3" name="Text 1"/>
          <p:cNvSpPr/>
          <p:nvPr/>
        </p:nvSpPr>
        <p:spPr>
          <a:xfrm>
            <a:off x="411480" y="612648"/>
            <a:ext cx="5669280" cy="384048"/>
          </a:xfrm>
          <a:prstGeom prst="rect">
            <a:avLst/>
          </a:prstGeom>
          <a:noFill/>
          <a:ln/>
        </p:spPr>
        <p:txBody>
          <a:bodyPr wrap="square" lIns="0" tIns="0" rIns="0" bIns="0" rtlCol="0" anchor="ctr">
            <a:normAutofit/>
          </a:bodyPr>
          <a:lstStyle/>
          <a:p>
            <a:pPr marL="0" indent="0">
              <a:buNone/>
            </a:pPr>
            <a:r>
              <a:rPr lang="en-US" sz="2100" b="1" dirty="0">
                <a:solidFill>
                  <a:srgbClr val="F8FAFC"/>
                </a:solidFill>
                <a:latin typeface="Aptos Display" pitchFamily="34" charset="0"/>
                <a:ea typeface="Aptos Display" pitchFamily="34" charset="-122"/>
                <a:cs typeface="Aptos Display" pitchFamily="34" charset="-120"/>
              </a:rPr>
              <a:t>Different AI tools played different roles</a:t>
            </a:r>
            <a:endParaRPr lang="en-US" sz="2100" dirty="0"/>
          </a:p>
        </p:txBody>
      </p:sp>
      <p:sp>
        <p:nvSpPr>
          <p:cNvPr id="4" name="Text 2"/>
          <p:cNvSpPr/>
          <p:nvPr/>
        </p:nvSpPr>
        <p:spPr>
          <a:xfrm>
            <a:off x="411480" y="4828032"/>
            <a:ext cx="4754880" cy="109728"/>
          </a:xfrm>
          <a:prstGeom prst="rect">
            <a:avLst/>
          </a:prstGeom>
          <a:noFill/>
          <a:ln/>
        </p:spPr>
        <p:txBody>
          <a:bodyPr wrap="square" lIns="0" tIns="0" rIns="0" bIns="0" rtlCol="0" anchor="ctr"/>
          <a:lstStyle/>
          <a:p>
            <a:pPr marL="0" indent="0">
              <a:buNone/>
            </a:pPr>
            <a:r>
              <a:rPr lang="en-US" sz="550" dirty="0">
                <a:solidFill>
                  <a:srgbClr val="5F6B7A"/>
                </a:solidFill>
                <a:latin typeface="Aptos" pitchFamily="34" charset="0"/>
                <a:ea typeface="Aptos" pitchFamily="34" charset="-122"/>
                <a:cs typeface="Aptos" pitchFamily="34" charset="-120"/>
              </a:rPr>
              <a:t>AABIP Webinar 2026  |  AI in Interventional Pulmonology</a:t>
            </a:r>
            <a:endParaRPr lang="en-US" sz="550" dirty="0"/>
          </a:p>
        </p:txBody>
      </p:sp>
      <p:sp>
        <p:nvSpPr>
          <p:cNvPr id="5" name="Text 3"/>
          <p:cNvSpPr/>
          <p:nvPr/>
        </p:nvSpPr>
        <p:spPr>
          <a:xfrm>
            <a:off x="8366760" y="4828032"/>
            <a:ext cx="365760" cy="109728"/>
          </a:xfrm>
          <a:prstGeom prst="rect">
            <a:avLst/>
          </a:prstGeom>
          <a:noFill/>
          <a:ln/>
        </p:spPr>
        <p:txBody>
          <a:bodyPr wrap="square" lIns="0" tIns="0" rIns="0" bIns="0" rtlCol="0" anchor="ctr"/>
          <a:lstStyle/>
          <a:p>
            <a:pPr marL="0" indent="0" algn="r">
              <a:buNone/>
            </a:pPr>
            <a:r>
              <a:rPr lang="en-US" sz="550" dirty="0">
                <a:solidFill>
                  <a:srgbClr val="5F6B7A"/>
                </a:solidFill>
                <a:latin typeface="Aptos" pitchFamily="34" charset="0"/>
                <a:ea typeface="Aptos" pitchFamily="34" charset="-122"/>
                <a:cs typeface="Aptos" pitchFamily="34" charset="-120"/>
              </a:rPr>
              <a:t>9 / 22</a:t>
            </a:r>
            <a:endParaRPr lang="en-US" sz="550" dirty="0"/>
          </a:p>
        </p:txBody>
      </p:sp>
      <p:sp>
        <p:nvSpPr>
          <p:cNvPr id="6" name="Shape 4"/>
          <p:cNvSpPr/>
          <p:nvPr/>
        </p:nvSpPr>
        <p:spPr>
          <a:xfrm>
            <a:off x="411480" y="1060704"/>
            <a:ext cx="1143000" cy="0"/>
          </a:xfrm>
          <a:prstGeom prst="line">
            <a:avLst/>
          </a:prstGeom>
          <a:noFill/>
          <a:ln w="15240">
            <a:solidFill>
              <a:srgbClr val="12BFE2"/>
            </a:solidFill>
            <a:prstDash val="solid"/>
          </a:ln>
        </p:spPr>
        <p:txBody>
          <a:bodyPr/>
          <a:lstStyle/>
          <a:p>
            <a:endParaRPr lang="en-US"/>
          </a:p>
        </p:txBody>
      </p:sp>
      <p:sp>
        <p:nvSpPr>
          <p:cNvPr id="7" name="Shape 5"/>
          <p:cNvSpPr/>
          <p:nvPr/>
        </p:nvSpPr>
        <p:spPr>
          <a:xfrm>
            <a:off x="731520" y="1298448"/>
            <a:ext cx="2377440" cy="2514600"/>
          </a:xfrm>
          <a:prstGeom prst="roundRect">
            <a:avLst/>
          </a:prstGeom>
          <a:solidFill>
            <a:srgbClr val="111A2D"/>
          </a:solidFill>
          <a:ln w="12700">
            <a:solidFill>
              <a:srgbClr val="111A2D"/>
            </a:solidFill>
            <a:prstDash val="solid"/>
          </a:ln>
        </p:spPr>
        <p:txBody>
          <a:bodyPr/>
          <a:lstStyle/>
          <a:p>
            <a:endParaRPr lang="en-US"/>
          </a:p>
        </p:txBody>
      </p:sp>
      <p:sp>
        <p:nvSpPr>
          <p:cNvPr id="8" name="Shape 6"/>
          <p:cNvSpPr/>
          <p:nvPr/>
        </p:nvSpPr>
        <p:spPr>
          <a:xfrm>
            <a:off x="932688" y="1554480"/>
            <a:ext cx="384048" cy="384048"/>
          </a:xfrm>
          <a:prstGeom prst="ellipse">
            <a:avLst/>
          </a:prstGeom>
          <a:solidFill>
            <a:srgbClr val="2DD4BF"/>
          </a:solidFill>
          <a:ln w="12700">
            <a:solidFill>
              <a:srgbClr val="2DD4BF"/>
            </a:solidFill>
            <a:prstDash val="solid"/>
          </a:ln>
        </p:spPr>
        <p:txBody>
          <a:bodyPr/>
          <a:lstStyle/>
          <a:p>
            <a:endParaRPr lang="en-US"/>
          </a:p>
        </p:txBody>
      </p:sp>
      <p:pic>
        <p:nvPicPr>
          <p:cNvPr id="9" name="Image 0" descr="/mnt/data/ppt_extract/ppt/media/image9.png"/>
          <p:cNvPicPr>
            <a:picLocks noChangeAspect="1"/>
          </p:cNvPicPr>
          <p:nvPr/>
        </p:nvPicPr>
        <p:blipFill>
          <a:blip r:embed="rId3"/>
          <a:stretch>
            <a:fillRect/>
          </a:stretch>
        </p:blipFill>
        <p:spPr>
          <a:xfrm>
            <a:off x="996696" y="1618488"/>
            <a:ext cx="256032" cy="256032"/>
          </a:xfrm>
          <a:prstGeom prst="rect">
            <a:avLst/>
          </a:prstGeom>
        </p:spPr>
      </p:pic>
      <p:sp>
        <p:nvSpPr>
          <p:cNvPr id="10" name="Text 7"/>
          <p:cNvSpPr/>
          <p:nvPr/>
        </p:nvSpPr>
        <p:spPr>
          <a:xfrm>
            <a:off x="1444752" y="1627632"/>
            <a:ext cx="1188720" cy="164592"/>
          </a:xfrm>
          <a:prstGeom prst="rect">
            <a:avLst/>
          </a:prstGeom>
          <a:noFill/>
          <a:ln/>
        </p:spPr>
        <p:txBody>
          <a:bodyPr wrap="square" lIns="0" tIns="0" rIns="0" bIns="0" rtlCol="0" anchor="ctr"/>
          <a:lstStyle/>
          <a:p>
            <a:pPr marL="0" indent="0">
              <a:buNone/>
            </a:pPr>
            <a:r>
              <a:rPr lang="en-US" sz="1050" b="1" dirty="0">
                <a:solidFill>
                  <a:srgbClr val="F8FAFC"/>
                </a:solidFill>
                <a:latin typeface="Aptos" pitchFamily="34" charset="0"/>
                <a:ea typeface="Aptos" pitchFamily="34" charset="-122"/>
                <a:cs typeface="Aptos" pitchFamily="34" charset="-120"/>
              </a:rPr>
              <a:t>ChatGPT</a:t>
            </a:r>
            <a:endParaRPr lang="en-US" sz="1050" dirty="0"/>
          </a:p>
        </p:txBody>
      </p:sp>
      <p:sp>
        <p:nvSpPr>
          <p:cNvPr id="11" name="Text 8"/>
          <p:cNvSpPr/>
          <p:nvPr/>
        </p:nvSpPr>
        <p:spPr>
          <a:xfrm>
            <a:off x="1097280" y="2084832"/>
            <a:ext cx="1737360" cy="1097280"/>
          </a:xfrm>
          <a:prstGeom prst="rect">
            <a:avLst/>
          </a:prstGeom>
          <a:noFill/>
          <a:ln/>
        </p:spPr>
        <p:txBody>
          <a:bodyPr wrap="square" lIns="254" tIns="254" rIns="254" bIns="254" rtlCol="0" anchor="ctr">
            <a:normAutofit/>
          </a:bodyPr>
          <a:lstStyle/>
          <a:p>
            <a:r>
              <a:rPr lang="en-US" sz="800" dirty="0">
                <a:solidFill>
                  <a:srgbClr val="A7B3C6"/>
                </a:solidFill>
                <a:latin typeface="Aptos" pitchFamily="34" charset="0"/>
                <a:ea typeface="Aptos" pitchFamily="34" charset="-122"/>
                <a:cs typeface="Aptos" pitchFamily="34" charset="-120"/>
              </a:rPr>
              <a:t>Product framing</a:t>
            </a:r>
            <a:endParaRPr lang="en-US" sz="800" dirty="0"/>
          </a:p>
          <a:p>
            <a:r>
              <a:rPr lang="en-US" sz="800" dirty="0">
                <a:solidFill>
                  <a:srgbClr val="A7B3C6"/>
                </a:solidFill>
                <a:latin typeface="Aptos" pitchFamily="34" charset="0"/>
                <a:ea typeface="Aptos" pitchFamily="34" charset="-122"/>
                <a:cs typeface="Aptos" pitchFamily="34" charset="-120"/>
              </a:rPr>
              <a:t>Architecture options</a:t>
            </a:r>
            <a:endParaRPr lang="en-US" sz="800" dirty="0"/>
          </a:p>
          <a:p>
            <a:r>
              <a:rPr lang="en-US" sz="800" dirty="0">
                <a:solidFill>
                  <a:srgbClr val="A7B3C6"/>
                </a:solidFill>
                <a:latin typeface="Aptos" pitchFamily="34" charset="0"/>
                <a:ea typeface="Aptos" pitchFamily="34" charset="-122"/>
                <a:cs typeface="Aptos" pitchFamily="34" charset="-120"/>
              </a:rPr>
              <a:t>Prompt design</a:t>
            </a:r>
            <a:endParaRPr lang="en-US" sz="800" dirty="0"/>
          </a:p>
          <a:p>
            <a:r>
              <a:rPr lang="en-US" sz="800" dirty="0">
                <a:solidFill>
                  <a:srgbClr val="A7B3C6"/>
                </a:solidFill>
                <a:latin typeface="Aptos" pitchFamily="34" charset="0"/>
                <a:ea typeface="Aptos" pitchFamily="34" charset="-122"/>
                <a:cs typeface="Aptos" pitchFamily="34" charset="-120"/>
              </a:rPr>
              <a:t>Troubleshooting</a:t>
            </a:r>
            <a:endParaRPr lang="en-US" sz="800" dirty="0"/>
          </a:p>
          <a:p>
            <a:r>
              <a:rPr lang="en-US" sz="800" dirty="0">
                <a:solidFill>
                  <a:srgbClr val="A7B3C6"/>
                </a:solidFill>
                <a:latin typeface="Aptos" pitchFamily="34" charset="0"/>
                <a:ea typeface="Aptos" pitchFamily="34" charset="-122"/>
                <a:cs typeface="Aptos" pitchFamily="34" charset="-120"/>
              </a:rPr>
              <a:t>“What should I build next?”</a:t>
            </a:r>
            <a:endParaRPr lang="en-US" sz="800" dirty="0"/>
          </a:p>
        </p:txBody>
      </p:sp>
      <p:sp>
        <p:nvSpPr>
          <p:cNvPr id="12" name="Shape 9"/>
          <p:cNvSpPr/>
          <p:nvPr/>
        </p:nvSpPr>
        <p:spPr>
          <a:xfrm>
            <a:off x="3520440" y="1298448"/>
            <a:ext cx="2377440" cy="2514600"/>
          </a:xfrm>
          <a:prstGeom prst="roundRect">
            <a:avLst/>
          </a:prstGeom>
          <a:solidFill>
            <a:srgbClr val="111A2D"/>
          </a:solidFill>
          <a:ln w="12700">
            <a:solidFill>
              <a:srgbClr val="111A2D"/>
            </a:solidFill>
            <a:prstDash val="solid"/>
          </a:ln>
        </p:spPr>
        <p:txBody>
          <a:bodyPr/>
          <a:lstStyle/>
          <a:p>
            <a:endParaRPr lang="en-US"/>
          </a:p>
        </p:txBody>
      </p:sp>
      <p:sp>
        <p:nvSpPr>
          <p:cNvPr id="13" name="Shape 10"/>
          <p:cNvSpPr/>
          <p:nvPr/>
        </p:nvSpPr>
        <p:spPr>
          <a:xfrm>
            <a:off x="3721608" y="1554480"/>
            <a:ext cx="384048" cy="384048"/>
          </a:xfrm>
          <a:prstGeom prst="ellipse">
            <a:avLst/>
          </a:prstGeom>
          <a:solidFill>
            <a:srgbClr val="12BFE2"/>
          </a:solidFill>
          <a:ln w="12700">
            <a:solidFill>
              <a:srgbClr val="12BFE2"/>
            </a:solidFill>
            <a:prstDash val="solid"/>
          </a:ln>
        </p:spPr>
        <p:txBody>
          <a:bodyPr/>
          <a:lstStyle/>
          <a:p>
            <a:endParaRPr lang="en-US"/>
          </a:p>
        </p:txBody>
      </p:sp>
      <p:pic>
        <p:nvPicPr>
          <p:cNvPr id="14" name="Image 1" descr="/mnt/data/ppt_extract/ppt/media/image23.png"/>
          <p:cNvPicPr>
            <a:picLocks noChangeAspect="1"/>
          </p:cNvPicPr>
          <p:nvPr/>
        </p:nvPicPr>
        <p:blipFill>
          <a:blip r:embed="rId4"/>
          <a:stretch>
            <a:fillRect/>
          </a:stretch>
        </p:blipFill>
        <p:spPr>
          <a:xfrm>
            <a:off x="3785616" y="1618488"/>
            <a:ext cx="256032" cy="256032"/>
          </a:xfrm>
          <a:prstGeom prst="rect">
            <a:avLst/>
          </a:prstGeom>
        </p:spPr>
      </p:pic>
      <p:sp>
        <p:nvSpPr>
          <p:cNvPr id="15" name="Text 11"/>
          <p:cNvSpPr/>
          <p:nvPr/>
        </p:nvSpPr>
        <p:spPr>
          <a:xfrm>
            <a:off x="4233672" y="1627632"/>
            <a:ext cx="1188720" cy="164592"/>
          </a:xfrm>
          <a:prstGeom prst="rect">
            <a:avLst/>
          </a:prstGeom>
          <a:noFill/>
          <a:ln/>
        </p:spPr>
        <p:txBody>
          <a:bodyPr wrap="square" lIns="0" tIns="0" rIns="0" bIns="0" rtlCol="0" anchor="ctr"/>
          <a:lstStyle/>
          <a:p>
            <a:pPr marL="0" indent="0">
              <a:buNone/>
            </a:pPr>
            <a:r>
              <a:rPr lang="en-US" sz="1050" b="1" dirty="0">
                <a:solidFill>
                  <a:srgbClr val="F8FAFC"/>
                </a:solidFill>
                <a:latin typeface="Aptos" pitchFamily="34" charset="0"/>
                <a:ea typeface="Aptos" pitchFamily="34" charset="-122"/>
                <a:cs typeface="Aptos" pitchFamily="34" charset="-120"/>
              </a:rPr>
              <a:t>Codex</a:t>
            </a:r>
            <a:endParaRPr lang="en-US" sz="1050" dirty="0"/>
          </a:p>
        </p:txBody>
      </p:sp>
      <p:sp>
        <p:nvSpPr>
          <p:cNvPr id="16" name="Text 12"/>
          <p:cNvSpPr/>
          <p:nvPr/>
        </p:nvSpPr>
        <p:spPr>
          <a:xfrm>
            <a:off x="3886200" y="2084832"/>
            <a:ext cx="1737360" cy="1097280"/>
          </a:xfrm>
          <a:prstGeom prst="rect">
            <a:avLst/>
          </a:prstGeom>
          <a:noFill/>
          <a:ln/>
        </p:spPr>
        <p:txBody>
          <a:bodyPr wrap="square" lIns="254" tIns="254" rIns="254" bIns="254" rtlCol="0" anchor="ctr">
            <a:normAutofit/>
          </a:bodyPr>
          <a:lstStyle/>
          <a:p>
            <a:r>
              <a:rPr lang="en-US" sz="800" dirty="0">
                <a:solidFill>
                  <a:srgbClr val="A7B3C6"/>
                </a:solidFill>
                <a:latin typeface="Aptos" pitchFamily="34" charset="0"/>
                <a:ea typeface="Aptos" pitchFamily="34" charset="-122"/>
                <a:cs typeface="Aptos" pitchFamily="34" charset="-120"/>
              </a:rPr>
              <a:t>Repo-aware implementation</a:t>
            </a:r>
            <a:endParaRPr lang="en-US" sz="800" dirty="0"/>
          </a:p>
          <a:p>
            <a:r>
              <a:rPr lang="en-US" sz="800" dirty="0">
                <a:solidFill>
                  <a:srgbClr val="A7B3C6"/>
                </a:solidFill>
                <a:latin typeface="Aptos" pitchFamily="34" charset="0"/>
                <a:ea typeface="Aptos" pitchFamily="34" charset="-122"/>
                <a:cs typeface="Aptos" pitchFamily="34" charset="-120"/>
              </a:rPr>
              <a:t>Routes and modules</a:t>
            </a:r>
            <a:endParaRPr lang="en-US" sz="800" dirty="0"/>
          </a:p>
          <a:p>
            <a:r>
              <a:rPr lang="en-US" sz="800" dirty="0">
                <a:solidFill>
                  <a:srgbClr val="A7B3C6"/>
                </a:solidFill>
                <a:latin typeface="Aptos" pitchFamily="34" charset="0"/>
                <a:ea typeface="Aptos" pitchFamily="34" charset="-122"/>
                <a:cs typeface="Aptos" pitchFamily="34" charset="-120"/>
              </a:rPr>
              <a:t>Multi-file refactors</a:t>
            </a:r>
            <a:endParaRPr lang="en-US" sz="800" dirty="0"/>
          </a:p>
          <a:p>
            <a:r>
              <a:rPr lang="en-US" sz="800" dirty="0">
                <a:solidFill>
                  <a:srgbClr val="A7B3C6"/>
                </a:solidFill>
                <a:latin typeface="Aptos" pitchFamily="34" charset="0"/>
                <a:ea typeface="Aptos" pitchFamily="34" charset="-122"/>
                <a:cs typeface="Aptos" pitchFamily="34" charset="-120"/>
              </a:rPr>
              <a:t>Tests and build loops</a:t>
            </a:r>
            <a:endParaRPr lang="en-US" sz="800" dirty="0"/>
          </a:p>
          <a:p>
            <a:r>
              <a:rPr lang="en-US" sz="800" dirty="0">
                <a:solidFill>
                  <a:srgbClr val="A7B3C6"/>
                </a:solidFill>
                <a:latin typeface="Aptos" pitchFamily="34" charset="0"/>
                <a:ea typeface="Aptos" pitchFamily="34" charset="-122"/>
                <a:cs typeface="Aptos" pitchFamily="34" charset="-120"/>
              </a:rPr>
              <a:t>Change summaries</a:t>
            </a:r>
            <a:endParaRPr lang="en-US" sz="800" dirty="0"/>
          </a:p>
        </p:txBody>
      </p:sp>
      <p:sp>
        <p:nvSpPr>
          <p:cNvPr id="17" name="Shape 13"/>
          <p:cNvSpPr/>
          <p:nvPr/>
        </p:nvSpPr>
        <p:spPr>
          <a:xfrm>
            <a:off x="6309360" y="1298448"/>
            <a:ext cx="2377440" cy="2514600"/>
          </a:xfrm>
          <a:prstGeom prst="roundRect">
            <a:avLst/>
          </a:prstGeom>
          <a:solidFill>
            <a:srgbClr val="111A2D"/>
          </a:solidFill>
          <a:ln w="12700">
            <a:solidFill>
              <a:srgbClr val="111A2D"/>
            </a:solidFill>
            <a:prstDash val="solid"/>
          </a:ln>
        </p:spPr>
        <p:txBody>
          <a:bodyPr/>
          <a:lstStyle/>
          <a:p>
            <a:endParaRPr lang="en-US"/>
          </a:p>
        </p:txBody>
      </p:sp>
      <p:sp>
        <p:nvSpPr>
          <p:cNvPr id="18" name="Shape 14"/>
          <p:cNvSpPr/>
          <p:nvPr/>
        </p:nvSpPr>
        <p:spPr>
          <a:xfrm>
            <a:off x="6510528" y="1554480"/>
            <a:ext cx="384048" cy="384048"/>
          </a:xfrm>
          <a:prstGeom prst="ellipse">
            <a:avLst/>
          </a:prstGeom>
          <a:solidFill>
            <a:srgbClr val="F59E0B"/>
          </a:solidFill>
          <a:ln w="12700">
            <a:solidFill>
              <a:srgbClr val="F59E0B"/>
            </a:solidFill>
            <a:prstDash val="solid"/>
          </a:ln>
        </p:spPr>
        <p:txBody>
          <a:bodyPr/>
          <a:lstStyle/>
          <a:p>
            <a:endParaRPr lang="en-US"/>
          </a:p>
        </p:txBody>
      </p:sp>
      <p:pic>
        <p:nvPicPr>
          <p:cNvPr id="19" name="Image 2" descr="/mnt/data/ppt_extract/ppt/media/image25.png"/>
          <p:cNvPicPr>
            <a:picLocks noChangeAspect="1"/>
          </p:cNvPicPr>
          <p:nvPr/>
        </p:nvPicPr>
        <p:blipFill>
          <a:blip r:embed="rId5"/>
          <a:stretch>
            <a:fillRect/>
          </a:stretch>
        </p:blipFill>
        <p:spPr>
          <a:xfrm>
            <a:off x="6574536" y="1618488"/>
            <a:ext cx="256032" cy="256032"/>
          </a:xfrm>
          <a:prstGeom prst="rect">
            <a:avLst/>
          </a:prstGeom>
        </p:spPr>
      </p:pic>
      <p:sp>
        <p:nvSpPr>
          <p:cNvPr id="20" name="Text 15"/>
          <p:cNvSpPr/>
          <p:nvPr/>
        </p:nvSpPr>
        <p:spPr>
          <a:xfrm>
            <a:off x="7022592" y="1627632"/>
            <a:ext cx="1188720" cy="164592"/>
          </a:xfrm>
          <a:prstGeom prst="rect">
            <a:avLst/>
          </a:prstGeom>
          <a:noFill/>
          <a:ln/>
        </p:spPr>
        <p:txBody>
          <a:bodyPr wrap="square" lIns="0" tIns="0" rIns="0" bIns="0" rtlCol="0" anchor="ctr"/>
          <a:lstStyle/>
          <a:p>
            <a:pPr marL="0" indent="0">
              <a:buNone/>
            </a:pPr>
            <a:r>
              <a:rPr lang="en-US" sz="1050" b="1" dirty="0">
                <a:solidFill>
                  <a:srgbClr val="F8FAFC"/>
                </a:solidFill>
                <a:latin typeface="Aptos" pitchFamily="34" charset="0"/>
                <a:ea typeface="Aptos" pitchFamily="34" charset="-122"/>
                <a:cs typeface="Aptos" pitchFamily="34" charset="-120"/>
              </a:rPr>
              <a:t>Claude / Cursor</a:t>
            </a:r>
            <a:endParaRPr lang="en-US" sz="1050" dirty="0"/>
          </a:p>
        </p:txBody>
      </p:sp>
      <p:sp>
        <p:nvSpPr>
          <p:cNvPr id="21" name="Text 16"/>
          <p:cNvSpPr/>
          <p:nvPr/>
        </p:nvSpPr>
        <p:spPr>
          <a:xfrm>
            <a:off x="6675120" y="2084832"/>
            <a:ext cx="1737360" cy="1097280"/>
          </a:xfrm>
          <a:prstGeom prst="rect">
            <a:avLst/>
          </a:prstGeom>
          <a:noFill/>
          <a:ln/>
        </p:spPr>
        <p:txBody>
          <a:bodyPr wrap="square" lIns="254" tIns="254" rIns="254" bIns="254" rtlCol="0" anchor="ctr">
            <a:normAutofit/>
          </a:bodyPr>
          <a:lstStyle/>
          <a:p>
            <a:r>
              <a:rPr lang="en-US" sz="800" dirty="0">
                <a:solidFill>
                  <a:srgbClr val="A7B3C6"/>
                </a:solidFill>
                <a:latin typeface="Aptos" pitchFamily="34" charset="0"/>
                <a:ea typeface="Aptos" pitchFamily="34" charset="-122"/>
                <a:cs typeface="Aptos" pitchFamily="34" charset="-120"/>
              </a:rPr>
              <a:t>UX critique</a:t>
            </a:r>
            <a:endParaRPr lang="en-US" sz="800" dirty="0"/>
          </a:p>
          <a:p>
            <a:r>
              <a:rPr lang="en-US" sz="800" dirty="0">
                <a:solidFill>
                  <a:srgbClr val="A7B3C6"/>
                </a:solidFill>
                <a:latin typeface="Aptos" pitchFamily="34" charset="0"/>
                <a:ea typeface="Aptos" pitchFamily="34" charset="-122"/>
                <a:cs typeface="Aptos" pitchFamily="34" charset="-120"/>
              </a:rPr>
              <a:t>Educational flow review</a:t>
            </a:r>
            <a:endParaRPr lang="en-US" sz="800" dirty="0"/>
          </a:p>
          <a:p>
            <a:r>
              <a:rPr lang="en-US" sz="800" dirty="0">
                <a:solidFill>
                  <a:srgbClr val="A7B3C6"/>
                </a:solidFill>
                <a:latin typeface="Aptos" pitchFamily="34" charset="0"/>
                <a:ea typeface="Aptos" pitchFamily="34" charset="-122"/>
                <a:cs typeface="Aptos" pitchFamily="34" charset="-120"/>
              </a:rPr>
              <a:t>Navigation redesign</a:t>
            </a:r>
            <a:endParaRPr lang="en-US" sz="800" dirty="0"/>
          </a:p>
          <a:p>
            <a:r>
              <a:rPr lang="en-US" sz="800" dirty="0">
                <a:solidFill>
                  <a:srgbClr val="A7B3C6"/>
                </a:solidFill>
                <a:latin typeface="Aptos" pitchFamily="34" charset="0"/>
                <a:ea typeface="Aptos" pitchFamily="34" charset="-122"/>
                <a:cs typeface="Aptos" pitchFamily="34" charset="-120"/>
              </a:rPr>
              <a:t>Targeted edits</a:t>
            </a:r>
            <a:endParaRPr lang="en-US" sz="800" dirty="0"/>
          </a:p>
          <a:p>
            <a:r>
              <a:rPr lang="en-US" sz="800" dirty="0">
                <a:solidFill>
                  <a:srgbClr val="A7B3C6"/>
                </a:solidFill>
                <a:latin typeface="Aptos" pitchFamily="34" charset="0"/>
                <a:ea typeface="Aptos" pitchFamily="34" charset="-122"/>
                <a:cs typeface="Aptos" pitchFamily="34" charset="-120"/>
              </a:rPr>
              <a:t>“What feels scaffold-like?”</a:t>
            </a:r>
            <a:endParaRPr lang="en-US" sz="800" dirty="0"/>
          </a:p>
        </p:txBody>
      </p:sp>
      <p:sp>
        <p:nvSpPr>
          <p:cNvPr id="22" name="Text 17"/>
          <p:cNvSpPr/>
          <p:nvPr/>
        </p:nvSpPr>
        <p:spPr>
          <a:xfrm>
            <a:off x="1097280" y="4224528"/>
            <a:ext cx="6949440" cy="164592"/>
          </a:xfrm>
          <a:prstGeom prst="rect">
            <a:avLst/>
          </a:prstGeom>
          <a:noFill/>
          <a:ln/>
        </p:spPr>
        <p:txBody>
          <a:bodyPr wrap="square" lIns="0" tIns="0" rIns="0" bIns="0" rtlCol="0" anchor="ctr"/>
          <a:lstStyle/>
          <a:p>
            <a:pPr marL="0" indent="0" algn="ctr">
              <a:buNone/>
            </a:pPr>
            <a:r>
              <a:rPr lang="en-US" sz="820" b="1" dirty="0">
                <a:solidFill>
                  <a:srgbClr val="F59E0B"/>
                </a:solidFill>
                <a:latin typeface="Aptos" pitchFamily="34" charset="0"/>
                <a:ea typeface="Aptos" pitchFamily="34" charset="-122"/>
                <a:cs typeface="Aptos" pitchFamily="34" charset="-120"/>
              </a:rPr>
              <a:t>This felt less like using one chatbot and more like directing different consultants.</a:t>
            </a:r>
            <a:endParaRPr lang="en-US" sz="82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70D1A"/>
        </a:solidFill>
        <a:effectLst/>
      </p:bgPr>
    </p:bg>
    <p:spTree>
      <p:nvGrpSpPr>
        <p:cNvPr id="1" name=""/>
        <p:cNvGrpSpPr/>
        <p:nvPr/>
      </p:nvGrpSpPr>
      <p:grpSpPr>
        <a:xfrm>
          <a:off x="0" y="0"/>
          <a:ext cx="0" cy="0"/>
          <a:chOff x="0" y="0"/>
          <a:chExt cx="0" cy="0"/>
        </a:xfrm>
      </p:grpSpPr>
      <p:sp>
        <p:nvSpPr>
          <p:cNvPr id="2" name="Text 0"/>
          <p:cNvSpPr/>
          <p:nvPr/>
        </p:nvSpPr>
        <p:spPr>
          <a:xfrm>
            <a:off x="411480" y="274320"/>
            <a:ext cx="3474720" cy="146304"/>
          </a:xfrm>
          <a:prstGeom prst="rect">
            <a:avLst/>
          </a:prstGeom>
          <a:noFill/>
          <a:ln/>
        </p:spPr>
        <p:txBody>
          <a:bodyPr wrap="square" lIns="0" tIns="0" rIns="0" bIns="0" rtlCol="0" anchor="ctr"/>
          <a:lstStyle/>
          <a:p>
            <a:pPr marL="0" indent="0">
              <a:buNone/>
            </a:pPr>
            <a:r>
              <a:rPr lang="en-US" sz="650" b="1" dirty="0">
                <a:solidFill>
                  <a:srgbClr val="12BFE2"/>
                </a:solidFill>
                <a:latin typeface="Aptos" pitchFamily="34" charset="0"/>
                <a:ea typeface="Aptos" pitchFamily="34" charset="-122"/>
                <a:cs typeface="Aptos" pitchFamily="34" charset="-120"/>
              </a:rPr>
              <a:t>THE PROCESS</a:t>
            </a:r>
            <a:endParaRPr lang="en-US" sz="650" dirty="0"/>
          </a:p>
        </p:txBody>
      </p:sp>
      <p:sp>
        <p:nvSpPr>
          <p:cNvPr id="3" name="Text 1"/>
          <p:cNvSpPr/>
          <p:nvPr/>
        </p:nvSpPr>
        <p:spPr>
          <a:xfrm>
            <a:off x="411480" y="612648"/>
            <a:ext cx="5669280" cy="384048"/>
          </a:xfrm>
          <a:prstGeom prst="rect">
            <a:avLst/>
          </a:prstGeom>
          <a:noFill/>
          <a:ln/>
        </p:spPr>
        <p:txBody>
          <a:bodyPr wrap="square" lIns="0" tIns="0" rIns="0" bIns="0" rtlCol="0" anchor="ctr">
            <a:normAutofit/>
          </a:bodyPr>
          <a:lstStyle/>
          <a:p>
            <a:pPr marL="0" indent="0">
              <a:buNone/>
            </a:pPr>
            <a:r>
              <a:rPr lang="en-US" sz="2100" b="1" dirty="0">
                <a:solidFill>
                  <a:srgbClr val="F8FAFC"/>
                </a:solidFill>
                <a:latin typeface="Aptos Display" pitchFamily="34" charset="0"/>
                <a:ea typeface="Aptos Display" pitchFamily="34" charset="-122"/>
                <a:cs typeface="Aptos Display" pitchFamily="34" charset="-120"/>
              </a:rPr>
              <a:t>The work was not “one prompt and done”</a:t>
            </a:r>
            <a:endParaRPr lang="en-US" sz="2100" dirty="0"/>
          </a:p>
        </p:txBody>
      </p:sp>
      <p:sp>
        <p:nvSpPr>
          <p:cNvPr id="4" name="Text 2"/>
          <p:cNvSpPr/>
          <p:nvPr/>
        </p:nvSpPr>
        <p:spPr>
          <a:xfrm>
            <a:off x="411480" y="4828032"/>
            <a:ext cx="4754880" cy="109728"/>
          </a:xfrm>
          <a:prstGeom prst="rect">
            <a:avLst/>
          </a:prstGeom>
          <a:noFill/>
          <a:ln/>
        </p:spPr>
        <p:txBody>
          <a:bodyPr wrap="square" lIns="0" tIns="0" rIns="0" bIns="0" rtlCol="0" anchor="ctr"/>
          <a:lstStyle/>
          <a:p>
            <a:pPr marL="0" indent="0">
              <a:buNone/>
            </a:pPr>
            <a:r>
              <a:rPr lang="en-US" sz="550" dirty="0">
                <a:solidFill>
                  <a:srgbClr val="5F6B7A"/>
                </a:solidFill>
                <a:latin typeface="Aptos" pitchFamily="34" charset="0"/>
                <a:ea typeface="Aptos" pitchFamily="34" charset="-122"/>
                <a:cs typeface="Aptos" pitchFamily="34" charset="-120"/>
              </a:rPr>
              <a:t>AABIP Webinar 2026  |  AI in Interventional Pulmonology</a:t>
            </a:r>
            <a:endParaRPr lang="en-US" sz="550" dirty="0"/>
          </a:p>
        </p:txBody>
      </p:sp>
      <p:sp>
        <p:nvSpPr>
          <p:cNvPr id="5" name="Text 3"/>
          <p:cNvSpPr/>
          <p:nvPr/>
        </p:nvSpPr>
        <p:spPr>
          <a:xfrm>
            <a:off x="8366760" y="4828032"/>
            <a:ext cx="365760" cy="109728"/>
          </a:xfrm>
          <a:prstGeom prst="rect">
            <a:avLst/>
          </a:prstGeom>
          <a:noFill/>
          <a:ln/>
        </p:spPr>
        <p:txBody>
          <a:bodyPr wrap="square" lIns="0" tIns="0" rIns="0" bIns="0" rtlCol="0" anchor="ctr"/>
          <a:lstStyle/>
          <a:p>
            <a:pPr marL="0" indent="0" algn="r">
              <a:buNone/>
            </a:pPr>
            <a:r>
              <a:rPr lang="en-US" sz="550" dirty="0">
                <a:solidFill>
                  <a:srgbClr val="5F6B7A"/>
                </a:solidFill>
                <a:latin typeface="Aptos" pitchFamily="34" charset="0"/>
                <a:ea typeface="Aptos" pitchFamily="34" charset="-122"/>
                <a:cs typeface="Aptos" pitchFamily="34" charset="-120"/>
              </a:rPr>
              <a:t>10 / 22</a:t>
            </a:r>
            <a:endParaRPr lang="en-US" sz="550" dirty="0"/>
          </a:p>
        </p:txBody>
      </p:sp>
      <p:sp>
        <p:nvSpPr>
          <p:cNvPr id="6" name="Shape 4"/>
          <p:cNvSpPr/>
          <p:nvPr/>
        </p:nvSpPr>
        <p:spPr>
          <a:xfrm>
            <a:off x="411480" y="1060704"/>
            <a:ext cx="1143000" cy="0"/>
          </a:xfrm>
          <a:prstGeom prst="line">
            <a:avLst/>
          </a:prstGeom>
          <a:noFill/>
          <a:ln w="15240">
            <a:solidFill>
              <a:srgbClr val="12BFE2"/>
            </a:solidFill>
            <a:prstDash val="solid"/>
          </a:ln>
        </p:spPr>
        <p:txBody>
          <a:bodyPr/>
          <a:lstStyle/>
          <a:p>
            <a:endParaRPr lang="en-US"/>
          </a:p>
        </p:txBody>
      </p:sp>
      <p:sp>
        <p:nvSpPr>
          <p:cNvPr id="7" name="Shape 5"/>
          <p:cNvSpPr/>
          <p:nvPr/>
        </p:nvSpPr>
        <p:spPr>
          <a:xfrm>
            <a:off x="1508760" y="1600200"/>
            <a:ext cx="539496" cy="0"/>
          </a:xfrm>
          <a:prstGeom prst="line">
            <a:avLst/>
          </a:prstGeom>
          <a:noFill/>
          <a:ln w="12700">
            <a:solidFill>
              <a:srgbClr val="1F8EA3"/>
            </a:solidFill>
            <a:prstDash val="solid"/>
            <a:tailEnd type="triangle"/>
          </a:ln>
        </p:spPr>
        <p:txBody>
          <a:bodyPr/>
          <a:lstStyle/>
          <a:p>
            <a:endParaRPr lang="en-US"/>
          </a:p>
        </p:txBody>
      </p:sp>
      <p:sp>
        <p:nvSpPr>
          <p:cNvPr id="8" name="Shape 6"/>
          <p:cNvSpPr/>
          <p:nvPr/>
        </p:nvSpPr>
        <p:spPr>
          <a:xfrm>
            <a:off x="658368" y="1389888"/>
            <a:ext cx="420624" cy="420624"/>
          </a:xfrm>
          <a:prstGeom prst="ellipse">
            <a:avLst/>
          </a:prstGeom>
          <a:solidFill>
            <a:srgbClr val="12BFE2"/>
          </a:solidFill>
          <a:ln w="12700">
            <a:solidFill>
              <a:srgbClr val="12BFE2"/>
            </a:solidFill>
            <a:prstDash val="solid"/>
          </a:ln>
        </p:spPr>
        <p:txBody>
          <a:bodyPr/>
          <a:lstStyle/>
          <a:p>
            <a:endParaRPr lang="en-US"/>
          </a:p>
        </p:txBody>
      </p:sp>
      <p:sp>
        <p:nvSpPr>
          <p:cNvPr id="9" name="Text 7"/>
          <p:cNvSpPr/>
          <p:nvPr/>
        </p:nvSpPr>
        <p:spPr>
          <a:xfrm>
            <a:off x="658368" y="1481328"/>
            <a:ext cx="420624" cy="109728"/>
          </a:xfrm>
          <a:prstGeom prst="rect">
            <a:avLst/>
          </a:prstGeom>
          <a:noFill/>
          <a:ln/>
        </p:spPr>
        <p:txBody>
          <a:bodyPr wrap="square" lIns="0" tIns="0" rIns="0" bIns="0" rtlCol="0" anchor="ctr"/>
          <a:lstStyle/>
          <a:p>
            <a:pPr marL="0" indent="0" algn="ctr">
              <a:buNone/>
            </a:pPr>
            <a:r>
              <a:rPr lang="en-US" sz="750" b="1" dirty="0">
                <a:solidFill>
                  <a:srgbClr val="070D1A"/>
                </a:solidFill>
                <a:latin typeface="Aptos" pitchFamily="34" charset="0"/>
                <a:ea typeface="Aptos" pitchFamily="34" charset="-122"/>
                <a:cs typeface="Aptos" pitchFamily="34" charset="-120"/>
              </a:rPr>
              <a:t>1</a:t>
            </a:r>
            <a:endParaRPr lang="en-US" sz="750" dirty="0"/>
          </a:p>
        </p:txBody>
      </p:sp>
      <p:sp>
        <p:nvSpPr>
          <p:cNvPr id="10" name="Text 8"/>
          <p:cNvSpPr/>
          <p:nvPr/>
        </p:nvSpPr>
        <p:spPr>
          <a:xfrm>
            <a:off x="457200" y="1965960"/>
            <a:ext cx="822960" cy="128016"/>
          </a:xfrm>
          <a:prstGeom prst="rect">
            <a:avLst/>
          </a:prstGeom>
          <a:noFill/>
          <a:ln/>
        </p:spPr>
        <p:txBody>
          <a:bodyPr wrap="square" lIns="0" tIns="0" rIns="0" bIns="0" rtlCol="0" anchor="ctr"/>
          <a:lstStyle/>
          <a:p>
            <a:pPr marL="0" indent="0" algn="ctr">
              <a:buNone/>
            </a:pPr>
            <a:r>
              <a:rPr lang="en-US" sz="780" b="1" dirty="0">
                <a:solidFill>
                  <a:srgbClr val="F8FAFC"/>
                </a:solidFill>
                <a:latin typeface="Aptos" pitchFamily="34" charset="0"/>
                <a:ea typeface="Aptos" pitchFamily="34" charset="-122"/>
                <a:cs typeface="Aptos" pitchFamily="34" charset="-120"/>
              </a:rPr>
              <a:t>Specify</a:t>
            </a:r>
            <a:endParaRPr lang="en-US" sz="780" dirty="0"/>
          </a:p>
        </p:txBody>
      </p:sp>
      <p:sp>
        <p:nvSpPr>
          <p:cNvPr id="11" name="Text 9"/>
          <p:cNvSpPr/>
          <p:nvPr/>
        </p:nvSpPr>
        <p:spPr>
          <a:xfrm>
            <a:off x="329184" y="2212848"/>
            <a:ext cx="1060704" cy="256032"/>
          </a:xfrm>
          <a:prstGeom prst="rect">
            <a:avLst/>
          </a:prstGeom>
          <a:noFill/>
          <a:ln/>
        </p:spPr>
        <p:txBody>
          <a:bodyPr wrap="square" lIns="0" tIns="0" rIns="0" bIns="0" rtlCol="0" anchor="ctr">
            <a:normAutofit/>
          </a:bodyPr>
          <a:lstStyle/>
          <a:p>
            <a:pPr marL="0" indent="0" algn="ctr">
              <a:buNone/>
            </a:pPr>
            <a:r>
              <a:rPr lang="en-US" sz="620" dirty="0">
                <a:solidFill>
                  <a:srgbClr val="A7B3C6"/>
                </a:solidFill>
                <a:latin typeface="Aptos" pitchFamily="34" charset="0"/>
                <a:ea typeface="Aptos" pitchFamily="34" charset="-122"/>
                <a:cs typeface="Aptos" pitchFamily="34" charset="-120"/>
              </a:rPr>
              <a:t>bounded clinical task</a:t>
            </a:r>
            <a:endParaRPr lang="en-US" sz="620" dirty="0"/>
          </a:p>
        </p:txBody>
      </p:sp>
      <p:sp>
        <p:nvSpPr>
          <p:cNvPr id="12" name="Shape 10"/>
          <p:cNvSpPr/>
          <p:nvPr/>
        </p:nvSpPr>
        <p:spPr>
          <a:xfrm>
            <a:off x="3108960" y="1600200"/>
            <a:ext cx="539496" cy="0"/>
          </a:xfrm>
          <a:prstGeom prst="line">
            <a:avLst/>
          </a:prstGeom>
          <a:noFill/>
          <a:ln w="12700">
            <a:solidFill>
              <a:srgbClr val="1F8EA3"/>
            </a:solidFill>
            <a:prstDash val="solid"/>
            <a:tailEnd type="triangle"/>
          </a:ln>
        </p:spPr>
        <p:txBody>
          <a:bodyPr/>
          <a:lstStyle/>
          <a:p>
            <a:endParaRPr lang="en-US"/>
          </a:p>
        </p:txBody>
      </p:sp>
      <p:sp>
        <p:nvSpPr>
          <p:cNvPr id="13" name="Shape 11"/>
          <p:cNvSpPr/>
          <p:nvPr/>
        </p:nvSpPr>
        <p:spPr>
          <a:xfrm>
            <a:off x="2258568" y="1389888"/>
            <a:ext cx="420624" cy="420624"/>
          </a:xfrm>
          <a:prstGeom prst="ellipse">
            <a:avLst/>
          </a:prstGeom>
          <a:solidFill>
            <a:srgbClr val="12BFE2"/>
          </a:solidFill>
          <a:ln w="12700">
            <a:solidFill>
              <a:srgbClr val="12BFE2"/>
            </a:solidFill>
            <a:prstDash val="solid"/>
          </a:ln>
        </p:spPr>
        <p:txBody>
          <a:bodyPr/>
          <a:lstStyle/>
          <a:p>
            <a:endParaRPr lang="en-US"/>
          </a:p>
        </p:txBody>
      </p:sp>
      <p:sp>
        <p:nvSpPr>
          <p:cNvPr id="14" name="Text 12"/>
          <p:cNvSpPr/>
          <p:nvPr/>
        </p:nvSpPr>
        <p:spPr>
          <a:xfrm>
            <a:off x="2258568" y="1481328"/>
            <a:ext cx="420624" cy="109728"/>
          </a:xfrm>
          <a:prstGeom prst="rect">
            <a:avLst/>
          </a:prstGeom>
          <a:noFill/>
          <a:ln/>
        </p:spPr>
        <p:txBody>
          <a:bodyPr wrap="square" lIns="0" tIns="0" rIns="0" bIns="0" rtlCol="0" anchor="ctr"/>
          <a:lstStyle/>
          <a:p>
            <a:pPr marL="0" indent="0" algn="ctr">
              <a:buNone/>
            </a:pPr>
            <a:r>
              <a:rPr lang="en-US" sz="750" b="1" dirty="0">
                <a:solidFill>
                  <a:srgbClr val="070D1A"/>
                </a:solidFill>
                <a:latin typeface="Aptos" pitchFamily="34" charset="0"/>
                <a:ea typeface="Aptos" pitchFamily="34" charset="-122"/>
                <a:cs typeface="Aptos" pitchFamily="34" charset="-120"/>
              </a:rPr>
              <a:t>2</a:t>
            </a:r>
            <a:endParaRPr lang="en-US" sz="750" dirty="0"/>
          </a:p>
        </p:txBody>
      </p:sp>
      <p:sp>
        <p:nvSpPr>
          <p:cNvPr id="15" name="Text 13"/>
          <p:cNvSpPr/>
          <p:nvPr/>
        </p:nvSpPr>
        <p:spPr>
          <a:xfrm>
            <a:off x="2057400" y="1965960"/>
            <a:ext cx="822960" cy="128016"/>
          </a:xfrm>
          <a:prstGeom prst="rect">
            <a:avLst/>
          </a:prstGeom>
          <a:noFill/>
          <a:ln/>
        </p:spPr>
        <p:txBody>
          <a:bodyPr wrap="square" lIns="0" tIns="0" rIns="0" bIns="0" rtlCol="0" anchor="ctr"/>
          <a:lstStyle/>
          <a:p>
            <a:pPr marL="0" indent="0" algn="ctr">
              <a:buNone/>
            </a:pPr>
            <a:r>
              <a:rPr lang="en-US" sz="780" b="1" dirty="0">
                <a:solidFill>
                  <a:srgbClr val="F8FAFC"/>
                </a:solidFill>
                <a:latin typeface="Aptos" pitchFamily="34" charset="0"/>
                <a:ea typeface="Aptos" pitchFamily="34" charset="-122"/>
                <a:cs typeface="Aptos" pitchFamily="34" charset="-120"/>
              </a:rPr>
              <a:t>Build</a:t>
            </a:r>
            <a:endParaRPr lang="en-US" sz="780" dirty="0"/>
          </a:p>
        </p:txBody>
      </p:sp>
      <p:sp>
        <p:nvSpPr>
          <p:cNvPr id="16" name="Text 14"/>
          <p:cNvSpPr/>
          <p:nvPr/>
        </p:nvSpPr>
        <p:spPr>
          <a:xfrm>
            <a:off x="1929384" y="2212848"/>
            <a:ext cx="1060704" cy="256032"/>
          </a:xfrm>
          <a:prstGeom prst="rect">
            <a:avLst/>
          </a:prstGeom>
          <a:noFill/>
          <a:ln/>
        </p:spPr>
        <p:txBody>
          <a:bodyPr wrap="square" lIns="0" tIns="0" rIns="0" bIns="0" rtlCol="0" anchor="ctr">
            <a:normAutofit/>
          </a:bodyPr>
          <a:lstStyle/>
          <a:p>
            <a:pPr marL="0" indent="0" algn="ctr">
              <a:buNone/>
            </a:pPr>
            <a:r>
              <a:rPr lang="en-US" sz="620" dirty="0">
                <a:solidFill>
                  <a:srgbClr val="A7B3C6"/>
                </a:solidFill>
                <a:latin typeface="Aptos" pitchFamily="34" charset="0"/>
                <a:ea typeface="Aptos" pitchFamily="34" charset="-122"/>
                <a:cs typeface="Aptos" pitchFamily="34" charset="-120"/>
              </a:rPr>
              <a:t>AI changes code/content</a:t>
            </a:r>
            <a:endParaRPr lang="en-US" sz="620" dirty="0"/>
          </a:p>
        </p:txBody>
      </p:sp>
      <p:sp>
        <p:nvSpPr>
          <p:cNvPr id="17" name="Shape 15"/>
          <p:cNvSpPr/>
          <p:nvPr/>
        </p:nvSpPr>
        <p:spPr>
          <a:xfrm>
            <a:off x="4709160" y="1600200"/>
            <a:ext cx="539496" cy="0"/>
          </a:xfrm>
          <a:prstGeom prst="line">
            <a:avLst/>
          </a:prstGeom>
          <a:noFill/>
          <a:ln w="12700">
            <a:solidFill>
              <a:srgbClr val="1F8EA3"/>
            </a:solidFill>
            <a:prstDash val="solid"/>
            <a:tailEnd type="triangle"/>
          </a:ln>
        </p:spPr>
        <p:txBody>
          <a:bodyPr/>
          <a:lstStyle/>
          <a:p>
            <a:endParaRPr lang="en-US"/>
          </a:p>
        </p:txBody>
      </p:sp>
      <p:sp>
        <p:nvSpPr>
          <p:cNvPr id="18" name="Shape 16"/>
          <p:cNvSpPr/>
          <p:nvPr/>
        </p:nvSpPr>
        <p:spPr>
          <a:xfrm>
            <a:off x="3858768" y="1389888"/>
            <a:ext cx="420624" cy="420624"/>
          </a:xfrm>
          <a:prstGeom prst="ellipse">
            <a:avLst/>
          </a:prstGeom>
          <a:solidFill>
            <a:srgbClr val="12BFE2"/>
          </a:solidFill>
          <a:ln w="12700">
            <a:solidFill>
              <a:srgbClr val="12BFE2"/>
            </a:solidFill>
            <a:prstDash val="solid"/>
          </a:ln>
        </p:spPr>
        <p:txBody>
          <a:bodyPr/>
          <a:lstStyle/>
          <a:p>
            <a:endParaRPr lang="en-US"/>
          </a:p>
        </p:txBody>
      </p:sp>
      <p:sp>
        <p:nvSpPr>
          <p:cNvPr id="19" name="Text 17"/>
          <p:cNvSpPr/>
          <p:nvPr/>
        </p:nvSpPr>
        <p:spPr>
          <a:xfrm>
            <a:off x="3858768" y="1481328"/>
            <a:ext cx="420624" cy="109728"/>
          </a:xfrm>
          <a:prstGeom prst="rect">
            <a:avLst/>
          </a:prstGeom>
          <a:noFill/>
          <a:ln/>
        </p:spPr>
        <p:txBody>
          <a:bodyPr wrap="square" lIns="0" tIns="0" rIns="0" bIns="0" rtlCol="0" anchor="ctr"/>
          <a:lstStyle/>
          <a:p>
            <a:pPr marL="0" indent="0" algn="ctr">
              <a:buNone/>
            </a:pPr>
            <a:r>
              <a:rPr lang="en-US" sz="750" b="1" dirty="0">
                <a:solidFill>
                  <a:srgbClr val="070D1A"/>
                </a:solidFill>
                <a:latin typeface="Aptos" pitchFamily="34" charset="0"/>
                <a:ea typeface="Aptos" pitchFamily="34" charset="-122"/>
                <a:cs typeface="Aptos" pitchFamily="34" charset="-120"/>
              </a:rPr>
              <a:t>3</a:t>
            </a:r>
            <a:endParaRPr lang="en-US" sz="750" dirty="0"/>
          </a:p>
        </p:txBody>
      </p:sp>
      <p:sp>
        <p:nvSpPr>
          <p:cNvPr id="20" name="Text 18"/>
          <p:cNvSpPr/>
          <p:nvPr/>
        </p:nvSpPr>
        <p:spPr>
          <a:xfrm>
            <a:off x="3657600" y="1965960"/>
            <a:ext cx="822960" cy="128016"/>
          </a:xfrm>
          <a:prstGeom prst="rect">
            <a:avLst/>
          </a:prstGeom>
          <a:noFill/>
          <a:ln/>
        </p:spPr>
        <p:txBody>
          <a:bodyPr wrap="square" lIns="0" tIns="0" rIns="0" bIns="0" rtlCol="0" anchor="ctr"/>
          <a:lstStyle/>
          <a:p>
            <a:pPr marL="0" indent="0" algn="ctr">
              <a:buNone/>
            </a:pPr>
            <a:r>
              <a:rPr lang="en-US" sz="780" b="1" dirty="0">
                <a:solidFill>
                  <a:srgbClr val="F8FAFC"/>
                </a:solidFill>
                <a:latin typeface="Aptos" pitchFamily="34" charset="0"/>
                <a:ea typeface="Aptos" pitchFamily="34" charset="-122"/>
                <a:cs typeface="Aptos" pitchFamily="34" charset="-120"/>
              </a:rPr>
              <a:t>Run</a:t>
            </a:r>
            <a:endParaRPr lang="en-US" sz="780" dirty="0"/>
          </a:p>
        </p:txBody>
      </p:sp>
      <p:sp>
        <p:nvSpPr>
          <p:cNvPr id="21" name="Text 19"/>
          <p:cNvSpPr/>
          <p:nvPr/>
        </p:nvSpPr>
        <p:spPr>
          <a:xfrm>
            <a:off x="3529584" y="2212848"/>
            <a:ext cx="1060704" cy="256032"/>
          </a:xfrm>
          <a:prstGeom prst="rect">
            <a:avLst/>
          </a:prstGeom>
          <a:noFill/>
          <a:ln/>
        </p:spPr>
        <p:txBody>
          <a:bodyPr wrap="square" lIns="0" tIns="0" rIns="0" bIns="0" rtlCol="0" anchor="ctr">
            <a:normAutofit/>
          </a:bodyPr>
          <a:lstStyle/>
          <a:p>
            <a:pPr marL="0" indent="0" algn="ctr">
              <a:buNone/>
            </a:pPr>
            <a:r>
              <a:rPr lang="en-US" sz="620" dirty="0">
                <a:solidFill>
                  <a:srgbClr val="A7B3C6"/>
                </a:solidFill>
                <a:latin typeface="Aptos" pitchFamily="34" charset="0"/>
                <a:ea typeface="Aptos" pitchFamily="34" charset="-122"/>
                <a:cs typeface="Aptos" pitchFamily="34" charset="-120"/>
              </a:rPr>
              <a:t>app + tests + build</a:t>
            </a:r>
            <a:endParaRPr lang="en-US" sz="620" dirty="0"/>
          </a:p>
        </p:txBody>
      </p:sp>
      <p:sp>
        <p:nvSpPr>
          <p:cNvPr id="22" name="Shape 20"/>
          <p:cNvSpPr/>
          <p:nvPr/>
        </p:nvSpPr>
        <p:spPr>
          <a:xfrm>
            <a:off x="6309360" y="1600200"/>
            <a:ext cx="539496" cy="0"/>
          </a:xfrm>
          <a:prstGeom prst="line">
            <a:avLst/>
          </a:prstGeom>
          <a:noFill/>
          <a:ln w="12700">
            <a:solidFill>
              <a:srgbClr val="1F8EA3"/>
            </a:solidFill>
            <a:prstDash val="solid"/>
            <a:tailEnd type="triangle"/>
          </a:ln>
        </p:spPr>
        <p:txBody>
          <a:bodyPr/>
          <a:lstStyle/>
          <a:p>
            <a:endParaRPr lang="en-US"/>
          </a:p>
        </p:txBody>
      </p:sp>
      <p:sp>
        <p:nvSpPr>
          <p:cNvPr id="23" name="Shape 21"/>
          <p:cNvSpPr/>
          <p:nvPr/>
        </p:nvSpPr>
        <p:spPr>
          <a:xfrm>
            <a:off x="5458968" y="1389888"/>
            <a:ext cx="420624" cy="420624"/>
          </a:xfrm>
          <a:prstGeom prst="ellipse">
            <a:avLst/>
          </a:prstGeom>
          <a:solidFill>
            <a:srgbClr val="F59E0B"/>
          </a:solidFill>
          <a:ln w="12700">
            <a:solidFill>
              <a:srgbClr val="F59E0B"/>
            </a:solidFill>
            <a:prstDash val="solid"/>
          </a:ln>
        </p:spPr>
        <p:txBody>
          <a:bodyPr/>
          <a:lstStyle/>
          <a:p>
            <a:endParaRPr lang="en-US"/>
          </a:p>
        </p:txBody>
      </p:sp>
      <p:sp>
        <p:nvSpPr>
          <p:cNvPr id="24" name="Text 22"/>
          <p:cNvSpPr/>
          <p:nvPr/>
        </p:nvSpPr>
        <p:spPr>
          <a:xfrm>
            <a:off x="5458968" y="1481328"/>
            <a:ext cx="420624" cy="109728"/>
          </a:xfrm>
          <a:prstGeom prst="rect">
            <a:avLst/>
          </a:prstGeom>
          <a:noFill/>
          <a:ln/>
        </p:spPr>
        <p:txBody>
          <a:bodyPr wrap="square" lIns="0" tIns="0" rIns="0" bIns="0" rtlCol="0" anchor="ctr"/>
          <a:lstStyle/>
          <a:p>
            <a:pPr marL="0" indent="0" algn="ctr">
              <a:buNone/>
            </a:pPr>
            <a:r>
              <a:rPr lang="en-US" sz="750" b="1" dirty="0">
                <a:solidFill>
                  <a:srgbClr val="070D1A"/>
                </a:solidFill>
                <a:latin typeface="Aptos" pitchFamily="34" charset="0"/>
                <a:ea typeface="Aptos" pitchFamily="34" charset="-122"/>
                <a:cs typeface="Aptos" pitchFamily="34" charset="-120"/>
              </a:rPr>
              <a:t>4</a:t>
            </a:r>
            <a:endParaRPr lang="en-US" sz="750" dirty="0"/>
          </a:p>
        </p:txBody>
      </p:sp>
      <p:sp>
        <p:nvSpPr>
          <p:cNvPr id="25" name="Text 23"/>
          <p:cNvSpPr/>
          <p:nvPr/>
        </p:nvSpPr>
        <p:spPr>
          <a:xfrm>
            <a:off x="5257800" y="1965960"/>
            <a:ext cx="822960" cy="128016"/>
          </a:xfrm>
          <a:prstGeom prst="rect">
            <a:avLst/>
          </a:prstGeom>
          <a:noFill/>
          <a:ln/>
        </p:spPr>
        <p:txBody>
          <a:bodyPr wrap="square" lIns="0" tIns="0" rIns="0" bIns="0" rtlCol="0" anchor="ctr"/>
          <a:lstStyle/>
          <a:p>
            <a:pPr marL="0" indent="0" algn="ctr">
              <a:buNone/>
            </a:pPr>
            <a:r>
              <a:rPr lang="en-US" sz="780" b="1" dirty="0">
                <a:solidFill>
                  <a:srgbClr val="F8FAFC"/>
                </a:solidFill>
                <a:latin typeface="Aptos" pitchFamily="34" charset="0"/>
                <a:ea typeface="Aptos" pitchFamily="34" charset="-122"/>
                <a:cs typeface="Aptos" pitchFamily="34" charset="-120"/>
              </a:rPr>
              <a:t>Review</a:t>
            </a:r>
            <a:endParaRPr lang="en-US" sz="780" dirty="0"/>
          </a:p>
        </p:txBody>
      </p:sp>
      <p:sp>
        <p:nvSpPr>
          <p:cNvPr id="26" name="Text 24"/>
          <p:cNvSpPr/>
          <p:nvPr/>
        </p:nvSpPr>
        <p:spPr>
          <a:xfrm>
            <a:off x="5129784" y="2212848"/>
            <a:ext cx="1060704" cy="256032"/>
          </a:xfrm>
          <a:prstGeom prst="rect">
            <a:avLst/>
          </a:prstGeom>
          <a:noFill/>
          <a:ln/>
        </p:spPr>
        <p:txBody>
          <a:bodyPr wrap="square" lIns="0" tIns="0" rIns="0" bIns="0" rtlCol="0" anchor="ctr">
            <a:normAutofit/>
          </a:bodyPr>
          <a:lstStyle/>
          <a:p>
            <a:pPr marL="0" indent="0" algn="ctr">
              <a:buNone/>
            </a:pPr>
            <a:r>
              <a:rPr lang="en-US" sz="620" dirty="0">
                <a:solidFill>
                  <a:srgbClr val="A7B3C6"/>
                </a:solidFill>
                <a:latin typeface="Aptos" pitchFamily="34" charset="0"/>
                <a:ea typeface="Aptos" pitchFamily="34" charset="-122"/>
                <a:cs typeface="Aptos" pitchFamily="34" charset="-120"/>
              </a:rPr>
              <a:t>clinician looks for truth</a:t>
            </a:r>
            <a:endParaRPr lang="en-US" sz="620" dirty="0"/>
          </a:p>
        </p:txBody>
      </p:sp>
      <p:sp>
        <p:nvSpPr>
          <p:cNvPr id="27" name="Shape 25"/>
          <p:cNvSpPr/>
          <p:nvPr/>
        </p:nvSpPr>
        <p:spPr>
          <a:xfrm>
            <a:off x="7059168" y="1389888"/>
            <a:ext cx="420624" cy="420624"/>
          </a:xfrm>
          <a:prstGeom prst="ellipse">
            <a:avLst/>
          </a:prstGeom>
          <a:solidFill>
            <a:srgbClr val="12BFE2"/>
          </a:solidFill>
          <a:ln w="12700">
            <a:solidFill>
              <a:srgbClr val="12BFE2"/>
            </a:solidFill>
            <a:prstDash val="solid"/>
          </a:ln>
        </p:spPr>
        <p:txBody>
          <a:bodyPr/>
          <a:lstStyle/>
          <a:p>
            <a:endParaRPr lang="en-US"/>
          </a:p>
        </p:txBody>
      </p:sp>
      <p:sp>
        <p:nvSpPr>
          <p:cNvPr id="28" name="Text 26"/>
          <p:cNvSpPr/>
          <p:nvPr/>
        </p:nvSpPr>
        <p:spPr>
          <a:xfrm>
            <a:off x="7059168" y="1481328"/>
            <a:ext cx="420624" cy="109728"/>
          </a:xfrm>
          <a:prstGeom prst="rect">
            <a:avLst/>
          </a:prstGeom>
          <a:noFill/>
          <a:ln/>
        </p:spPr>
        <p:txBody>
          <a:bodyPr wrap="square" lIns="0" tIns="0" rIns="0" bIns="0" rtlCol="0" anchor="ctr"/>
          <a:lstStyle/>
          <a:p>
            <a:pPr marL="0" indent="0" algn="ctr">
              <a:buNone/>
            </a:pPr>
            <a:r>
              <a:rPr lang="en-US" sz="750" b="1" dirty="0">
                <a:solidFill>
                  <a:srgbClr val="070D1A"/>
                </a:solidFill>
                <a:latin typeface="Aptos" pitchFamily="34" charset="0"/>
                <a:ea typeface="Aptos" pitchFamily="34" charset="-122"/>
                <a:cs typeface="Aptos" pitchFamily="34" charset="-120"/>
              </a:rPr>
              <a:t>5</a:t>
            </a:r>
            <a:endParaRPr lang="en-US" sz="750" dirty="0"/>
          </a:p>
        </p:txBody>
      </p:sp>
      <p:sp>
        <p:nvSpPr>
          <p:cNvPr id="29" name="Text 27"/>
          <p:cNvSpPr/>
          <p:nvPr/>
        </p:nvSpPr>
        <p:spPr>
          <a:xfrm>
            <a:off x="6858000" y="1965960"/>
            <a:ext cx="822960" cy="128016"/>
          </a:xfrm>
          <a:prstGeom prst="rect">
            <a:avLst/>
          </a:prstGeom>
          <a:noFill/>
          <a:ln/>
        </p:spPr>
        <p:txBody>
          <a:bodyPr wrap="square" lIns="0" tIns="0" rIns="0" bIns="0" rtlCol="0" anchor="ctr"/>
          <a:lstStyle/>
          <a:p>
            <a:pPr marL="0" indent="0" algn="ctr">
              <a:buNone/>
            </a:pPr>
            <a:r>
              <a:rPr lang="en-US" sz="780" b="1" dirty="0">
                <a:solidFill>
                  <a:srgbClr val="F8FAFC"/>
                </a:solidFill>
                <a:latin typeface="Aptos" pitchFamily="34" charset="0"/>
                <a:ea typeface="Aptos" pitchFamily="34" charset="-122"/>
                <a:cs typeface="Aptos" pitchFamily="34" charset="-120"/>
              </a:rPr>
              <a:t>Refine</a:t>
            </a:r>
            <a:endParaRPr lang="en-US" sz="780" dirty="0"/>
          </a:p>
        </p:txBody>
      </p:sp>
      <p:sp>
        <p:nvSpPr>
          <p:cNvPr id="30" name="Text 28"/>
          <p:cNvSpPr/>
          <p:nvPr/>
        </p:nvSpPr>
        <p:spPr>
          <a:xfrm>
            <a:off x="6729984" y="2212848"/>
            <a:ext cx="1060704" cy="256032"/>
          </a:xfrm>
          <a:prstGeom prst="rect">
            <a:avLst/>
          </a:prstGeom>
          <a:noFill/>
          <a:ln/>
        </p:spPr>
        <p:txBody>
          <a:bodyPr wrap="square" lIns="0" tIns="0" rIns="0" bIns="0" rtlCol="0" anchor="ctr">
            <a:normAutofit/>
          </a:bodyPr>
          <a:lstStyle/>
          <a:p>
            <a:pPr marL="0" indent="0" algn="ctr">
              <a:buNone/>
            </a:pPr>
            <a:r>
              <a:rPr lang="en-US" sz="620" dirty="0">
                <a:solidFill>
                  <a:srgbClr val="A7B3C6"/>
                </a:solidFill>
                <a:latin typeface="Aptos" pitchFamily="34" charset="0"/>
                <a:ea typeface="Aptos" pitchFamily="34" charset="-122"/>
                <a:cs typeface="Aptos" pitchFamily="34" charset="-120"/>
              </a:rPr>
              <a:t>next bounded pass</a:t>
            </a:r>
            <a:endParaRPr lang="en-US" sz="620" dirty="0"/>
          </a:p>
        </p:txBody>
      </p:sp>
      <p:sp>
        <p:nvSpPr>
          <p:cNvPr id="31" name="Shape 29"/>
          <p:cNvSpPr/>
          <p:nvPr/>
        </p:nvSpPr>
        <p:spPr>
          <a:xfrm>
            <a:off x="822960" y="2880360"/>
            <a:ext cx="7498080" cy="1078992"/>
          </a:xfrm>
          <a:prstGeom prst="roundRect">
            <a:avLst/>
          </a:prstGeom>
          <a:solidFill>
            <a:srgbClr val="111A2D"/>
          </a:solidFill>
          <a:ln w="12700">
            <a:solidFill>
              <a:srgbClr val="111A2D"/>
            </a:solidFill>
            <a:prstDash val="solid"/>
          </a:ln>
        </p:spPr>
        <p:txBody>
          <a:bodyPr/>
          <a:lstStyle/>
          <a:p>
            <a:endParaRPr lang="en-US"/>
          </a:p>
        </p:txBody>
      </p:sp>
      <p:sp>
        <p:nvSpPr>
          <p:cNvPr id="32" name="Text 30"/>
          <p:cNvSpPr/>
          <p:nvPr/>
        </p:nvSpPr>
        <p:spPr>
          <a:xfrm>
            <a:off x="1051560" y="3090672"/>
            <a:ext cx="1280160" cy="146304"/>
          </a:xfrm>
          <a:prstGeom prst="rect">
            <a:avLst/>
          </a:prstGeom>
          <a:noFill/>
          <a:ln/>
        </p:spPr>
        <p:txBody>
          <a:bodyPr wrap="square" lIns="0" tIns="0" rIns="0" bIns="0" rtlCol="0" anchor="ctr"/>
          <a:lstStyle/>
          <a:p>
            <a:pPr marL="0" indent="0">
              <a:buNone/>
            </a:pPr>
            <a:r>
              <a:rPr lang="en-US" sz="700" b="1" dirty="0">
                <a:solidFill>
                  <a:srgbClr val="12BFE2"/>
                </a:solidFill>
                <a:latin typeface="Aptos" pitchFamily="34" charset="0"/>
                <a:ea typeface="Aptos" pitchFamily="34" charset="-122"/>
                <a:cs typeface="Aptos" pitchFamily="34" charset="-120"/>
              </a:rPr>
              <a:t>Example interaction</a:t>
            </a:r>
            <a:endParaRPr lang="en-US" sz="700" dirty="0"/>
          </a:p>
        </p:txBody>
      </p:sp>
      <p:sp>
        <p:nvSpPr>
          <p:cNvPr id="33" name="Text 31"/>
          <p:cNvSpPr/>
          <p:nvPr/>
        </p:nvSpPr>
        <p:spPr>
          <a:xfrm>
            <a:off x="1051560" y="3310128"/>
            <a:ext cx="6949440" cy="384048"/>
          </a:xfrm>
          <a:prstGeom prst="rect">
            <a:avLst/>
          </a:prstGeom>
          <a:noFill/>
          <a:ln/>
        </p:spPr>
        <p:txBody>
          <a:bodyPr wrap="square" lIns="0" tIns="0" rIns="0" bIns="0" rtlCol="0" anchor="ctr">
            <a:normAutofit/>
          </a:bodyPr>
          <a:lstStyle/>
          <a:p>
            <a:pPr marL="0" indent="0">
              <a:buNone/>
            </a:pPr>
            <a:r>
              <a:rPr lang="en-US" sz="740" dirty="0">
                <a:solidFill>
                  <a:srgbClr val="F8FAFC"/>
                </a:solidFill>
                <a:latin typeface="Aptos" pitchFamily="34" charset="0"/>
                <a:ea typeface="Aptos" pitchFamily="34" charset="-122"/>
                <a:cs typeface="Aptos" pitchFamily="34" charset="-120"/>
              </a:rPr>
              <a:t>You: “The station section is too cluttered. Split it into Explore, Flashcards, Quiz, and Handbook.”</a:t>
            </a:r>
            <a:endParaRPr lang="en-US" sz="740" dirty="0"/>
          </a:p>
          <a:p>
            <a:pPr marL="0" indent="0">
              <a:buNone/>
            </a:pPr>
            <a:r>
              <a:rPr lang="en-US" sz="740" dirty="0">
                <a:solidFill>
                  <a:srgbClr val="F8FAFC"/>
                </a:solidFill>
                <a:latin typeface="Aptos" pitchFamily="34" charset="0"/>
                <a:ea typeface="Aptos" pitchFamily="34" charset="-122"/>
                <a:cs typeface="Aptos" pitchFamily="34" charset="-120"/>
              </a:rPr>
              <a:t>Agent: “Refactored routes, reused station content, added progress state, updated tests.”</a:t>
            </a:r>
            <a:endParaRPr lang="en-US" sz="740" dirty="0"/>
          </a:p>
          <a:p>
            <a:pPr marL="0" indent="0">
              <a:buNone/>
            </a:pPr>
            <a:r>
              <a:rPr lang="en-US" sz="740" dirty="0">
                <a:solidFill>
                  <a:srgbClr val="F8FAFC"/>
                </a:solidFill>
                <a:latin typeface="Aptos" pitchFamily="34" charset="0"/>
                <a:ea typeface="Aptos" pitchFamily="34" charset="-122"/>
                <a:cs typeface="Aptos" pitchFamily="34" charset="-120"/>
              </a:rPr>
              <a:t>You: “Good, but the quiz feedback should link back to the missed station.”</a:t>
            </a:r>
            <a:endParaRPr lang="en-US" sz="740" dirty="0"/>
          </a:p>
        </p:txBody>
      </p:sp>
      <p:sp>
        <p:nvSpPr>
          <p:cNvPr id="34" name="Text 32"/>
          <p:cNvSpPr/>
          <p:nvPr/>
        </p:nvSpPr>
        <p:spPr>
          <a:xfrm>
            <a:off x="1280160" y="4343400"/>
            <a:ext cx="6583680" cy="182880"/>
          </a:xfrm>
          <a:prstGeom prst="rect">
            <a:avLst/>
          </a:prstGeom>
          <a:noFill/>
          <a:ln/>
        </p:spPr>
        <p:txBody>
          <a:bodyPr wrap="square" lIns="0" tIns="0" rIns="0" bIns="0" rtlCol="0" anchor="ctr"/>
          <a:lstStyle/>
          <a:p>
            <a:pPr marL="0" indent="0" algn="ctr">
              <a:buNone/>
            </a:pPr>
            <a:r>
              <a:rPr lang="en-US" sz="1400" b="1" dirty="0">
                <a:solidFill>
                  <a:srgbClr val="F59E0B"/>
                </a:solidFill>
                <a:latin typeface="Aptos Display" pitchFamily="34" charset="0"/>
                <a:ea typeface="Aptos Display" pitchFamily="34" charset="-122"/>
                <a:cs typeface="Aptos Display" pitchFamily="34" charset="-120"/>
              </a:rPr>
              <a:t>Expect 5–15 rounds of refinement. That is normal — not failure.</a:t>
            </a:r>
            <a:endParaRPr lang="en-US" sz="1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70D1A"/>
        </a:solidFill>
        <a:effectLst/>
      </p:bgPr>
    </p:bg>
    <p:spTree>
      <p:nvGrpSpPr>
        <p:cNvPr id="1" name=""/>
        <p:cNvGrpSpPr/>
        <p:nvPr/>
      </p:nvGrpSpPr>
      <p:grpSpPr>
        <a:xfrm>
          <a:off x="0" y="0"/>
          <a:ext cx="0" cy="0"/>
          <a:chOff x="0" y="0"/>
          <a:chExt cx="0" cy="0"/>
        </a:xfrm>
      </p:grpSpPr>
      <p:sp>
        <p:nvSpPr>
          <p:cNvPr id="2" name="Text 0"/>
          <p:cNvSpPr/>
          <p:nvPr/>
        </p:nvSpPr>
        <p:spPr>
          <a:xfrm>
            <a:off x="411480" y="274320"/>
            <a:ext cx="3474720" cy="146304"/>
          </a:xfrm>
          <a:prstGeom prst="rect">
            <a:avLst/>
          </a:prstGeom>
          <a:noFill/>
          <a:ln/>
        </p:spPr>
        <p:txBody>
          <a:bodyPr wrap="square" lIns="0" tIns="0" rIns="0" bIns="0" rtlCol="0" anchor="ctr"/>
          <a:lstStyle/>
          <a:p>
            <a:pPr marL="0" indent="0">
              <a:buNone/>
            </a:pPr>
            <a:r>
              <a:rPr lang="en-US" sz="650" b="1" dirty="0">
                <a:solidFill>
                  <a:srgbClr val="12BFE2"/>
                </a:solidFill>
                <a:latin typeface="Aptos" pitchFamily="34" charset="0"/>
                <a:ea typeface="Aptos" pitchFamily="34" charset="-122"/>
                <a:cs typeface="Aptos" pitchFamily="34" charset="-120"/>
              </a:rPr>
              <a:t>MODULE FOCUS</a:t>
            </a:r>
            <a:endParaRPr lang="en-US" sz="650" dirty="0"/>
          </a:p>
        </p:txBody>
      </p:sp>
      <p:sp>
        <p:nvSpPr>
          <p:cNvPr id="3" name="Text 1"/>
          <p:cNvSpPr/>
          <p:nvPr/>
        </p:nvSpPr>
        <p:spPr>
          <a:xfrm>
            <a:off x="411480" y="612648"/>
            <a:ext cx="5669280" cy="384048"/>
          </a:xfrm>
          <a:prstGeom prst="rect">
            <a:avLst/>
          </a:prstGeom>
          <a:noFill/>
          <a:ln/>
        </p:spPr>
        <p:txBody>
          <a:bodyPr wrap="square" lIns="0" tIns="0" rIns="0" bIns="0" rtlCol="0" anchor="ctr">
            <a:normAutofit/>
          </a:bodyPr>
          <a:lstStyle/>
          <a:p>
            <a:pPr marL="0" indent="0">
              <a:buNone/>
            </a:pPr>
            <a:r>
              <a:rPr lang="en-US" sz="2100" b="1" dirty="0">
                <a:solidFill>
                  <a:srgbClr val="F8FAFC"/>
                </a:solidFill>
                <a:latin typeface="Aptos Display" pitchFamily="34" charset="0"/>
                <a:ea typeface="Aptos Display" pitchFamily="34" charset="-122"/>
                <a:cs typeface="Aptos Display" pitchFamily="34" charset="-120"/>
              </a:rPr>
              <a:t>Knobology as a micro-simulator</a:t>
            </a:r>
            <a:endParaRPr lang="en-US" sz="2100" dirty="0"/>
          </a:p>
        </p:txBody>
      </p:sp>
      <p:sp>
        <p:nvSpPr>
          <p:cNvPr id="4" name="Text 2"/>
          <p:cNvSpPr/>
          <p:nvPr/>
        </p:nvSpPr>
        <p:spPr>
          <a:xfrm>
            <a:off x="411480" y="4828032"/>
            <a:ext cx="4754880" cy="109728"/>
          </a:xfrm>
          <a:prstGeom prst="rect">
            <a:avLst/>
          </a:prstGeom>
          <a:noFill/>
          <a:ln/>
        </p:spPr>
        <p:txBody>
          <a:bodyPr wrap="square" lIns="0" tIns="0" rIns="0" bIns="0" rtlCol="0" anchor="ctr"/>
          <a:lstStyle/>
          <a:p>
            <a:pPr marL="0" indent="0">
              <a:buNone/>
            </a:pPr>
            <a:r>
              <a:rPr lang="en-US" sz="550" dirty="0">
                <a:solidFill>
                  <a:srgbClr val="5F6B7A"/>
                </a:solidFill>
                <a:latin typeface="Aptos" pitchFamily="34" charset="0"/>
                <a:ea typeface="Aptos" pitchFamily="34" charset="-122"/>
                <a:cs typeface="Aptos" pitchFamily="34" charset="-120"/>
              </a:rPr>
              <a:t>AABIP Webinar 2026  |  AI in Interventional Pulmonology</a:t>
            </a:r>
            <a:endParaRPr lang="en-US" sz="550" dirty="0"/>
          </a:p>
        </p:txBody>
      </p:sp>
      <p:sp>
        <p:nvSpPr>
          <p:cNvPr id="5" name="Text 3"/>
          <p:cNvSpPr/>
          <p:nvPr/>
        </p:nvSpPr>
        <p:spPr>
          <a:xfrm>
            <a:off x="8366760" y="4828032"/>
            <a:ext cx="365760" cy="109728"/>
          </a:xfrm>
          <a:prstGeom prst="rect">
            <a:avLst/>
          </a:prstGeom>
          <a:noFill/>
          <a:ln/>
        </p:spPr>
        <p:txBody>
          <a:bodyPr wrap="square" lIns="0" tIns="0" rIns="0" bIns="0" rtlCol="0" anchor="ctr"/>
          <a:lstStyle/>
          <a:p>
            <a:pPr marL="0" indent="0" algn="r">
              <a:buNone/>
            </a:pPr>
            <a:r>
              <a:rPr lang="en-US" sz="550" dirty="0">
                <a:solidFill>
                  <a:srgbClr val="5F6B7A"/>
                </a:solidFill>
                <a:latin typeface="Aptos" pitchFamily="34" charset="0"/>
                <a:ea typeface="Aptos" pitchFamily="34" charset="-122"/>
                <a:cs typeface="Aptos" pitchFamily="34" charset="-120"/>
              </a:rPr>
              <a:t>11 / 22</a:t>
            </a:r>
            <a:endParaRPr lang="en-US" sz="550" dirty="0"/>
          </a:p>
        </p:txBody>
      </p:sp>
      <p:sp>
        <p:nvSpPr>
          <p:cNvPr id="6" name="Shape 4"/>
          <p:cNvSpPr/>
          <p:nvPr/>
        </p:nvSpPr>
        <p:spPr>
          <a:xfrm>
            <a:off x="411480" y="1060704"/>
            <a:ext cx="1143000" cy="0"/>
          </a:xfrm>
          <a:prstGeom prst="line">
            <a:avLst/>
          </a:prstGeom>
          <a:noFill/>
          <a:ln w="15240">
            <a:solidFill>
              <a:srgbClr val="12BFE2"/>
            </a:solidFill>
            <a:prstDash val="solid"/>
          </a:ln>
        </p:spPr>
        <p:txBody>
          <a:bodyPr/>
          <a:lstStyle/>
          <a:p>
            <a:endParaRPr lang="en-US"/>
          </a:p>
        </p:txBody>
      </p:sp>
      <p:sp>
        <p:nvSpPr>
          <p:cNvPr id="7" name="Shape 5"/>
          <p:cNvSpPr/>
          <p:nvPr/>
        </p:nvSpPr>
        <p:spPr>
          <a:xfrm>
            <a:off x="1737360" y="1828800"/>
            <a:ext cx="338328" cy="0"/>
          </a:xfrm>
          <a:prstGeom prst="line">
            <a:avLst/>
          </a:prstGeom>
          <a:noFill/>
          <a:ln w="12700">
            <a:solidFill>
              <a:srgbClr val="1F8EA3"/>
            </a:solidFill>
            <a:prstDash val="solid"/>
            <a:tailEnd type="triangle"/>
          </a:ln>
        </p:spPr>
        <p:txBody>
          <a:bodyPr/>
          <a:lstStyle/>
          <a:p>
            <a:endParaRPr lang="en-US"/>
          </a:p>
        </p:txBody>
      </p:sp>
      <p:sp>
        <p:nvSpPr>
          <p:cNvPr id="8" name="Shape 6"/>
          <p:cNvSpPr/>
          <p:nvPr/>
        </p:nvSpPr>
        <p:spPr>
          <a:xfrm>
            <a:off x="566928" y="1298448"/>
            <a:ext cx="1325880" cy="1097280"/>
          </a:xfrm>
          <a:prstGeom prst="roundRect">
            <a:avLst>
              <a:gd name="adj" fmla="val 10000"/>
            </a:avLst>
          </a:prstGeom>
          <a:solidFill>
            <a:srgbClr val="111A2D"/>
          </a:solidFill>
          <a:ln w="12700">
            <a:solidFill>
              <a:srgbClr val="111A2D">
                <a:alpha val="0"/>
              </a:srgbClr>
            </a:solidFill>
            <a:prstDash val="solid"/>
          </a:ln>
        </p:spPr>
        <p:txBody>
          <a:bodyPr/>
          <a:lstStyle/>
          <a:p>
            <a:endParaRPr lang="en-US"/>
          </a:p>
        </p:txBody>
      </p:sp>
      <p:sp>
        <p:nvSpPr>
          <p:cNvPr id="9" name="Shape 7"/>
          <p:cNvSpPr/>
          <p:nvPr/>
        </p:nvSpPr>
        <p:spPr>
          <a:xfrm>
            <a:off x="566928" y="1298448"/>
            <a:ext cx="32004" cy="1097280"/>
          </a:xfrm>
          <a:prstGeom prst="rect">
            <a:avLst/>
          </a:prstGeom>
          <a:solidFill>
            <a:srgbClr val="12BFE2"/>
          </a:solidFill>
          <a:ln w="12700">
            <a:solidFill>
              <a:srgbClr val="12BFE2"/>
            </a:solidFill>
            <a:prstDash val="solid"/>
          </a:ln>
        </p:spPr>
        <p:txBody>
          <a:bodyPr/>
          <a:lstStyle/>
          <a:p>
            <a:endParaRPr lang="en-US"/>
          </a:p>
        </p:txBody>
      </p:sp>
      <p:sp>
        <p:nvSpPr>
          <p:cNvPr id="10" name="Shape 8"/>
          <p:cNvSpPr/>
          <p:nvPr/>
        </p:nvSpPr>
        <p:spPr>
          <a:xfrm>
            <a:off x="685800" y="1417320"/>
            <a:ext cx="256032" cy="256032"/>
          </a:xfrm>
          <a:prstGeom prst="ellipse">
            <a:avLst/>
          </a:prstGeom>
          <a:solidFill>
            <a:srgbClr val="12BFE2"/>
          </a:solidFill>
          <a:ln w="12700">
            <a:solidFill>
              <a:srgbClr val="12BFE2"/>
            </a:solidFill>
            <a:prstDash val="solid"/>
          </a:ln>
        </p:spPr>
        <p:txBody>
          <a:bodyPr/>
          <a:lstStyle/>
          <a:p>
            <a:endParaRPr lang="en-US"/>
          </a:p>
        </p:txBody>
      </p:sp>
      <p:sp>
        <p:nvSpPr>
          <p:cNvPr id="11" name="Text 9"/>
          <p:cNvSpPr/>
          <p:nvPr/>
        </p:nvSpPr>
        <p:spPr>
          <a:xfrm>
            <a:off x="685800" y="1463040"/>
            <a:ext cx="256032" cy="109728"/>
          </a:xfrm>
          <a:prstGeom prst="rect">
            <a:avLst/>
          </a:prstGeom>
          <a:noFill/>
          <a:ln/>
        </p:spPr>
        <p:txBody>
          <a:bodyPr wrap="square" lIns="0" tIns="0" rIns="0" bIns="0" rtlCol="0" anchor="ctr"/>
          <a:lstStyle/>
          <a:p>
            <a:pPr marL="0" indent="0" algn="ctr">
              <a:buNone/>
            </a:pPr>
            <a:r>
              <a:rPr lang="en-US" sz="650" b="1" dirty="0">
                <a:solidFill>
                  <a:srgbClr val="070D1A"/>
                </a:solidFill>
                <a:latin typeface="Aptos" pitchFamily="34" charset="0"/>
                <a:ea typeface="Aptos" pitchFamily="34" charset="-122"/>
                <a:cs typeface="Aptos" pitchFamily="34" charset="-120"/>
              </a:rPr>
              <a:t>1</a:t>
            </a:r>
            <a:endParaRPr lang="en-US" sz="650" dirty="0"/>
          </a:p>
        </p:txBody>
      </p:sp>
      <p:sp>
        <p:nvSpPr>
          <p:cNvPr id="12" name="Text 10"/>
          <p:cNvSpPr/>
          <p:nvPr/>
        </p:nvSpPr>
        <p:spPr>
          <a:xfrm>
            <a:off x="987552" y="1426464"/>
            <a:ext cx="795528" cy="201168"/>
          </a:xfrm>
          <a:prstGeom prst="rect">
            <a:avLst/>
          </a:prstGeom>
          <a:noFill/>
          <a:ln/>
        </p:spPr>
        <p:txBody>
          <a:bodyPr wrap="square" lIns="0" tIns="0" rIns="0" bIns="0" rtlCol="0" anchor="ctr">
            <a:normAutofit/>
          </a:bodyPr>
          <a:lstStyle/>
          <a:p>
            <a:pPr marL="0" indent="0">
              <a:buNone/>
            </a:pPr>
            <a:r>
              <a:rPr lang="en-US" sz="820" b="1" dirty="0">
                <a:solidFill>
                  <a:srgbClr val="F8FAFC"/>
                </a:solidFill>
                <a:latin typeface="Aptos" pitchFamily="34" charset="0"/>
                <a:ea typeface="Aptos" pitchFamily="34" charset="-122"/>
                <a:cs typeface="Aptos" pitchFamily="34" charset="-120"/>
              </a:rPr>
              <a:t>Bad image</a:t>
            </a:r>
            <a:endParaRPr lang="en-US" sz="820" dirty="0"/>
          </a:p>
        </p:txBody>
      </p:sp>
      <p:sp>
        <p:nvSpPr>
          <p:cNvPr id="13" name="Text 11"/>
          <p:cNvSpPr/>
          <p:nvPr/>
        </p:nvSpPr>
        <p:spPr>
          <a:xfrm>
            <a:off x="987552" y="1709928"/>
            <a:ext cx="795528" cy="594360"/>
          </a:xfrm>
          <a:prstGeom prst="rect">
            <a:avLst/>
          </a:prstGeom>
          <a:noFill/>
          <a:ln/>
        </p:spPr>
        <p:txBody>
          <a:bodyPr wrap="square" lIns="0" tIns="0" rIns="0" bIns="0" rtlCol="0" anchor="ctr">
            <a:normAutofit/>
          </a:bodyPr>
          <a:lstStyle/>
          <a:p>
            <a:pPr marL="0" indent="0">
              <a:buNone/>
            </a:pPr>
            <a:r>
              <a:rPr lang="en-US" sz="640" dirty="0">
                <a:solidFill>
                  <a:srgbClr val="A7B3C6"/>
                </a:solidFill>
                <a:latin typeface="Aptos" pitchFamily="34" charset="0"/>
                <a:ea typeface="Aptos" pitchFamily="34" charset="-122"/>
                <a:cs typeface="Aptos" pitchFamily="34" charset="-120"/>
              </a:rPr>
              <a:t>Learner sees a problem</a:t>
            </a:r>
            <a:endParaRPr lang="en-US" sz="640" dirty="0"/>
          </a:p>
        </p:txBody>
      </p:sp>
      <p:sp>
        <p:nvSpPr>
          <p:cNvPr id="14" name="Shape 12"/>
          <p:cNvSpPr/>
          <p:nvPr/>
        </p:nvSpPr>
        <p:spPr>
          <a:xfrm>
            <a:off x="3429000" y="1828800"/>
            <a:ext cx="338328" cy="0"/>
          </a:xfrm>
          <a:prstGeom prst="line">
            <a:avLst/>
          </a:prstGeom>
          <a:noFill/>
          <a:ln w="12700">
            <a:solidFill>
              <a:srgbClr val="1F8EA3"/>
            </a:solidFill>
            <a:prstDash val="solid"/>
            <a:tailEnd type="triangle"/>
          </a:ln>
        </p:spPr>
        <p:txBody>
          <a:bodyPr/>
          <a:lstStyle/>
          <a:p>
            <a:endParaRPr lang="en-US"/>
          </a:p>
        </p:txBody>
      </p:sp>
      <p:sp>
        <p:nvSpPr>
          <p:cNvPr id="15" name="Shape 13"/>
          <p:cNvSpPr/>
          <p:nvPr/>
        </p:nvSpPr>
        <p:spPr>
          <a:xfrm>
            <a:off x="2258568" y="1298448"/>
            <a:ext cx="1325880" cy="1097280"/>
          </a:xfrm>
          <a:prstGeom prst="roundRect">
            <a:avLst>
              <a:gd name="adj" fmla="val 10000"/>
            </a:avLst>
          </a:prstGeom>
          <a:solidFill>
            <a:srgbClr val="111A2D"/>
          </a:solidFill>
          <a:ln w="12700">
            <a:solidFill>
              <a:srgbClr val="111A2D">
                <a:alpha val="0"/>
              </a:srgbClr>
            </a:solidFill>
            <a:prstDash val="solid"/>
          </a:ln>
        </p:spPr>
        <p:txBody>
          <a:bodyPr/>
          <a:lstStyle/>
          <a:p>
            <a:endParaRPr lang="en-US"/>
          </a:p>
        </p:txBody>
      </p:sp>
      <p:sp>
        <p:nvSpPr>
          <p:cNvPr id="16" name="Shape 14"/>
          <p:cNvSpPr/>
          <p:nvPr/>
        </p:nvSpPr>
        <p:spPr>
          <a:xfrm>
            <a:off x="2258568" y="1298448"/>
            <a:ext cx="32004" cy="1097280"/>
          </a:xfrm>
          <a:prstGeom prst="rect">
            <a:avLst/>
          </a:prstGeom>
          <a:solidFill>
            <a:srgbClr val="12BFE2"/>
          </a:solidFill>
          <a:ln w="12700">
            <a:solidFill>
              <a:srgbClr val="12BFE2"/>
            </a:solidFill>
            <a:prstDash val="solid"/>
          </a:ln>
        </p:spPr>
        <p:txBody>
          <a:bodyPr/>
          <a:lstStyle/>
          <a:p>
            <a:endParaRPr lang="en-US"/>
          </a:p>
        </p:txBody>
      </p:sp>
      <p:sp>
        <p:nvSpPr>
          <p:cNvPr id="17" name="Shape 15"/>
          <p:cNvSpPr/>
          <p:nvPr/>
        </p:nvSpPr>
        <p:spPr>
          <a:xfrm>
            <a:off x="2377440" y="1417320"/>
            <a:ext cx="256032" cy="256032"/>
          </a:xfrm>
          <a:prstGeom prst="ellipse">
            <a:avLst/>
          </a:prstGeom>
          <a:solidFill>
            <a:srgbClr val="12BFE2"/>
          </a:solidFill>
          <a:ln w="12700">
            <a:solidFill>
              <a:srgbClr val="12BFE2"/>
            </a:solidFill>
            <a:prstDash val="solid"/>
          </a:ln>
        </p:spPr>
        <p:txBody>
          <a:bodyPr/>
          <a:lstStyle/>
          <a:p>
            <a:endParaRPr lang="en-US"/>
          </a:p>
        </p:txBody>
      </p:sp>
      <p:sp>
        <p:nvSpPr>
          <p:cNvPr id="18" name="Text 16"/>
          <p:cNvSpPr/>
          <p:nvPr/>
        </p:nvSpPr>
        <p:spPr>
          <a:xfrm>
            <a:off x="2377440" y="1463040"/>
            <a:ext cx="256032" cy="109728"/>
          </a:xfrm>
          <a:prstGeom prst="rect">
            <a:avLst/>
          </a:prstGeom>
          <a:noFill/>
          <a:ln/>
        </p:spPr>
        <p:txBody>
          <a:bodyPr wrap="square" lIns="0" tIns="0" rIns="0" bIns="0" rtlCol="0" anchor="ctr"/>
          <a:lstStyle/>
          <a:p>
            <a:pPr marL="0" indent="0" algn="ctr">
              <a:buNone/>
            </a:pPr>
            <a:r>
              <a:rPr lang="en-US" sz="650" b="1" dirty="0">
                <a:solidFill>
                  <a:srgbClr val="070D1A"/>
                </a:solidFill>
                <a:latin typeface="Aptos" pitchFamily="34" charset="0"/>
                <a:ea typeface="Aptos" pitchFamily="34" charset="-122"/>
                <a:cs typeface="Aptos" pitchFamily="34" charset="-120"/>
              </a:rPr>
              <a:t>2</a:t>
            </a:r>
            <a:endParaRPr lang="en-US" sz="650" dirty="0"/>
          </a:p>
        </p:txBody>
      </p:sp>
      <p:sp>
        <p:nvSpPr>
          <p:cNvPr id="19" name="Text 17"/>
          <p:cNvSpPr/>
          <p:nvPr/>
        </p:nvSpPr>
        <p:spPr>
          <a:xfrm>
            <a:off x="2679192" y="1426464"/>
            <a:ext cx="795528" cy="201168"/>
          </a:xfrm>
          <a:prstGeom prst="rect">
            <a:avLst/>
          </a:prstGeom>
          <a:noFill/>
          <a:ln/>
        </p:spPr>
        <p:txBody>
          <a:bodyPr wrap="square" lIns="0" tIns="0" rIns="0" bIns="0" rtlCol="0" anchor="ctr">
            <a:normAutofit/>
          </a:bodyPr>
          <a:lstStyle/>
          <a:p>
            <a:pPr marL="0" indent="0">
              <a:buNone/>
            </a:pPr>
            <a:r>
              <a:rPr lang="en-US" sz="820" b="1" dirty="0">
                <a:solidFill>
                  <a:srgbClr val="F8FAFC"/>
                </a:solidFill>
                <a:latin typeface="Aptos" pitchFamily="34" charset="0"/>
                <a:ea typeface="Aptos" pitchFamily="34" charset="-122"/>
                <a:cs typeface="Aptos" pitchFamily="34" charset="-120"/>
              </a:rPr>
              <a:t>Adjust</a:t>
            </a:r>
            <a:endParaRPr lang="en-US" sz="820" dirty="0"/>
          </a:p>
        </p:txBody>
      </p:sp>
      <p:sp>
        <p:nvSpPr>
          <p:cNvPr id="20" name="Text 18"/>
          <p:cNvSpPr/>
          <p:nvPr/>
        </p:nvSpPr>
        <p:spPr>
          <a:xfrm>
            <a:off x="2679192" y="1709928"/>
            <a:ext cx="795528" cy="594360"/>
          </a:xfrm>
          <a:prstGeom prst="rect">
            <a:avLst/>
          </a:prstGeom>
          <a:noFill/>
          <a:ln/>
        </p:spPr>
        <p:txBody>
          <a:bodyPr wrap="square" lIns="0" tIns="0" rIns="0" bIns="0" rtlCol="0" anchor="ctr">
            <a:normAutofit/>
          </a:bodyPr>
          <a:lstStyle/>
          <a:p>
            <a:pPr marL="0" indent="0">
              <a:buNone/>
            </a:pPr>
            <a:r>
              <a:rPr lang="en-US" sz="640" dirty="0">
                <a:solidFill>
                  <a:srgbClr val="A7B3C6"/>
                </a:solidFill>
                <a:latin typeface="Aptos" pitchFamily="34" charset="0"/>
                <a:ea typeface="Aptos" pitchFamily="34" charset="-122"/>
                <a:cs typeface="Aptos" pitchFamily="34" charset="-120"/>
              </a:rPr>
              <a:t>Depth / gain / contrast</a:t>
            </a:r>
            <a:endParaRPr lang="en-US" sz="640" dirty="0"/>
          </a:p>
        </p:txBody>
      </p:sp>
      <p:sp>
        <p:nvSpPr>
          <p:cNvPr id="21" name="Shape 19"/>
          <p:cNvSpPr/>
          <p:nvPr/>
        </p:nvSpPr>
        <p:spPr>
          <a:xfrm>
            <a:off x="5120640" y="1828800"/>
            <a:ext cx="338328" cy="0"/>
          </a:xfrm>
          <a:prstGeom prst="line">
            <a:avLst/>
          </a:prstGeom>
          <a:noFill/>
          <a:ln w="12700">
            <a:solidFill>
              <a:srgbClr val="1F8EA3"/>
            </a:solidFill>
            <a:prstDash val="solid"/>
            <a:tailEnd type="triangle"/>
          </a:ln>
        </p:spPr>
        <p:txBody>
          <a:bodyPr/>
          <a:lstStyle/>
          <a:p>
            <a:endParaRPr lang="en-US"/>
          </a:p>
        </p:txBody>
      </p:sp>
      <p:sp>
        <p:nvSpPr>
          <p:cNvPr id="22" name="Shape 20"/>
          <p:cNvSpPr/>
          <p:nvPr/>
        </p:nvSpPr>
        <p:spPr>
          <a:xfrm>
            <a:off x="3950208" y="1298448"/>
            <a:ext cx="1325880" cy="1097280"/>
          </a:xfrm>
          <a:prstGeom prst="roundRect">
            <a:avLst>
              <a:gd name="adj" fmla="val 10000"/>
            </a:avLst>
          </a:prstGeom>
          <a:solidFill>
            <a:srgbClr val="111A2D"/>
          </a:solidFill>
          <a:ln w="12700">
            <a:solidFill>
              <a:srgbClr val="111A2D">
                <a:alpha val="0"/>
              </a:srgbClr>
            </a:solidFill>
            <a:prstDash val="solid"/>
          </a:ln>
        </p:spPr>
        <p:txBody>
          <a:bodyPr/>
          <a:lstStyle/>
          <a:p>
            <a:endParaRPr lang="en-US"/>
          </a:p>
        </p:txBody>
      </p:sp>
      <p:sp>
        <p:nvSpPr>
          <p:cNvPr id="23" name="Shape 21"/>
          <p:cNvSpPr/>
          <p:nvPr/>
        </p:nvSpPr>
        <p:spPr>
          <a:xfrm>
            <a:off x="3950208" y="1298448"/>
            <a:ext cx="32004" cy="1097280"/>
          </a:xfrm>
          <a:prstGeom prst="rect">
            <a:avLst/>
          </a:prstGeom>
          <a:solidFill>
            <a:srgbClr val="F59E0B"/>
          </a:solidFill>
          <a:ln w="12700">
            <a:solidFill>
              <a:srgbClr val="F59E0B"/>
            </a:solidFill>
            <a:prstDash val="solid"/>
          </a:ln>
        </p:spPr>
        <p:txBody>
          <a:bodyPr/>
          <a:lstStyle/>
          <a:p>
            <a:endParaRPr lang="en-US"/>
          </a:p>
        </p:txBody>
      </p:sp>
      <p:sp>
        <p:nvSpPr>
          <p:cNvPr id="24" name="Shape 22"/>
          <p:cNvSpPr/>
          <p:nvPr/>
        </p:nvSpPr>
        <p:spPr>
          <a:xfrm>
            <a:off x="4069080" y="1417320"/>
            <a:ext cx="256032" cy="256032"/>
          </a:xfrm>
          <a:prstGeom prst="ellipse">
            <a:avLst/>
          </a:prstGeom>
          <a:solidFill>
            <a:srgbClr val="F59E0B"/>
          </a:solidFill>
          <a:ln w="12700">
            <a:solidFill>
              <a:srgbClr val="F59E0B"/>
            </a:solidFill>
            <a:prstDash val="solid"/>
          </a:ln>
        </p:spPr>
        <p:txBody>
          <a:bodyPr/>
          <a:lstStyle/>
          <a:p>
            <a:endParaRPr lang="en-US"/>
          </a:p>
        </p:txBody>
      </p:sp>
      <p:sp>
        <p:nvSpPr>
          <p:cNvPr id="25" name="Text 23"/>
          <p:cNvSpPr/>
          <p:nvPr/>
        </p:nvSpPr>
        <p:spPr>
          <a:xfrm>
            <a:off x="4069080" y="1463040"/>
            <a:ext cx="256032" cy="109728"/>
          </a:xfrm>
          <a:prstGeom prst="rect">
            <a:avLst/>
          </a:prstGeom>
          <a:noFill/>
          <a:ln/>
        </p:spPr>
        <p:txBody>
          <a:bodyPr wrap="square" lIns="0" tIns="0" rIns="0" bIns="0" rtlCol="0" anchor="ctr"/>
          <a:lstStyle/>
          <a:p>
            <a:pPr marL="0" indent="0" algn="ctr">
              <a:buNone/>
            </a:pPr>
            <a:r>
              <a:rPr lang="en-US" sz="650" b="1" dirty="0">
                <a:solidFill>
                  <a:srgbClr val="070D1A"/>
                </a:solidFill>
                <a:latin typeface="Aptos" pitchFamily="34" charset="0"/>
                <a:ea typeface="Aptos" pitchFamily="34" charset="-122"/>
                <a:cs typeface="Aptos" pitchFamily="34" charset="-120"/>
              </a:rPr>
              <a:t>3</a:t>
            </a:r>
            <a:endParaRPr lang="en-US" sz="650" dirty="0"/>
          </a:p>
        </p:txBody>
      </p:sp>
      <p:sp>
        <p:nvSpPr>
          <p:cNvPr id="26" name="Text 24"/>
          <p:cNvSpPr/>
          <p:nvPr/>
        </p:nvSpPr>
        <p:spPr>
          <a:xfrm>
            <a:off x="4370832" y="1426464"/>
            <a:ext cx="795528" cy="201168"/>
          </a:xfrm>
          <a:prstGeom prst="rect">
            <a:avLst/>
          </a:prstGeom>
          <a:noFill/>
          <a:ln/>
        </p:spPr>
        <p:txBody>
          <a:bodyPr wrap="square" lIns="0" tIns="0" rIns="0" bIns="0" rtlCol="0" anchor="ctr">
            <a:normAutofit/>
          </a:bodyPr>
          <a:lstStyle/>
          <a:p>
            <a:pPr marL="0" indent="0">
              <a:buNone/>
            </a:pPr>
            <a:r>
              <a:rPr lang="en-US" sz="820" b="1" dirty="0">
                <a:solidFill>
                  <a:srgbClr val="F8FAFC"/>
                </a:solidFill>
                <a:latin typeface="Aptos" pitchFamily="34" charset="0"/>
                <a:ea typeface="Aptos" pitchFamily="34" charset="-122"/>
                <a:cs typeface="Aptos" pitchFamily="34" charset="-120"/>
              </a:rPr>
              <a:t>Check safety</a:t>
            </a:r>
            <a:endParaRPr lang="en-US" sz="820" dirty="0"/>
          </a:p>
        </p:txBody>
      </p:sp>
      <p:sp>
        <p:nvSpPr>
          <p:cNvPr id="27" name="Text 25"/>
          <p:cNvSpPr/>
          <p:nvPr/>
        </p:nvSpPr>
        <p:spPr>
          <a:xfrm>
            <a:off x="4370832" y="1709928"/>
            <a:ext cx="795528" cy="594360"/>
          </a:xfrm>
          <a:prstGeom prst="rect">
            <a:avLst/>
          </a:prstGeom>
          <a:noFill/>
          <a:ln/>
        </p:spPr>
        <p:txBody>
          <a:bodyPr wrap="square" lIns="0" tIns="0" rIns="0" bIns="0" rtlCol="0" anchor="ctr">
            <a:normAutofit/>
          </a:bodyPr>
          <a:lstStyle/>
          <a:p>
            <a:pPr marL="0" indent="0">
              <a:buNone/>
            </a:pPr>
            <a:r>
              <a:rPr lang="en-US" sz="640" dirty="0">
                <a:solidFill>
                  <a:srgbClr val="A7B3C6"/>
                </a:solidFill>
                <a:latin typeface="Aptos" pitchFamily="34" charset="0"/>
                <a:ea typeface="Aptos" pitchFamily="34" charset="-122"/>
                <a:cs typeface="Aptos" pitchFamily="34" charset="-120"/>
              </a:rPr>
              <a:t>Doppler path challenge</a:t>
            </a:r>
            <a:endParaRPr lang="en-US" sz="640" dirty="0"/>
          </a:p>
        </p:txBody>
      </p:sp>
      <p:sp>
        <p:nvSpPr>
          <p:cNvPr id="28" name="Shape 26"/>
          <p:cNvSpPr/>
          <p:nvPr/>
        </p:nvSpPr>
        <p:spPr>
          <a:xfrm>
            <a:off x="5641848" y="1298448"/>
            <a:ext cx="1325880" cy="1097280"/>
          </a:xfrm>
          <a:prstGeom prst="roundRect">
            <a:avLst>
              <a:gd name="adj" fmla="val 10000"/>
            </a:avLst>
          </a:prstGeom>
          <a:solidFill>
            <a:srgbClr val="111A2D"/>
          </a:solidFill>
          <a:ln w="12700">
            <a:solidFill>
              <a:srgbClr val="111A2D">
                <a:alpha val="0"/>
              </a:srgbClr>
            </a:solidFill>
            <a:prstDash val="solid"/>
          </a:ln>
        </p:spPr>
        <p:txBody>
          <a:bodyPr/>
          <a:lstStyle/>
          <a:p>
            <a:endParaRPr lang="en-US"/>
          </a:p>
        </p:txBody>
      </p:sp>
      <p:sp>
        <p:nvSpPr>
          <p:cNvPr id="29" name="Shape 27"/>
          <p:cNvSpPr/>
          <p:nvPr/>
        </p:nvSpPr>
        <p:spPr>
          <a:xfrm>
            <a:off x="5641848" y="1298448"/>
            <a:ext cx="32004" cy="1097280"/>
          </a:xfrm>
          <a:prstGeom prst="rect">
            <a:avLst/>
          </a:prstGeom>
          <a:solidFill>
            <a:srgbClr val="12BFE2"/>
          </a:solidFill>
          <a:ln w="12700">
            <a:solidFill>
              <a:srgbClr val="12BFE2"/>
            </a:solidFill>
            <a:prstDash val="solid"/>
          </a:ln>
        </p:spPr>
        <p:txBody>
          <a:bodyPr/>
          <a:lstStyle/>
          <a:p>
            <a:endParaRPr lang="en-US"/>
          </a:p>
        </p:txBody>
      </p:sp>
      <p:sp>
        <p:nvSpPr>
          <p:cNvPr id="30" name="Shape 28"/>
          <p:cNvSpPr/>
          <p:nvPr/>
        </p:nvSpPr>
        <p:spPr>
          <a:xfrm>
            <a:off x="5760720" y="1417320"/>
            <a:ext cx="256032" cy="256032"/>
          </a:xfrm>
          <a:prstGeom prst="ellipse">
            <a:avLst/>
          </a:prstGeom>
          <a:solidFill>
            <a:srgbClr val="12BFE2"/>
          </a:solidFill>
          <a:ln w="12700">
            <a:solidFill>
              <a:srgbClr val="12BFE2"/>
            </a:solidFill>
            <a:prstDash val="solid"/>
          </a:ln>
        </p:spPr>
        <p:txBody>
          <a:bodyPr/>
          <a:lstStyle/>
          <a:p>
            <a:endParaRPr lang="en-US"/>
          </a:p>
        </p:txBody>
      </p:sp>
      <p:sp>
        <p:nvSpPr>
          <p:cNvPr id="31" name="Text 29"/>
          <p:cNvSpPr/>
          <p:nvPr/>
        </p:nvSpPr>
        <p:spPr>
          <a:xfrm>
            <a:off x="5760720" y="1463040"/>
            <a:ext cx="256032" cy="109728"/>
          </a:xfrm>
          <a:prstGeom prst="rect">
            <a:avLst/>
          </a:prstGeom>
          <a:noFill/>
          <a:ln/>
        </p:spPr>
        <p:txBody>
          <a:bodyPr wrap="square" lIns="0" tIns="0" rIns="0" bIns="0" rtlCol="0" anchor="ctr"/>
          <a:lstStyle/>
          <a:p>
            <a:pPr marL="0" indent="0" algn="ctr">
              <a:buNone/>
            </a:pPr>
            <a:r>
              <a:rPr lang="en-US" sz="650" b="1" dirty="0">
                <a:solidFill>
                  <a:srgbClr val="070D1A"/>
                </a:solidFill>
                <a:latin typeface="Aptos" pitchFamily="34" charset="0"/>
                <a:ea typeface="Aptos" pitchFamily="34" charset="-122"/>
                <a:cs typeface="Aptos" pitchFamily="34" charset="-120"/>
              </a:rPr>
              <a:t>4</a:t>
            </a:r>
            <a:endParaRPr lang="en-US" sz="650" dirty="0"/>
          </a:p>
        </p:txBody>
      </p:sp>
      <p:sp>
        <p:nvSpPr>
          <p:cNvPr id="32" name="Text 30"/>
          <p:cNvSpPr/>
          <p:nvPr/>
        </p:nvSpPr>
        <p:spPr>
          <a:xfrm>
            <a:off x="6062472" y="1426464"/>
            <a:ext cx="795528" cy="201168"/>
          </a:xfrm>
          <a:prstGeom prst="rect">
            <a:avLst/>
          </a:prstGeom>
          <a:noFill/>
          <a:ln/>
        </p:spPr>
        <p:txBody>
          <a:bodyPr wrap="square" lIns="0" tIns="0" rIns="0" bIns="0" rtlCol="0" anchor="ctr">
            <a:normAutofit/>
          </a:bodyPr>
          <a:lstStyle/>
          <a:p>
            <a:pPr marL="0" indent="0">
              <a:buNone/>
            </a:pPr>
            <a:r>
              <a:rPr lang="en-US" sz="820" b="1" dirty="0">
                <a:solidFill>
                  <a:srgbClr val="F8FAFC"/>
                </a:solidFill>
                <a:latin typeface="Aptos" pitchFamily="34" charset="0"/>
                <a:ea typeface="Aptos" pitchFamily="34" charset="-122"/>
                <a:cs typeface="Aptos" pitchFamily="34" charset="-120"/>
              </a:rPr>
              <a:t>Feedback</a:t>
            </a:r>
            <a:endParaRPr lang="en-US" sz="820" dirty="0"/>
          </a:p>
        </p:txBody>
      </p:sp>
      <p:sp>
        <p:nvSpPr>
          <p:cNvPr id="33" name="Text 31"/>
          <p:cNvSpPr/>
          <p:nvPr/>
        </p:nvSpPr>
        <p:spPr>
          <a:xfrm>
            <a:off x="6062472" y="1709928"/>
            <a:ext cx="795528" cy="594360"/>
          </a:xfrm>
          <a:prstGeom prst="rect">
            <a:avLst/>
          </a:prstGeom>
          <a:noFill/>
          <a:ln/>
        </p:spPr>
        <p:txBody>
          <a:bodyPr wrap="square" lIns="0" tIns="0" rIns="0" bIns="0" rtlCol="0" anchor="ctr">
            <a:normAutofit/>
          </a:bodyPr>
          <a:lstStyle/>
          <a:p>
            <a:pPr marL="0" indent="0">
              <a:buNone/>
            </a:pPr>
            <a:r>
              <a:rPr lang="en-US" sz="640" dirty="0">
                <a:solidFill>
                  <a:srgbClr val="A7B3C6"/>
                </a:solidFill>
                <a:latin typeface="Aptos" pitchFamily="34" charset="0"/>
                <a:ea typeface="Aptos" pitchFamily="34" charset="-122"/>
                <a:cs typeface="Aptos" pitchFamily="34" charset="-120"/>
              </a:rPr>
              <a:t>Immediate teaching cue</a:t>
            </a:r>
            <a:endParaRPr lang="en-US" sz="640" dirty="0"/>
          </a:p>
        </p:txBody>
      </p:sp>
      <p:sp>
        <p:nvSpPr>
          <p:cNvPr id="34" name="Shape 32"/>
          <p:cNvSpPr/>
          <p:nvPr/>
        </p:nvSpPr>
        <p:spPr>
          <a:xfrm>
            <a:off x="7269480" y="1097280"/>
            <a:ext cx="1371600" cy="2468880"/>
          </a:xfrm>
          <a:prstGeom prst="roundRect">
            <a:avLst>
              <a:gd name="adj" fmla="val 8000"/>
            </a:avLst>
          </a:prstGeom>
          <a:solidFill>
            <a:srgbClr val="0B1220"/>
          </a:solidFill>
          <a:ln w="15240">
            <a:solidFill>
              <a:srgbClr val="2DD4BF"/>
            </a:solidFill>
            <a:prstDash val="solid"/>
          </a:ln>
        </p:spPr>
        <p:txBody>
          <a:bodyPr/>
          <a:lstStyle/>
          <a:p>
            <a:endParaRPr lang="en-US"/>
          </a:p>
        </p:txBody>
      </p:sp>
      <p:sp>
        <p:nvSpPr>
          <p:cNvPr id="35" name="Text 33"/>
          <p:cNvSpPr/>
          <p:nvPr/>
        </p:nvSpPr>
        <p:spPr>
          <a:xfrm>
            <a:off x="7452360" y="1947672"/>
            <a:ext cx="1005840" cy="475488"/>
          </a:xfrm>
          <a:prstGeom prst="rect">
            <a:avLst/>
          </a:prstGeom>
          <a:noFill/>
          <a:ln/>
        </p:spPr>
        <p:txBody>
          <a:bodyPr wrap="square" lIns="0" tIns="0" rIns="0" bIns="0" rtlCol="0" anchor="ctr"/>
          <a:lstStyle/>
          <a:p>
            <a:pPr marL="0" indent="0" algn="ctr">
              <a:buNone/>
            </a:pPr>
            <a:r>
              <a:rPr lang="en-US" sz="1000" b="1" dirty="0">
                <a:solidFill>
                  <a:srgbClr val="2DD4BF"/>
                </a:solidFill>
                <a:latin typeface="Aptos" pitchFamily="34" charset="0"/>
                <a:ea typeface="Aptos" pitchFamily="34" charset="-122"/>
                <a:cs typeface="Aptos" pitchFamily="34" charset="-120"/>
              </a:rPr>
              <a:t>Drop knobology screenshot</a:t>
            </a:r>
            <a:endParaRPr lang="en-US" sz="1000" dirty="0"/>
          </a:p>
        </p:txBody>
      </p:sp>
      <p:sp>
        <p:nvSpPr>
          <p:cNvPr id="36" name="Text 34"/>
          <p:cNvSpPr/>
          <p:nvPr/>
        </p:nvSpPr>
        <p:spPr>
          <a:xfrm>
            <a:off x="7498080" y="2532888"/>
            <a:ext cx="914400" cy="201168"/>
          </a:xfrm>
          <a:prstGeom prst="rect">
            <a:avLst/>
          </a:prstGeom>
          <a:noFill/>
          <a:ln/>
        </p:spPr>
        <p:txBody>
          <a:bodyPr wrap="square" lIns="0" tIns="0" rIns="0" bIns="0" rtlCol="0" anchor="ctr"/>
          <a:lstStyle/>
          <a:p>
            <a:pPr marL="0" indent="0" algn="ctr">
              <a:buNone/>
            </a:pPr>
            <a:r>
              <a:rPr lang="en-US" sz="700" dirty="0">
                <a:solidFill>
                  <a:srgbClr val="7E8CA3"/>
                </a:solidFill>
                <a:latin typeface="Aptos" pitchFamily="34" charset="0"/>
                <a:ea typeface="Aptos" pitchFamily="34" charset="-122"/>
                <a:cs typeface="Aptos" pitchFamily="34" charset="-120"/>
              </a:rPr>
              <a:t>Fix-the-image lab or Doppler mini-lab</a:t>
            </a:r>
            <a:endParaRPr lang="en-US" sz="700" dirty="0"/>
          </a:p>
        </p:txBody>
      </p:sp>
      <p:sp>
        <p:nvSpPr>
          <p:cNvPr id="37" name="Shape 35"/>
          <p:cNvSpPr/>
          <p:nvPr/>
        </p:nvSpPr>
        <p:spPr>
          <a:xfrm>
            <a:off x="713232" y="3035808"/>
            <a:ext cx="6080760" cy="777240"/>
          </a:xfrm>
          <a:prstGeom prst="roundRect">
            <a:avLst/>
          </a:prstGeom>
          <a:solidFill>
            <a:srgbClr val="111A2D"/>
          </a:solidFill>
          <a:ln w="12700">
            <a:solidFill>
              <a:srgbClr val="111A2D"/>
            </a:solidFill>
            <a:prstDash val="solid"/>
          </a:ln>
        </p:spPr>
        <p:txBody>
          <a:bodyPr/>
          <a:lstStyle/>
          <a:p>
            <a:endParaRPr lang="en-US"/>
          </a:p>
        </p:txBody>
      </p:sp>
      <p:sp>
        <p:nvSpPr>
          <p:cNvPr id="38" name="Text 36"/>
          <p:cNvSpPr/>
          <p:nvPr/>
        </p:nvSpPr>
        <p:spPr>
          <a:xfrm>
            <a:off x="950976" y="3246120"/>
            <a:ext cx="2377440" cy="182880"/>
          </a:xfrm>
          <a:prstGeom prst="rect">
            <a:avLst/>
          </a:prstGeom>
          <a:noFill/>
          <a:ln/>
        </p:spPr>
        <p:txBody>
          <a:bodyPr wrap="square" lIns="0" tIns="0" rIns="0" bIns="0" rtlCol="0" anchor="ctr"/>
          <a:lstStyle/>
          <a:p>
            <a:pPr marL="0" indent="0">
              <a:buNone/>
            </a:pPr>
            <a:r>
              <a:rPr lang="en-US" sz="1000" b="1" dirty="0">
                <a:solidFill>
                  <a:srgbClr val="F8FAFC"/>
                </a:solidFill>
              </a:rPr>
              <a:t>Why this is a good first AI-built module</a:t>
            </a:r>
            <a:endParaRPr lang="en-US" sz="1000" dirty="0"/>
          </a:p>
        </p:txBody>
      </p:sp>
      <p:sp>
        <p:nvSpPr>
          <p:cNvPr id="39" name="Text 37"/>
          <p:cNvSpPr/>
          <p:nvPr/>
        </p:nvSpPr>
        <p:spPr>
          <a:xfrm>
            <a:off x="3474720" y="3246120"/>
            <a:ext cx="2926080" cy="219456"/>
          </a:xfrm>
          <a:prstGeom prst="rect">
            <a:avLst/>
          </a:prstGeom>
          <a:noFill/>
          <a:ln/>
        </p:spPr>
        <p:txBody>
          <a:bodyPr wrap="square" lIns="0" tIns="0" rIns="0" bIns="0" rtlCol="0" anchor="ctr">
            <a:normAutofit/>
          </a:bodyPr>
          <a:lstStyle/>
          <a:p>
            <a:pPr marL="0" indent="0">
              <a:buNone/>
            </a:pPr>
            <a:r>
              <a:rPr lang="en-US" sz="760" dirty="0">
                <a:solidFill>
                  <a:srgbClr val="A7B3C6"/>
                </a:solidFill>
              </a:rPr>
              <a:t>The educator defines learning states and feedback; the AI implements sliders, state, scoring, local progress, and tests.</a:t>
            </a:r>
            <a:endParaRPr lang="en-US" sz="760" dirty="0"/>
          </a:p>
        </p:txBody>
      </p:sp>
      <p:sp>
        <p:nvSpPr>
          <p:cNvPr id="40" name="Text 38"/>
          <p:cNvSpPr/>
          <p:nvPr/>
        </p:nvSpPr>
        <p:spPr>
          <a:xfrm>
            <a:off x="1005840" y="4224528"/>
            <a:ext cx="7132320" cy="164592"/>
          </a:xfrm>
          <a:prstGeom prst="rect">
            <a:avLst/>
          </a:prstGeom>
          <a:noFill/>
          <a:ln/>
        </p:spPr>
        <p:txBody>
          <a:bodyPr wrap="square" lIns="0" tIns="0" rIns="0" bIns="0" rtlCol="0" anchor="ctr"/>
          <a:lstStyle/>
          <a:p>
            <a:pPr marL="0" indent="0" algn="ctr">
              <a:buNone/>
            </a:pPr>
            <a:r>
              <a:rPr lang="en-US" sz="750" b="1" dirty="0">
                <a:solidFill>
                  <a:srgbClr val="F59E0B"/>
                </a:solidFill>
                <a:latin typeface="Aptos" pitchFamily="34" charset="0"/>
                <a:ea typeface="Aptos" pitchFamily="34" charset="-122"/>
                <a:cs typeface="Aptos" pitchFamily="34" charset="-120"/>
              </a:rPr>
              <a:t>Teaching boundary: simulated visuals are educational approximations, not clinically validated ultrasound physics.</a:t>
            </a:r>
            <a:endParaRPr lang="en-US" sz="7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70D1A"/>
        </a:solidFill>
        <a:effectLst/>
      </p:bgPr>
    </p:bg>
    <p:spTree>
      <p:nvGrpSpPr>
        <p:cNvPr id="1" name=""/>
        <p:cNvGrpSpPr/>
        <p:nvPr/>
      </p:nvGrpSpPr>
      <p:grpSpPr>
        <a:xfrm>
          <a:off x="0" y="0"/>
          <a:ext cx="0" cy="0"/>
          <a:chOff x="0" y="0"/>
          <a:chExt cx="0" cy="0"/>
        </a:xfrm>
      </p:grpSpPr>
      <p:sp>
        <p:nvSpPr>
          <p:cNvPr id="2" name="Text 0"/>
          <p:cNvSpPr/>
          <p:nvPr/>
        </p:nvSpPr>
        <p:spPr>
          <a:xfrm>
            <a:off x="411480" y="274320"/>
            <a:ext cx="3474720" cy="146304"/>
          </a:xfrm>
          <a:prstGeom prst="rect">
            <a:avLst/>
          </a:prstGeom>
          <a:noFill/>
          <a:ln/>
        </p:spPr>
        <p:txBody>
          <a:bodyPr wrap="square" lIns="0" tIns="0" rIns="0" bIns="0" rtlCol="0" anchor="ctr"/>
          <a:lstStyle/>
          <a:p>
            <a:pPr marL="0" indent="0">
              <a:buNone/>
            </a:pPr>
            <a:r>
              <a:rPr lang="en-US" sz="650" b="1" dirty="0">
                <a:solidFill>
                  <a:srgbClr val="12BFE2"/>
                </a:solidFill>
                <a:latin typeface="Aptos" pitchFamily="34" charset="0"/>
                <a:ea typeface="Aptos" pitchFamily="34" charset="-122"/>
                <a:cs typeface="Aptos" pitchFamily="34" charset="-120"/>
              </a:rPr>
              <a:t>MODULE FOCUS</a:t>
            </a:r>
            <a:endParaRPr lang="en-US" sz="650" dirty="0"/>
          </a:p>
        </p:txBody>
      </p:sp>
      <p:sp>
        <p:nvSpPr>
          <p:cNvPr id="3" name="Text 1"/>
          <p:cNvSpPr/>
          <p:nvPr/>
        </p:nvSpPr>
        <p:spPr>
          <a:xfrm>
            <a:off x="411480" y="612648"/>
            <a:ext cx="5669280" cy="384048"/>
          </a:xfrm>
          <a:prstGeom prst="rect">
            <a:avLst/>
          </a:prstGeom>
          <a:noFill/>
          <a:ln/>
        </p:spPr>
        <p:txBody>
          <a:bodyPr wrap="square" lIns="0" tIns="0" rIns="0" bIns="0" rtlCol="0" anchor="ctr">
            <a:normAutofit/>
          </a:bodyPr>
          <a:lstStyle/>
          <a:p>
            <a:pPr marL="0" indent="0">
              <a:buNone/>
            </a:pPr>
            <a:r>
              <a:rPr lang="en-US" sz="2100" b="1" dirty="0">
                <a:solidFill>
                  <a:srgbClr val="F8FAFC"/>
                </a:solidFill>
                <a:latin typeface="Aptos Display" pitchFamily="34" charset="0"/>
                <a:ea typeface="Aptos Display" pitchFamily="34" charset="-122"/>
                <a:cs typeface="Aptos Display" pitchFamily="34" charset="-120"/>
              </a:rPr>
              <a:t>What the prompt looked like</a:t>
            </a:r>
            <a:endParaRPr lang="en-US" sz="2100" dirty="0"/>
          </a:p>
        </p:txBody>
      </p:sp>
      <p:sp>
        <p:nvSpPr>
          <p:cNvPr id="4" name="Text 2"/>
          <p:cNvSpPr/>
          <p:nvPr/>
        </p:nvSpPr>
        <p:spPr>
          <a:xfrm>
            <a:off x="411480" y="4828032"/>
            <a:ext cx="4754880" cy="109728"/>
          </a:xfrm>
          <a:prstGeom prst="rect">
            <a:avLst/>
          </a:prstGeom>
          <a:noFill/>
          <a:ln/>
        </p:spPr>
        <p:txBody>
          <a:bodyPr wrap="square" lIns="0" tIns="0" rIns="0" bIns="0" rtlCol="0" anchor="ctr"/>
          <a:lstStyle/>
          <a:p>
            <a:pPr marL="0" indent="0">
              <a:buNone/>
            </a:pPr>
            <a:r>
              <a:rPr lang="en-US" sz="550" dirty="0">
                <a:solidFill>
                  <a:srgbClr val="5F6B7A"/>
                </a:solidFill>
                <a:latin typeface="Aptos" pitchFamily="34" charset="0"/>
                <a:ea typeface="Aptos" pitchFamily="34" charset="-122"/>
                <a:cs typeface="Aptos" pitchFamily="34" charset="-120"/>
              </a:rPr>
              <a:t>AABIP Webinar 2026  |  AI in Interventional Pulmonology</a:t>
            </a:r>
            <a:endParaRPr lang="en-US" sz="550" dirty="0"/>
          </a:p>
        </p:txBody>
      </p:sp>
      <p:sp>
        <p:nvSpPr>
          <p:cNvPr id="5" name="Text 3"/>
          <p:cNvSpPr/>
          <p:nvPr/>
        </p:nvSpPr>
        <p:spPr>
          <a:xfrm>
            <a:off x="8366760" y="4828032"/>
            <a:ext cx="365760" cy="109728"/>
          </a:xfrm>
          <a:prstGeom prst="rect">
            <a:avLst/>
          </a:prstGeom>
          <a:noFill/>
          <a:ln/>
        </p:spPr>
        <p:txBody>
          <a:bodyPr wrap="square" lIns="0" tIns="0" rIns="0" bIns="0" rtlCol="0" anchor="ctr"/>
          <a:lstStyle/>
          <a:p>
            <a:pPr marL="0" indent="0" algn="r">
              <a:buNone/>
            </a:pPr>
            <a:r>
              <a:rPr lang="en-US" sz="550" dirty="0">
                <a:solidFill>
                  <a:srgbClr val="5F6B7A"/>
                </a:solidFill>
                <a:latin typeface="Aptos" pitchFamily="34" charset="0"/>
                <a:ea typeface="Aptos" pitchFamily="34" charset="-122"/>
                <a:cs typeface="Aptos" pitchFamily="34" charset="-120"/>
              </a:rPr>
              <a:t>12 / 22</a:t>
            </a:r>
            <a:endParaRPr lang="en-US" sz="550" dirty="0"/>
          </a:p>
        </p:txBody>
      </p:sp>
      <p:sp>
        <p:nvSpPr>
          <p:cNvPr id="6" name="Shape 4"/>
          <p:cNvSpPr/>
          <p:nvPr/>
        </p:nvSpPr>
        <p:spPr>
          <a:xfrm>
            <a:off x="411480" y="1060704"/>
            <a:ext cx="1143000" cy="0"/>
          </a:xfrm>
          <a:prstGeom prst="line">
            <a:avLst/>
          </a:prstGeom>
          <a:noFill/>
          <a:ln w="15240">
            <a:solidFill>
              <a:srgbClr val="12BFE2"/>
            </a:solidFill>
            <a:prstDash val="solid"/>
          </a:ln>
        </p:spPr>
        <p:txBody>
          <a:bodyPr/>
          <a:lstStyle/>
          <a:p>
            <a:endParaRPr lang="en-US"/>
          </a:p>
        </p:txBody>
      </p:sp>
      <p:sp>
        <p:nvSpPr>
          <p:cNvPr id="7" name="Text 5"/>
          <p:cNvSpPr/>
          <p:nvPr/>
        </p:nvSpPr>
        <p:spPr>
          <a:xfrm>
            <a:off x="685800" y="1143000"/>
            <a:ext cx="6583680" cy="237744"/>
          </a:xfrm>
          <a:prstGeom prst="rect">
            <a:avLst/>
          </a:prstGeom>
          <a:noFill/>
          <a:ln/>
        </p:spPr>
        <p:txBody>
          <a:bodyPr wrap="square" lIns="0" tIns="0" rIns="0" bIns="0" rtlCol="0" anchor="ctr"/>
          <a:lstStyle/>
          <a:p>
            <a:pPr marL="0" indent="0">
              <a:buNone/>
            </a:pPr>
            <a:r>
              <a:rPr lang="en-US" sz="1500" b="1" dirty="0">
                <a:solidFill>
                  <a:srgbClr val="F8FAFC"/>
                </a:solidFill>
                <a:latin typeface="Aptos Display" pitchFamily="34" charset="0"/>
                <a:ea typeface="Aptos Display" pitchFamily="34" charset="-122"/>
                <a:cs typeface="Aptos Display" pitchFamily="34" charset="-120"/>
              </a:rPr>
              <a:t>A useful prompt is basically a mini product spec + acceptance test.</a:t>
            </a:r>
            <a:endParaRPr lang="en-US" sz="1500" dirty="0"/>
          </a:p>
        </p:txBody>
      </p:sp>
      <p:sp>
        <p:nvSpPr>
          <p:cNvPr id="8" name="Shape 6"/>
          <p:cNvSpPr/>
          <p:nvPr/>
        </p:nvSpPr>
        <p:spPr>
          <a:xfrm>
            <a:off x="777240" y="1627632"/>
            <a:ext cx="7589520" cy="2404872"/>
          </a:xfrm>
          <a:prstGeom prst="roundRect">
            <a:avLst/>
          </a:prstGeom>
          <a:solidFill>
            <a:srgbClr val="020617"/>
          </a:solidFill>
          <a:ln w="8890">
            <a:solidFill>
              <a:srgbClr val="1E293B"/>
            </a:solidFill>
            <a:prstDash val="solid"/>
          </a:ln>
        </p:spPr>
        <p:txBody>
          <a:bodyPr/>
          <a:lstStyle/>
          <a:p>
            <a:endParaRPr lang="en-US"/>
          </a:p>
        </p:txBody>
      </p:sp>
      <p:sp>
        <p:nvSpPr>
          <p:cNvPr id="9" name="Text 7"/>
          <p:cNvSpPr/>
          <p:nvPr/>
        </p:nvSpPr>
        <p:spPr>
          <a:xfrm>
            <a:off x="1051560" y="1874520"/>
            <a:ext cx="7040880" cy="1783080"/>
          </a:xfrm>
          <a:prstGeom prst="rect">
            <a:avLst/>
          </a:prstGeom>
          <a:noFill/>
          <a:ln/>
        </p:spPr>
        <p:txBody>
          <a:bodyPr wrap="square" lIns="0" tIns="0" rIns="0" bIns="0" rtlCol="0" anchor="ctr">
            <a:normAutofit/>
          </a:bodyPr>
          <a:lstStyle/>
          <a:p>
            <a:pPr marL="0" indent="0">
              <a:buNone/>
            </a:pPr>
            <a:r>
              <a:rPr lang="en-US" sz="690" dirty="0">
                <a:solidFill>
                  <a:srgbClr val="D1D5DB"/>
                </a:solidFill>
                <a:latin typeface="Courier New" pitchFamily="34" charset="0"/>
                <a:ea typeface="Courier New" pitchFamily="34" charset="-122"/>
                <a:cs typeface="Courier New" pitchFamily="34" charset="-120"/>
              </a:rPr>
              <a:t>Build one complete knobology learning interaction.</a:t>
            </a:r>
            <a:endParaRPr lang="en-US" sz="690" dirty="0"/>
          </a:p>
          <a:p>
            <a:pPr marL="0" indent="0">
              <a:buNone/>
            </a:pPr>
            <a:endParaRPr lang="en-US" sz="690" dirty="0"/>
          </a:p>
          <a:p>
            <a:pPr marL="0" indent="0">
              <a:buNone/>
            </a:pPr>
            <a:r>
              <a:rPr lang="en-US" sz="690" dirty="0">
                <a:solidFill>
                  <a:srgbClr val="D1D5DB"/>
                </a:solidFill>
                <a:latin typeface="Courier New" pitchFamily="34" charset="0"/>
                <a:ea typeface="Courier New" pitchFamily="34" charset="-122"/>
                <a:cs typeface="Courier New" pitchFamily="34" charset="-120"/>
              </a:rPr>
              <a:t>Learner task:</a:t>
            </a:r>
            <a:endParaRPr lang="en-US" sz="690" dirty="0"/>
          </a:p>
          <a:p>
            <a:pPr marL="0" indent="0">
              <a:buNone/>
            </a:pPr>
            <a:r>
              <a:rPr lang="en-US" sz="690" dirty="0">
                <a:solidFill>
                  <a:srgbClr val="D1D5DB"/>
                </a:solidFill>
                <a:latin typeface="Courier New" pitchFamily="34" charset="0"/>
                <a:ea typeface="Courier New" pitchFamily="34" charset="-122"/>
                <a:cs typeface="Courier New" pitchFamily="34" charset="-120"/>
              </a:rPr>
              <a:t>- See a suboptimal CP-EBUS image state</a:t>
            </a:r>
            <a:endParaRPr lang="en-US" sz="690" dirty="0"/>
          </a:p>
          <a:p>
            <a:pPr marL="0" indent="0">
              <a:buNone/>
            </a:pPr>
            <a:r>
              <a:rPr lang="en-US" sz="690" dirty="0">
                <a:solidFill>
                  <a:srgbClr val="D1D5DB"/>
                </a:solidFill>
                <a:latin typeface="Courier New" pitchFamily="34" charset="0"/>
                <a:ea typeface="Courier New" pitchFamily="34" charset="-122"/>
                <a:cs typeface="Courier New" pitchFamily="34" charset="-120"/>
              </a:rPr>
              <a:t>- Adjust depth, gain, contrast, and Doppler</a:t>
            </a:r>
            <a:endParaRPr lang="en-US" sz="690" dirty="0"/>
          </a:p>
          <a:p>
            <a:pPr marL="0" indent="0">
              <a:buNone/>
            </a:pPr>
            <a:r>
              <a:rPr lang="en-US" sz="690" dirty="0">
                <a:solidFill>
                  <a:srgbClr val="D1D5DB"/>
                </a:solidFill>
                <a:latin typeface="Courier New" pitchFamily="34" charset="0"/>
                <a:ea typeface="Courier New" pitchFamily="34" charset="-122"/>
                <a:cs typeface="Courier New" pitchFamily="34" charset="-120"/>
              </a:rPr>
              <a:t>- Receive immediate, educational feedback</a:t>
            </a:r>
            <a:endParaRPr lang="en-US" sz="690" dirty="0"/>
          </a:p>
          <a:p>
            <a:pPr marL="0" indent="0">
              <a:buNone/>
            </a:pPr>
            <a:r>
              <a:rPr lang="en-US" sz="690" dirty="0">
                <a:solidFill>
                  <a:srgbClr val="D1D5DB"/>
                </a:solidFill>
                <a:latin typeface="Courier New" pitchFamily="34" charset="0"/>
                <a:ea typeface="Courier New" pitchFamily="34" charset="-122"/>
                <a:cs typeface="Courier New" pitchFamily="34" charset="-120"/>
              </a:rPr>
              <a:t>- Save progress locally</a:t>
            </a:r>
            <a:endParaRPr lang="en-US" sz="690" dirty="0"/>
          </a:p>
          <a:p>
            <a:pPr marL="0" indent="0">
              <a:buNone/>
            </a:pPr>
            <a:endParaRPr lang="en-US" sz="690" dirty="0"/>
          </a:p>
          <a:p>
            <a:pPr marL="0" indent="0">
              <a:buNone/>
            </a:pPr>
            <a:r>
              <a:rPr lang="en-US" sz="690" dirty="0">
                <a:solidFill>
                  <a:srgbClr val="D1D5DB"/>
                </a:solidFill>
                <a:latin typeface="Courier New" pitchFamily="34" charset="0"/>
                <a:ea typeface="Courier New" pitchFamily="34" charset="-122"/>
                <a:cs typeface="Courier New" pitchFamily="34" charset="-120"/>
              </a:rPr>
              <a:t>Constraints:</a:t>
            </a:r>
            <a:endParaRPr lang="en-US" sz="690" dirty="0"/>
          </a:p>
          <a:p>
            <a:pPr marL="0" indent="0">
              <a:buNone/>
            </a:pPr>
            <a:r>
              <a:rPr lang="en-US" sz="690" dirty="0">
                <a:solidFill>
                  <a:srgbClr val="D1D5DB"/>
                </a:solidFill>
                <a:latin typeface="Courier New" pitchFamily="34" charset="0"/>
                <a:ea typeface="Courier New" pitchFamily="34" charset="-122"/>
                <a:cs typeface="Courier New" pitchFamily="34" charset="-120"/>
              </a:rPr>
              <a:t>- Keep curriculum text in local JSON</a:t>
            </a:r>
            <a:endParaRPr lang="en-US" sz="690" dirty="0"/>
          </a:p>
          <a:p>
            <a:pPr marL="0" indent="0">
              <a:buNone/>
            </a:pPr>
            <a:r>
              <a:rPr lang="en-US" sz="690" dirty="0">
                <a:solidFill>
                  <a:srgbClr val="D1D5DB"/>
                </a:solidFill>
                <a:latin typeface="Courier New" pitchFamily="34" charset="0"/>
                <a:ea typeface="Courier New" pitchFamily="34" charset="-122"/>
                <a:cs typeface="Courier New" pitchFamily="34" charset="-120"/>
              </a:rPr>
              <a:t>- Do not add clinical-diagnostic claims</a:t>
            </a:r>
            <a:endParaRPr lang="en-US" sz="690" dirty="0"/>
          </a:p>
          <a:p>
            <a:pPr marL="0" indent="0">
              <a:buNone/>
            </a:pPr>
            <a:r>
              <a:rPr lang="en-US" sz="690" dirty="0">
                <a:solidFill>
                  <a:srgbClr val="D1D5DB"/>
                </a:solidFill>
                <a:latin typeface="Courier New" pitchFamily="34" charset="0"/>
                <a:ea typeface="Courier New" pitchFamily="34" charset="-122"/>
                <a:cs typeface="Courier New" pitchFamily="34" charset="-120"/>
              </a:rPr>
              <a:t>- Do not add new dependencies without asking</a:t>
            </a:r>
            <a:endParaRPr lang="en-US" sz="690" dirty="0"/>
          </a:p>
          <a:p>
            <a:pPr marL="0" indent="0">
              <a:buNone/>
            </a:pPr>
            <a:r>
              <a:rPr lang="en-US" sz="690" dirty="0">
                <a:solidFill>
                  <a:srgbClr val="D1D5DB"/>
                </a:solidFill>
                <a:latin typeface="Courier New" pitchFamily="34" charset="0"/>
                <a:ea typeface="Courier New" pitchFamily="34" charset="-122"/>
                <a:cs typeface="Courier New" pitchFamily="34" charset="-120"/>
              </a:rPr>
              <a:t>- Add focused tests for scoring/state transitions</a:t>
            </a:r>
            <a:endParaRPr lang="en-US" sz="690" dirty="0"/>
          </a:p>
          <a:p>
            <a:pPr marL="0" indent="0">
              <a:buNone/>
            </a:pPr>
            <a:endParaRPr lang="en-US" sz="690" dirty="0"/>
          </a:p>
          <a:p>
            <a:pPr marL="0" indent="0">
              <a:buNone/>
            </a:pPr>
            <a:r>
              <a:rPr lang="en-US" sz="690" dirty="0">
                <a:solidFill>
                  <a:srgbClr val="D1D5DB"/>
                </a:solidFill>
                <a:latin typeface="Courier New" pitchFamily="34" charset="0"/>
                <a:ea typeface="Courier New" pitchFamily="34" charset="-122"/>
                <a:cs typeface="Courier New" pitchFamily="34" charset="-120"/>
              </a:rPr>
              <a:t>End with: files changed, commands run, test results, and limitations.</a:t>
            </a:r>
            <a:endParaRPr lang="en-US" sz="690" dirty="0"/>
          </a:p>
        </p:txBody>
      </p:sp>
      <p:sp>
        <p:nvSpPr>
          <p:cNvPr id="10" name="Text 8"/>
          <p:cNvSpPr/>
          <p:nvPr/>
        </p:nvSpPr>
        <p:spPr>
          <a:xfrm>
            <a:off x="1005840" y="4251960"/>
            <a:ext cx="7132320" cy="164592"/>
          </a:xfrm>
          <a:prstGeom prst="rect">
            <a:avLst/>
          </a:prstGeom>
          <a:noFill/>
          <a:ln/>
        </p:spPr>
        <p:txBody>
          <a:bodyPr wrap="square" lIns="0" tIns="0" rIns="0" bIns="0" rtlCol="0" anchor="ctr"/>
          <a:lstStyle/>
          <a:p>
            <a:pPr marL="0" indent="0" algn="ctr">
              <a:buNone/>
            </a:pPr>
            <a:r>
              <a:rPr lang="en-US" sz="800" b="1" dirty="0">
                <a:solidFill>
                  <a:srgbClr val="12BFE2"/>
                </a:solidFill>
                <a:latin typeface="Aptos" pitchFamily="34" charset="0"/>
                <a:ea typeface="Aptos" pitchFamily="34" charset="-122"/>
                <a:cs typeface="Aptos" pitchFamily="34" charset="-120"/>
              </a:rPr>
              <a:t>Notice what is specified: learner behavior, content location, forbidden claims, tests, and reporting.</a:t>
            </a:r>
            <a:endParaRPr lang="en-US" sz="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70D1A"/>
        </a:solidFill>
        <a:effectLst/>
      </p:bgPr>
    </p:bg>
    <p:spTree>
      <p:nvGrpSpPr>
        <p:cNvPr id="1" name=""/>
        <p:cNvGrpSpPr/>
        <p:nvPr/>
      </p:nvGrpSpPr>
      <p:grpSpPr>
        <a:xfrm>
          <a:off x="0" y="0"/>
          <a:ext cx="0" cy="0"/>
          <a:chOff x="0" y="0"/>
          <a:chExt cx="0" cy="0"/>
        </a:xfrm>
      </p:grpSpPr>
      <p:sp>
        <p:nvSpPr>
          <p:cNvPr id="2" name="Text 0"/>
          <p:cNvSpPr/>
          <p:nvPr/>
        </p:nvSpPr>
        <p:spPr>
          <a:xfrm>
            <a:off x="411480" y="274320"/>
            <a:ext cx="3474720" cy="146304"/>
          </a:xfrm>
          <a:prstGeom prst="rect">
            <a:avLst/>
          </a:prstGeom>
          <a:noFill/>
          <a:ln/>
        </p:spPr>
        <p:txBody>
          <a:bodyPr wrap="square" lIns="0" tIns="0" rIns="0" bIns="0" rtlCol="0" anchor="ctr"/>
          <a:lstStyle/>
          <a:p>
            <a:pPr marL="0" indent="0">
              <a:buNone/>
            </a:pPr>
            <a:r>
              <a:rPr lang="en-US" sz="650" b="1" dirty="0">
                <a:solidFill>
                  <a:srgbClr val="12BFE2"/>
                </a:solidFill>
                <a:latin typeface="Aptos" pitchFamily="34" charset="0"/>
                <a:ea typeface="Aptos" pitchFamily="34" charset="-122"/>
                <a:cs typeface="Aptos" pitchFamily="34" charset="-120"/>
              </a:rPr>
              <a:t>MODULE FOCUS</a:t>
            </a:r>
            <a:endParaRPr lang="en-US" sz="650" dirty="0"/>
          </a:p>
        </p:txBody>
      </p:sp>
      <p:sp>
        <p:nvSpPr>
          <p:cNvPr id="3" name="Text 1"/>
          <p:cNvSpPr/>
          <p:nvPr/>
        </p:nvSpPr>
        <p:spPr>
          <a:xfrm>
            <a:off x="411480" y="612648"/>
            <a:ext cx="5669280" cy="384048"/>
          </a:xfrm>
          <a:prstGeom prst="rect">
            <a:avLst/>
          </a:prstGeom>
          <a:noFill/>
          <a:ln/>
        </p:spPr>
        <p:txBody>
          <a:bodyPr wrap="square" lIns="0" tIns="0" rIns="0" bIns="0" rtlCol="0" anchor="ctr">
            <a:normAutofit/>
          </a:bodyPr>
          <a:lstStyle/>
          <a:p>
            <a:pPr marL="0" indent="0">
              <a:buNone/>
            </a:pPr>
            <a:r>
              <a:rPr lang="en-US" sz="2100" b="1" dirty="0">
                <a:solidFill>
                  <a:srgbClr val="F8FAFC"/>
                </a:solidFill>
                <a:latin typeface="Aptos Display" pitchFamily="34" charset="0"/>
                <a:ea typeface="Aptos Display" pitchFamily="34" charset="-122"/>
                <a:cs typeface="Aptos Display" pitchFamily="34" charset="-120"/>
              </a:rPr>
              <a:t>EBUS simulator: the harder edge</a:t>
            </a:r>
            <a:endParaRPr lang="en-US" sz="2100" dirty="0"/>
          </a:p>
        </p:txBody>
      </p:sp>
      <p:sp>
        <p:nvSpPr>
          <p:cNvPr id="4" name="Text 2"/>
          <p:cNvSpPr/>
          <p:nvPr/>
        </p:nvSpPr>
        <p:spPr>
          <a:xfrm>
            <a:off x="411480" y="4828032"/>
            <a:ext cx="4754880" cy="109728"/>
          </a:xfrm>
          <a:prstGeom prst="rect">
            <a:avLst/>
          </a:prstGeom>
          <a:noFill/>
          <a:ln/>
        </p:spPr>
        <p:txBody>
          <a:bodyPr wrap="square" lIns="0" tIns="0" rIns="0" bIns="0" rtlCol="0" anchor="ctr"/>
          <a:lstStyle/>
          <a:p>
            <a:pPr marL="0" indent="0">
              <a:buNone/>
            </a:pPr>
            <a:r>
              <a:rPr lang="en-US" sz="550" dirty="0">
                <a:solidFill>
                  <a:srgbClr val="5F6B7A"/>
                </a:solidFill>
                <a:latin typeface="Aptos" pitchFamily="34" charset="0"/>
                <a:ea typeface="Aptos" pitchFamily="34" charset="-122"/>
                <a:cs typeface="Aptos" pitchFamily="34" charset="-120"/>
              </a:rPr>
              <a:t>AABIP Webinar 2026  |  AI in Interventional Pulmonology</a:t>
            </a:r>
            <a:endParaRPr lang="en-US" sz="550" dirty="0"/>
          </a:p>
        </p:txBody>
      </p:sp>
      <p:sp>
        <p:nvSpPr>
          <p:cNvPr id="5" name="Text 3"/>
          <p:cNvSpPr/>
          <p:nvPr/>
        </p:nvSpPr>
        <p:spPr>
          <a:xfrm>
            <a:off x="8366760" y="4828032"/>
            <a:ext cx="365760" cy="109728"/>
          </a:xfrm>
          <a:prstGeom prst="rect">
            <a:avLst/>
          </a:prstGeom>
          <a:noFill/>
          <a:ln/>
        </p:spPr>
        <p:txBody>
          <a:bodyPr wrap="square" lIns="0" tIns="0" rIns="0" bIns="0" rtlCol="0" anchor="ctr"/>
          <a:lstStyle/>
          <a:p>
            <a:pPr marL="0" indent="0" algn="r">
              <a:buNone/>
            </a:pPr>
            <a:r>
              <a:rPr lang="en-US" sz="550" dirty="0">
                <a:solidFill>
                  <a:srgbClr val="5F6B7A"/>
                </a:solidFill>
                <a:latin typeface="Aptos" pitchFamily="34" charset="0"/>
                <a:ea typeface="Aptos" pitchFamily="34" charset="-122"/>
                <a:cs typeface="Aptos" pitchFamily="34" charset="-120"/>
              </a:rPr>
              <a:t>13 / 22</a:t>
            </a:r>
            <a:endParaRPr lang="en-US" sz="550" dirty="0"/>
          </a:p>
        </p:txBody>
      </p:sp>
      <p:sp>
        <p:nvSpPr>
          <p:cNvPr id="6" name="Shape 4"/>
          <p:cNvSpPr/>
          <p:nvPr/>
        </p:nvSpPr>
        <p:spPr>
          <a:xfrm>
            <a:off x="411480" y="1060704"/>
            <a:ext cx="1143000" cy="0"/>
          </a:xfrm>
          <a:prstGeom prst="line">
            <a:avLst/>
          </a:prstGeom>
          <a:noFill/>
          <a:ln w="15240">
            <a:solidFill>
              <a:srgbClr val="12BFE2"/>
            </a:solidFill>
            <a:prstDash val="solid"/>
          </a:ln>
        </p:spPr>
        <p:txBody>
          <a:bodyPr/>
          <a:lstStyle/>
          <a:p>
            <a:endParaRPr lang="en-US"/>
          </a:p>
        </p:txBody>
      </p:sp>
      <p:sp>
        <p:nvSpPr>
          <p:cNvPr id="7" name="Text 5"/>
          <p:cNvSpPr/>
          <p:nvPr/>
        </p:nvSpPr>
        <p:spPr>
          <a:xfrm>
            <a:off x="594360" y="1298448"/>
            <a:ext cx="3840480" cy="292608"/>
          </a:xfrm>
          <a:prstGeom prst="rect">
            <a:avLst/>
          </a:prstGeom>
          <a:noFill/>
          <a:ln/>
        </p:spPr>
        <p:txBody>
          <a:bodyPr wrap="square" lIns="0" tIns="0" rIns="0" bIns="0" rtlCol="0" anchor="ctr"/>
          <a:lstStyle/>
          <a:p>
            <a:pPr marL="0" indent="0">
              <a:buNone/>
            </a:pPr>
            <a:r>
              <a:rPr lang="en-US" sz="1650" b="1" dirty="0">
                <a:solidFill>
                  <a:srgbClr val="F59E0B"/>
                </a:solidFill>
                <a:latin typeface="Aptos Display" pitchFamily="34" charset="0"/>
                <a:ea typeface="Aptos Display" pitchFamily="34" charset="-122"/>
                <a:cs typeface="Aptos Display" pitchFamily="34" charset="-120"/>
              </a:rPr>
              <a:t>A pretty ultrasound fan is not enough.</a:t>
            </a:r>
            <a:endParaRPr lang="en-US" sz="1650" dirty="0"/>
          </a:p>
        </p:txBody>
      </p:sp>
      <p:sp>
        <p:nvSpPr>
          <p:cNvPr id="8" name="Text 6"/>
          <p:cNvSpPr/>
          <p:nvPr/>
        </p:nvSpPr>
        <p:spPr>
          <a:xfrm>
            <a:off x="594360" y="1792224"/>
            <a:ext cx="4206240" cy="310896"/>
          </a:xfrm>
          <a:prstGeom prst="rect">
            <a:avLst/>
          </a:prstGeom>
          <a:noFill/>
          <a:ln/>
        </p:spPr>
        <p:txBody>
          <a:bodyPr wrap="square" lIns="0" tIns="0" rIns="0" bIns="0" rtlCol="0" anchor="ctr">
            <a:normAutofit/>
          </a:bodyPr>
          <a:lstStyle/>
          <a:p>
            <a:pPr marL="0" indent="0">
              <a:buNone/>
            </a:pPr>
            <a:r>
              <a:rPr lang="en-US" sz="900" dirty="0">
                <a:solidFill>
                  <a:srgbClr val="F8FAFC"/>
                </a:solidFill>
                <a:latin typeface="Aptos" pitchFamily="34" charset="0"/>
                <a:ea typeface="Aptos" pitchFamily="34" charset="-122"/>
                <a:cs typeface="Aptos" pitchFamily="34" charset="-120"/>
              </a:rPr>
              <a:t>For convex-probe EBUS, the render must be contact-anchored and target-directed.</a:t>
            </a:r>
            <a:endParaRPr lang="en-US" sz="900" dirty="0"/>
          </a:p>
        </p:txBody>
      </p:sp>
      <p:sp>
        <p:nvSpPr>
          <p:cNvPr id="9" name="Shape 7"/>
          <p:cNvSpPr/>
          <p:nvPr/>
        </p:nvSpPr>
        <p:spPr>
          <a:xfrm>
            <a:off x="6400800" y="2743200"/>
            <a:ext cx="1051560" cy="0"/>
          </a:xfrm>
          <a:prstGeom prst="line">
            <a:avLst/>
          </a:prstGeom>
          <a:noFill/>
          <a:ln w="15240">
            <a:solidFill>
              <a:srgbClr val="F59E0B"/>
            </a:solidFill>
            <a:prstDash val="solid"/>
            <a:tailEnd type="triangle"/>
          </a:ln>
        </p:spPr>
        <p:txBody>
          <a:bodyPr/>
          <a:lstStyle/>
          <a:p>
            <a:endParaRPr lang="en-US"/>
          </a:p>
        </p:txBody>
      </p:sp>
      <p:sp>
        <p:nvSpPr>
          <p:cNvPr id="10" name="Shape 8"/>
          <p:cNvSpPr/>
          <p:nvPr/>
        </p:nvSpPr>
        <p:spPr>
          <a:xfrm>
            <a:off x="5532120" y="2743200"/>
            <a:ext cx="822960" cy="0"/>
          </a:xfrm>
          <a:prstGeom prst="line">
            <a:avLst/>
          </a:prstGeom>
          <a:noFill/>
          <a:ln w="13970">
            <a:solidFill>
              <a:srgbClr val="12BFE2"/>
            </a:solidFill>
            <a:prstDash val="solid"/>
            <a:tailEnd type="triangle"/>
          </a:ln>
        </p:spPr>
        <p:txBody>
          <a:bodyPr/>
          <a:lstStyle/>
          <a:p>
            <a:endParaRPr lang="en-US"/>
          </a:p>
        </p:txBody>
      </p:sp>
      <p:sp>
        <p:nvSpPr>
          <p:cNvPr id="11" name="Shape 9"/>
          <p:cNvSpPr/>
          <p:nvPr/>
        </p:nvSpPr>
        <p:spPr>
          <a:xfrm>
            <a:off x="5029200" y="1143000"/>
            <a:ext cx="3429000" cy="3063240"/>
          </a:xfrm>
          <a:prstGeom prst="roundRect">
            <a:avLst/>
          </a:prstGeom>
          <a:solidFill>
            <a:srgbClr val="111A2D"/>
          </a:solidFill>
          <a:ln w="12700">
            <a:solidFill>
              <a:srgbClr val="111A2D"/>
            </a:solidFill>
            <a:prstDash val="solid"/>
          </a:ln>
        </p:spPr>
        <p:txBody>
          <a:bodyPr/>
          <a:lstStyle/>
          <a:p>
            <a:endParaRPr lang="en-US"/>
          </a:p>
        </p:txBody>
      </p:sp>
      <p:sp>
        <p:nvSpPr>
          <p:cNvPr id="12" name="Shape 10"/>
          <p:cNvSpPr/>
          <p:nvPr/>
        </p:nvSpPr>
        <p:spPr>
          <a:xfrm>
            <a:off x="5449824" y="2048256"/>
            <a:ext cx="1508760" cy="1325880"/>
          </a:xfrm>
          <a:prstGeom prst="arc">
            <a:avLst/>
          </a:prstGeom>
          <a:solidFill>
            <a:srgbClr val="111A2D">
              <a:alpha val="0"/>
            </a:srgbClr>
          </a:solidFill>
          <a:ln w="25400">
            <a:solidFill>
              <a:srgbClr val="12BFE2"/>
            </a:solidFill>
            <a:prstDash val="solid"/>
          </a:ln>
        </p:spPr>
        <p:txBody>
          <a:bodyPr/>
          <a:lstStyle/>
          <a:p>
            <a:endParaRPr lang="en-US"/>
          </a:p>
        </p:txBody>
      </p:sp>
      <p:sp>
        <p:nvSpPr>
          <p:cNvPr id="13" name="Shape 11"/>
          <p:cNvSpPr/>
          <p:nvPr/>
        </p:nvSpPr>
        <p:spPr>
          <a:xfrm rot="1200000">
            <a:off x="6053328" y="1947672"/>
            <a:ext cx="1920240" cy="1600200"/>
          </a:xfrm>
          <a:prstGeom prst="pieWedge">
            <a:avLst/>
          </a:prstGeom>
          <a:solidFill>
            <a:srgbClr val="12BFE2">
              <a:alpha val="22000"/>
            </a:srgbClr>
          </a:solidFill>
          <a:ln w="12700">
            <a:solidFill>
              <a:srgbClr val="12BFE2">
                <a:alpha val="90000"/>
              </a:srgbClr>
            </a:solidFill>
            <a:prstDash val="solid"/>
          </a:ln>
        </p:spPr>
        <p:txBody>
          <a:bodyPr/>
          <a:lstStyle/>
          <a:p>
            <a:endParaRPr lang="en-US"/>
          </a:p>
        </p:txBody>
      </p:sp>
      <p:sp>
        <p:nvSpPr>
          <p:cNvPr id="14" name="Shape 12"/>
          <p:cNvSpPr/>
          <p:nvPr/>
        </p:nvSpPr>
        <p:spPr>
          <a:xfrm>
            <a:off x="5440680" y="2743200"/>
            <a:ext cx="1143000" cy="0"/>
          </a:xfrm>
          <a:prstGeom prst="line">
            <a:avLst/>
          </a:prstGeom>
          <a:noFill/>
          <a:ln w="25400">
            <a:solidFill>
              <a:srgbClr val="2DD4BF"/>
            </a:solidFill>
            <a:prstDash val="solid"/>
            <a:tailEnd type="triangle"/>
          </a:ln>
        </p:spPr>
        <p:txBody>
          <a:bodyPr/>
          <a:lstStyle/>
          <a:p>
            <a:endParaRPr lang="en-US"/>
          </a:p>
        </p:txBody>
      </p:sp>
      <p:sp>
        <p:nvSpPr>
          <p:cNvPr id="15" name="Shape 13"/>
          <p:cNvSpPr/>
          <p:nvPr/>
        </p:nvSpPr>
        <p:spPr>
          <a:xfrm>
            <a:off x="6309360" y="2606040"/>
            <a:ext cx="201168" cy="201168"/>
          </a:xfrm>
          <a:prstGeom prst="ellipse">
            <a:avLst/>
          </a:prstGeom>
          <a:solidFill>
            <a:srgbClr val="12BFE2"/>
          </a:solidFill>
          <a:ln w="12700">
            <a:solidFill>
              <a:srgbClr val="12BFE2"/>
            </a:solidFill>
            <a:prstDash val="solid"/>
          </a:ln>
        </p:spPr>
        <p:txBody>
          <a:bodyPr/>
          <a:lstStyle/>
          <a:p>
            <a:endParaRPr lang="en-US"/>
          </a:p>
        </p:txBody>
      </p:sp>
      <p:sp>
        <p:nvSpPr>
          <p:cNvPr id="16" name="Shape 14"/>
          <p:cNvSpPr/>
          <p:nvPr/>
        </p:nvSpPr>
        <p:spPr>
          <a:xfrm>
            <a:off x="7388352" y="2029968"/>
            <a:ext cx="256032" cy="256032"/>
          </a:xfrm>
          <a:prstGeom prst="ellipse">
            <a:avLst/>
          </a:prstGeom>
          <a:solidFill>
            <a:srgbClr val="F59E0B"/>
          </a:solidFill>
          <a:ln w="12700">
            <a:solidFill>
              <a:srgbClr val="F59E0B"/>
            </a:solidFill>
            <a:prstDash val="solid"/>
          </a:ln>
        </p:spPr>
        <p:txBody>
          <a:bodyPr/>
          <a:lstStyle/>
          <a:p>
            <a:endParaRPr lang="en-US"/>
          </a:p>
        </p:txBody>
      </p:sp>
      <p:sp>
        <p:nvSpPr>
          <p:cNvPr id="17" name="Text 15"/>
          <p:cNvSpPr/>
          <p:nvPr/>
        </p:nvSpPr>
        <p:spPr>
          <a:xfrm>
            <a:off x="5806440" y="3639312"/>
            <a:ext cx="822960" cy="256032"/>
          </a:xfrm>
          <a:prstGeom prst="rect">
            <a:avLst/>
          </a:prstGeom>
          <a:noFill/>
          <a:ln/>
        </p:spPr>
        <p:txBody>
          <a:bodyPr wrap="square" lIns="0" tIns="0" rIns="0" bIns="0" rtlCol="0" anchor="ctr"/>
          <a:lstStyle/>
          <a:p>
            <a:pPr marL="0" indent="0" algn="ctr">
              <a:buNone/>
            </a:pPr>
            <a:r>
              <a:rPr lang="en-US" sz="650" dirty="0">
                <a:solidFill>
                  <a:srgbClr val="12BFE2"/>
                </a:solidFill>
              </a:rPr>
              <a:t>contact</a:t>
            </a:r>
            <a:endParaRPr lang="en-US" sz="650" dirty="0"/>
          </a:p>
          <a:p>
            <a:pPr marL="0" indent="0" algn="ctr">
              <a:buNone/>
            </a:pPr>
            <a:r>
              <a:rPr lang="en-US" sz="650" dirty="0">
                <a:solidFill>
                  <a:srgbClr val="12BFE2"/>
                </a:solidFill>
              </a:rPr>
              <a:t>point</a:t>
            </a:r>
            <a:endParaRPr lang="en-US" sz="650" dirty="0"/>
          </a:p>
        </p:txBody>
      </p:sp>
      <p:sp>
        <p:nvSpPr>
          <p:cNvPr id="18" name="Text 16"/>
          <p:cNvSpPr/>
          <p:nvPr/>
        </p:nvSpPr>
        <p:spPr>
          <a:xfrm>
            <a:off x="7406640" y="1664208"/>
            <a:ext cx="594360" cy="256032"/>
          </a:xfrm>
          <a:prstGeom prst="rect">
            <a:avLst/>
          </a:prstGeom>
          <a:noFill/>
          <a:ln/>
        </p:spPr>
        <p:txBody>
          <a:bodyPr wrap="square" lIns="0" tIns="0" rIns="0" bIns="0" rtlCol="0" anchor="ctr"/>
          <a:lstStyle/>
          <a:p>
            <a:pPr marL="0" indent="0" algn="ctr">
              <a:buNone/>
            </a:pPr>
            <a:r>
              <a:rPr lang="en-US" sz="650" dirty="0">
                <a:solidFill>
                  <a:srgbClr val="F59E0B"/>
                </a:solidFill>
              </a:rPr>
              <a:t>target</a:t>
            </a:r>
            <a:endParaRPr lang="en-US" sz="650" dirty="0"/>
          </a:p>
          <a:p>
            <a:pPr marL="0" indent="0" algn="ctr">
              <a:buNone/>
            </a:pPr>
            <a:r>
              <a:rPr lang="en-US" sz="650" dirty="0">
                <a:solidFill>
                  <a:srgbClr val="F59E0B"/>
                </a:solidFill>
              </a:rPr>
              <a:t>node</a:t>
            </a:r>
            <a:endParaRPr lang="en-US" sz="650" dirty="0"/>
          </a:p>
        </p:txBody>
      </p:sp>
      <p:sp>
        <p:nvSpPr>
          <p:cNvPr id="19" name="Text 17"/>
          <p:cNvSpPr/>
          <p:nvPr/>
        </p:nvSpPr>
        <p:spPr>
          <a:xfrm>
            <a:off x="5349240" y="3968496"/>
            <a:ext cx="2011680" cy="128016"/>
          </a:xfrm>
          <a:prstGeom prst="rect">
            <a:avLst/>
          </a:prstGeom>
          <a:noFill/>
          <a:ln/>
        </p:spPr>
        <p:txBody>
          <a:bodyPr wrap="square" lIns="0" tIns="0" rIns="0" bIns="0" rtlCol="0" anchor="ctr"/>
          <a:lstStyle/>
          <a:p>
            <a:pPr marL="0" indent="0">
              <a:buNone/>
            </a:pPr>
            <a:r>
              <a:rPr lang="en-US" sz="650" dirty="0">
                <a:solidFill>
                  <a:srgbClr val="2DD4BF"/>
                </a:solidFill>
              </a:rPr>
              <a:t>centerline tangent / shaft direction</a:t>
            </a:r>
            <a:endParaRPr lang="en-US" sz="650" dirty="0"/>
          </a:p>
        </p:txBody>
      </p:sp>
      <p:sp>
        <p:nvSpPr>
          <p:cNvPr id="20" name="Text 18"/>
          <p:cNvSpPr/>
          <p:nvPr/>
        </p:nvSpPr>
        <p:spPr>
          <a:xfrm>
            <a:off x="731520" y="2331720"/>
            <a:ext cx="1371600" cy="128016"/>
          </a:xfrm>
          <a:prstGeom prst="rect">
            <a:avLst/>
          </a:prstGeom>
          <a:noFill/>
          <a:ln/>
        </p:spPr>
        <p:txBody>
          <a:bodyPr wrap="square" lIns="0" tIns="0" rIns="0" bIns="0" rtlCol="0" anchor="ctr"/>
          <a:lstStyle/>
          <a:p>
            <a:pPr marL="0" indent="0">
              <a:buNone/>
            </a:pPr>
            <a:r>
              <a:rPr lang="en-US" sz="750" b="1" dirty="0">
                <a:solidFill>
                  <a:srgbClr val="12BFE2"/>
                </a:solidFill>
                <a:latin typeface="Aptos" pitchFamily="34" charset="0"/>
                <a:ea typeface="Aptos" pitchFamily="34" charset="-122"/>
                <a:cs typeface="Aptos" pitchFamily="34" charset="-120"/>
              </a:rPr>
              <a:t>Contact markup</a:t>
            </a:r>
            <a:endParaRPr lang="en-US" sz="750" dirty="0"/>
          </a:p>
        </p:txBody>
      </p:sp>
      <p:sp>
        <p:nvSpPr>
          <p:cNvPr id="21" name="Text 19"/>
          <p:cNvSpPr/>
          <p:nvPr/>
        </p:nvSpPr>
        <p:spPr>
          <a:xfrm>
            <a:off x="2139696" y="2331720"/>
            <a:ext cx="2194560" cy="128016"/>
          </a:xfrm>
          <a:prstGeom prst="rect">
            <a:avLst/>
          </a:prstGeom>
          <a:noFill/>
          <a:ln/>
        </p:spPr>
        <p:txBody>
          <a:bodyPr wrap="square" lIns="0" tIns="0" rIns="0" bIns="0" rtlCol="0" anchor="ctr"/>
          <a:lstStyle/>
          <a:p>
            <a:pPr marL="0" indent="0">
              <a:buNone/>
            </a:pPr>
            <a:r>
              <a:rPr lang="en-US" sz="750" dirty="0">
                <a:solidFill>
                  <a:srgbClr val="A7B3C6"/>
                </a:solidFill>
                <a:latin typeface="Aptos" pitchFamily="34" charset="0"/>
                <a:ea typeface="Aptos" pitchFamily="34" charset="-122"/>
                <a:cs typeface="Aptos" pitchFamily="34" charset="-120"/>
              </a:rPr>
              <a:t>probe touches airway wall</a:t>
            </a:r>
            <a:endParaRPr lang="en-US" sz="750" dirty="0"/>
          </a:p>
        </p:txBody>
      </p:sp>
      <p:sp>
        <p:nvSpPr>
          <p:cNvPr id="22" name="Text 20"/>
          <p:cNvSpPr/>
          <p:nvPr/>
        </p:nvSpPr>
        <p:spPr>
          <a:xfrm>
            <a:off x="731520" y="2679192"/>
            <a:ext cx="1371600" cy="128016"/>
          </a:xfrm>
          <a:prstGeom prst="rect">
            <a:avLst/>
          </a:prstGeom>
          <a:noFill/>
          <a:ln/>
        </p:spPr>
        <p:txBody>
          <a:bodyPr wrap="square" lIns="0" tIns="0" rIns="0" bIns="0" rtlCol="0" anchor="ctr"/>
          <a:lstStyle/>
          <a:p>
            <a:pPr marL="0" indent="0">
              <a:buNone/>
            </a:pPr>
            <a:r>
              <a:rPr lang="en-US" sz="750" b="1" dirty="0">
                <a:solidFill>
                  <a:srgbClr val="12BFE2"/>
                </a:solidFill>
                <a:latin typeface="Aptos" pitchFamily="34" charset="0"/>
                <a:ea typeface="Aptos" pitchFamily="34" charset="-122"/>
                <a:cs typeface="Aptos" pitchFamily="34" charset="-120"/>
              </a:rPr>
              <a:t>Target markup</a:t>
            </a:r>
            <a:endParaRPr lang="en-US" sz="750" dirty="0"/>
          </a:p>
        </p:txBody>
      </p:sp>
      <p:sp>
        <p:nvSpPr>
          <p:cNvPr id="23" name="Text 21"/>
          <p:cNvSpPr/>
          <p:nvPr/>
        </p:nvSpPr>
        <p:spPr>
          <a:xfrm>
            <a:off x="2139696" y="2679192"/>
            <a:ext cx="2194560" cy="128016"/>
          </a:xfrm>
          <a:prstGeom prst="rect">
            <a:avLst/>
          </a:prstGeom>
          <a:noFill/>
          <a:ln/>
        </p:spPr>
        <p:txBody>
          <a:bodyPr wrap="square" lIns="0" tIns="0" rIns="0" bIns="0" rtlCol="0" anchor="ctr"/>
          <a:lstStyle/>
          <a:p>
            <a:pPr marL="0" indent="0">
              <a:buNone/>
            </a:pPr>
            <a:r>
              <a:rPr lang="en-US" sz="750" dirty="0">
                <a:solidFill>
                  <a:srgbClr val="A7B3C6"/>
                </a:solidFill>
                <a:latin typeface="Aptos" pitchFamily="34" charset="0"/>
                <a:ea typeface="Aptos" pitchFamily="34" charset="-122"/>
                <a:cs typeface="Aptos" pitchFamily="34" charset="-120"/>
              </a:rPr>
              <a:t>lymph-node focus</a:t>
            </a:r>
            <a:endParaRPr lang="en-US" sz="750" dirty="0"/>
          </a:p>
        </p:txBody>
      </p:sp>
      <p:sp>
        <p:nvSpPr>
          <p:cNvPr id="24" name="Text 22"/>
          <p:cNvSpPr/>
          <p:nvPr/>
        </p:nvSpPr>
        <p:spPr>
          <a:xfrm>
            <a:off x="731520" y="3026664"/>
            <a:ext cx="1371600" cy="128016"/>
          </a:xfrm>
          <a:prstGeom prst="rect">
            <a:avLst/>
          </a:prstGeom>
          <a:noFill/>
          <a:ln/>
        </p:spPr>
        <p:txBody>
          <a:bodyPr wrap="square" lIns="0" tIns="0" rIns="0" bIns="0" rtlCol="0" anchor="ctr"/>
          <a:lstStyle/>
          <a:p>
            <a:pPr marL="0" indent="0">
              <a:buNone/>
            </a:pPr>
            <a:r>
              <a:rPr lang="en-US" sz="750" b="1" dirty="0">
                <a:solidFill>
                  <a:srgbClr val="12BFE2"/>
                </a:solidFill>
                <a:latin typeface="Aptos" pitchFamily="34" charset="0"/>
                <a:ea typeface="Aptos" pitchFamily="34" charset="-122"/>
                <a:cs typeface="Aptos" pitchFamily="34" charset="-120"/>
              </a:rPr>
              <a:t>Centerline tangent</a:t>
            </a:r>
            <a:endParaRPr lang="en-US" sz="750" dirty="0"/>
          </a:p>
        </p:txBody>
      </p:sp>
      <p:sp>
        <p:nvSpPr>
          <p:cNvPr id="25" name="Text 23"/>
          <p:cNvSpPr/>
          <p:nvPr/>
        </p:nvSpPr>
        <p:spPr>
          <a:xfrm>
            <a:off x="2139696" y="3026664"/>
            <a:ext cx="2194560" cy="128016"/>
          </a:xfrm>
          <a:prstGeom prst="rect">
            <a:avLst/>
          </a:prstGeom>
          <a:noFill/>
          <a:ln/>
        </p:spPr>
        <p:txBody>
          <a:bodyPr wrap="square" lIns="0" tIns="0" rIns="0" bIns="0" rtlCol="0" anchor="ctr"/>
          <a:lstStyle/>
          <a:p>
            <a:pPr marL="0" indent="0">
              <a:buNone/>
            </a:pPr>
            <a:r>
              <a:rPr lang="en-US" sz="750" dirty="0">
                <a:solidFill>
                  <a:srgbClr val="A7B3C6"/>
                </a:solidFill>
                <a:latin typeface="Aptos" pitchFamily="34" charset="0"/>
                <a:ea typeface="Aptos" pitchFamily="34" charset="-122"/>
                <a:cs typeface="Aptos" pitchFamily="34" charset="-120"/>
              </a:rPr>
              <a:t>shaft direction reference</a:t>
            </a:r>
            <a:endParaRPr lang="en-US" sz="750" dirty="0"/>
          </a:p>
        </p:txBody>
      </p:sp>
      <p:sp>
        <p:nvSpPr>
          <p:cNvPr id="26" name="Text 24"/>
          <p:cNvSpPr/>
          <p:nvPr/>
        </p:nvSpPr>
        <p:spPr>
          <a:xfrm>
            <a:off x="731520" y="3374136"/>
            <a:ext cx="1371600" cy="128016"/>
          </a:xfrm>
          <a:prstGeom prst="rect">
            <a:avLst/>
          </a:prstGeom>
          <a:noFill/>
          <a:ln/>
        </p:spPr>
        <p:txBody>
          <a:bodyPr wrap="square" lIns="0" tIns="0" rIns="0" bIns="0" rtlCol="0" anchor="ctr"/>
          <a:lstStyle/>
          <a:p>
            <a:pPr marL="0" indent="0">
              <a:buNone/>
            </a:pPr>
            <a:r>
              <a:rPr lang="en-US" sz="750" b="1" dirty="0">
                <a:solidFill>
                  <a:srgbClr val="12BFE2"/>
                </a:solidFill>
                <a:latin typeface="Aptos" pitchFamily="34" charset="0"/>
                <a:ea typeface="Aptos" pitchFamily="34" charset="-122"/>
                <a:cs typeface="Aptos" pitchFamily="34" charset="-120"/>
              </a:rPr>
              <a:t>Depth axis</a:t>
            </a:r>
            <a:endParaRPr lang="en-US" sz="750" dirty="0"/>
          </a:p>
        </p:txBody>
      </p:sp>
      <p:sp>
        <p:nvSpPr>
          <p:cNvPr id="27" name="Text 25"/>
          <p:cNvSpPr/>
          <p:nvPr/>
        </p:nvSpPr>
        <p:spPr>
          <a:xfrm>
            <a:off x="2139696" y="3374136"/>
            <a:ext cx="2194560" cy="128016"/>
          </a:xfrm>
          <a:prstGeom prst="rect">
            <a:avLst/>
          </a:prstGeom>
          <a:noFill/>
          <a:ln/>
        </p:spPr>
        <p:txBody>
          <a:bodyPr wrap="square" lIns="0" tIns="0" rIns="0" bIns="0" rtlCol="0" anchor="ctr"/>
          <a:lstStyle/>
          <a:p>
            <a:pPr marL="0" indent="0">
              <a:buNone/>
            </a:pPr>
            <a:r>
              <a:rPr lang="en-US" sz="750" dirty="0">
                <a:solidFill>
                  <a:srgbClr val="A7B3C6"/>
                </a:solidFill>
                <a:latin typeface="Aptos" pitchFamily="34" charset="0"/>
                <a:ea typeface="Aptos" pitchFamily="34" charset="-122"/>
                <a:cs typeface="Aptos" pitchFamily="34" charset="-120"/>
              </a:rPr>
              <a:t>toward target, perpendicular to shaft</a:t>
            </a:r>
            <a:endParaRPr lang="en-US" sz="750" dirty="0"/>
          </a:p>
        </p:txBody>
      </p:sp>
      <p:sp>
        <p:nvSpPr>
          <p:cNvPr id="28" name="Text 26"/>
          <p:cNvSpPr/>
          <p:nvPr/>
        </p:nvSpPr>
        <p:spPr>
          <a:xfrm>
            <a:off x="731520" y="3721608"/>
            <a:ext cx="1371600" cy="128016"/>
          </a:xfrm>
          <a:prstGeom prst="rect">
            <a:avLst/>
          </a:prstGeom>
          <a:noFill/>
          <a:ln/>
        </p:spPr>
        <p:txBody>
          <a:bodyPr wrap="square" lIns="0" tIns="0" rIns="0" bIns="0" rtlCol="0" anchor="ctr"/>
          <a:lstStyle/>
          <a:p>
            <a:pPr marL="0" indent="0">
              <a:buNone/>
            </a:pPr>
            <a:r>
              <a:rPr lang="en-US" sz="750" b="1" dirty="0">
                <a:solidFill>
                  <a:srgbClr val="12BFE2"/>
                </a:solidFill>
                <a:latin typeface="Aptos" pitchFamily="34" charset="0"/>
                <a:ea typeface="Aptos" pitchFamily="34" charset="-122"/>
                <a:cs typeface="Aptos" pitchFamily="34" charset="-120"/>
              </a:rPr>
              <a:t>Image apex</a:t>
            </a:r>
            <a:endParaRPr lang="en-US" sz="750" dirty="0"/>
          </a:p>
        </p:txBody>
      </p:sp>
      <p:sp>
        <p:nvSpPr>
          <p:cNvPr id="29" name="Text 27"/>
          <p:cNvSpPr/>
          <p:nvPr/>
        </p:nvSpPr>
        <p:spPr>
          <a:xfrm>
            <a:off x="2139696" y="3721608"/>
            <a:ext cx="2194560" cy="128016"/>
          </a:xfrm>
          <a:prstGeom prst="rect">
            <a:avLst/>
          </a:prstGeom>
          <a:noFill/>
          <a:ln/>
        </p:spPr>
        <p:txBody>
          <a:bodyPr wrap="square" lIns="0" tIns="0" rIns="0" bIns="0" rtlCol="0" anchor="ctr"/>
          <a:lstStyle/>
          <a:p>
            <a:pPr marL="0" indent="0">
              <a:buNone/>
            </a:pPr>
            <a:r>
              <a:rPr lang="en-US" sz="750" dirty="0">
                <a:solidFill>
                  <a:srgbClr val="A7B3C6"/>
                </a:solidFill>
                <a:latin typeface="Aptos" pitchFamily="34" charset="0"/>
                <a:ea typeface="Aptos" pitchFamily="34" charset="-122"/>
                <a:cs typeface="Aptos" pitchFamily="34" charset="-120"/>
              </a:rPr>
              <a:t>starts at airway contact</a:t>
            </a:r>
            <a:endParaRPr lang="en-US" sz="7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70D1A"/>
        </a:solidFill>
        <a:effectLst/>
      </p:bgPr>
    </p:bg>
    <p:spTree>
      <p:nvGrpSpPr>
        <p:cNvPr id="1" name=""/>
        <p:cNvGrpSpPr/>
        <p:nvPr/>
      </p:nvGrpSpPr>
      <p:grpSpPr>
        <a:xfrm>
          <a:off x="0" y="0"/>
          <a:ext cx="0" cy="0"/>
          <a:chOff x="0" y="0"/>
          <a:chExt cx="0" cy="0"/>
        </a:xfrm>
      </p:grpSpPr>
      <p:sp>
        <p:nvSpPr>
          <p:cNvPr id="2" name="Text 0"/>
          <p:cNvSpPr/>
          <p:nvPr/>
        </p:nvSpPr>
        <p:spPr>
          <a:xfrm>
            <a:off x="411480" y="274320"/>
            <a:ext cx="3474720" cy="146304"/>
          </a:xfrm>
          <a:prstGeom prst="rect">
            <a:avLst/>
          </a:prstGeom>
          <a:noFill/>
          <a:ln/>
        </p:spPr>
        <p:txBody>
          <a:bodyPr wrap="square" lIns="0" tIns="0" rIns="0" bIns="0" rtlCol="0" anchor="ctr"/>
          <a:lstStyle/>
          <a:p>
            <a:pPr marL="0" indent="0">
              <a:buNone/>
            </a:pPr>
            <a:r>
              <a:rPr lang="en-US" sz="650" b="1" dirty="0">
                <a:solidFill>
                  <a:srgbClr val="12BFE2"/>
                </a:solidFill>
                <a:latin typeface="Aptos" pitchFamily="34" charset="0"/>
                <a:ea typeface="Aptos" pitchFamily="34" charset="-122"/>
                <a:cs typeface="Aptos" pitchFamily="34" charset="-120"/>
              </a:rPr>
              <a:t>MODULE FOCUS</a:t>
            </a:r>
            <a:endParaRPr lang="en-US" sz="650" dirty="0"/>
          </a:p>
        </p:txBody>
      </p:sp>
      <p:sp>
        <p:nvSpPr>
          <p:cNvPr id="3" name="Text 1"/>
          <p:cNvSpPr/>
          <p:nvPr/>
        </p:nvSpPr>
        <p:spPr>
          <a:xfrm>
            <a:off x="411480" y="612648"/>
            <a:ext cx="5669280" cy="384048"/>
          </a:xfrm>
          <a:prstGeom prst="rect">
            <a:avLst/>
          </a:prstGeom>
          <a:noFill/>
          <a:ln/>
        </p:spPr>
        <p:txBody>
          <a:bodyPr wrap="square" lIns="0" tIns="0" rIns="0" bIns="0" rtlCol="0" anchor="ctr">
            <a:normAutofit/>
          </a:bodyPr>
          <a:lstStyle/>
          <a:p>
            <a:pPr marL="0" indent="0">
              <a:buNone/>
            </a:pPr>
            <a:r>
              <a:rPr lang="en-US" sz="2100" b="1" dirty="0">
                <a:solidFill>
                  <a:srgbClr val="F8FAFC"/>
                </a:solidFill>
                <a:latin typeface="Aptos Display" pitchFamily="34" charset="0"/>
                <a:ea typeface="Aptos Display" pitchFamily="34" charset="-122"/>
                <a:cs typeface="Aptos Display" pitchFamily="34" charset="-120"/>
              </a:rPr>
              <a:t>How the simulator became a course module</a:t>
            </a:r>
            <a:endParaRPr lang="en-US" sz="2100" dirty="0"/>
          </a:p>
        </p:txBody>
      </p:sp>
      <p:sp>
        <p:nvSpPr>
          <p:cNvPr id="4" name="Text 2"/>
          <p:cNvSpPr/>
          <p:nvPr/>
        </p:nvSpPr>
        <p:spPr>
          <a:xfrm>
            <a:off x="411480" y="4828032"/>
            <a:ext cx="4754880" cy="109728"/>
          </a:xfrm>
          <a:prstGeom prst="rect">
            <a:avLst/>
          </a:prstGeom>
          <a:noFill/>
          <a:ln/>
        </p:spPr>
        <p:txBody>
          <a:bodyPr wrap="square" lIns="0" tIns="0" rIns="0" bIns="0" rtlCol="0" anchor="ctr"/>
          <a:lstStyle/>
          <a:p>
            <a:pPr marL="0" indent="0">
              <a:buNone/>
            </a:pPr>
            <a:r>
              <a:rPr lang="en-US" sz="550" dirty="0">
                <a:solidFill>
                  <a:srgbClr val="5F6B7A"/>
                </a:solidFill>
                <a:latin typeface="Aptos" pitchFamily="34" charset="0"/>
                <a:ea typeface="Aptos" pitchFamily="34" charset="-122"/>
                <a:cs typeface="Aptos" pitchFamily="34" charset="-120"/>
              </a:rPr>
              <a:t>AABIP Webinar 2026  |  AI in Interventional Pulmonology</a:t>
            </a:r>
            <a:endParaRPr lang="en-US" sz="550" dirty="0"/>
          </a:p>
        </p:txBody>
      </p:sp>
      <p:sp>
        <p:nvSpPr>
          <p:cNvPr id="5" name="Text 3"/>
          <p:cNvSpPr/>
          <p:nvPr/>
        </p:nvSpPr>
        <p:spPr>
          <a:xfrm>
            <a:off x="8366760" y="4828032"/>
            <a:ext cx="365760" cy="109728"/>
          </a:xfrm>
          <a:prstGeom prst="rect">
            <a:avLst/>
          </a:prstGeom>
          <a:noFill/>
          <a:ln/>
        </p:spPr>
        <p:txBody>
          <a:bodyPr wrap="square" lIns="0" tIns="0" rIns="0" bIns="0" rtlCol="0" anchor="ctr"/>
          <a:lstStyle/>
          <a:p>
            <a:pPr marL="0" indent="0" algn="r">
              <a:buNone/>
            </a:pPr>
            <a:r>
              <a:rPr lang="en-US" sz="550" dirty="0">
                <a:solidFill>
                  <a:srgbClr val="5F6B7A"/>
                </a:solidFill>
                <a:latin typeface="Aptos" pitchFamily="34" charset="0"/>
                <a:ea typeface="Aptos" pitchFamily="34" charset="-122"/>
                <a:cs typeface="Aptos" pitchFamily="34" charset="-120"/>
              </a:rPr>
              <a:t>14 / 22</a:t>
            </a:r>
            <a:endParaRPr lang="en-US" sz="550" dirty="0"/>
          </a:p>
        </p:txBody>
      </p:sp>
      <p:sp>
        <p:nvSpPr>
          <p:cNvPr id="6" name="Shape 4"/>
          <p:cNvSpPr/>
          <p:nvPr/>
        </p:nvSpPr>
        <p:spPr>
          <a:xfrm>
            <a:off x="411480" y="1060704"/>
            <a:ext cx="1143000" cy="0"/>
          </a:xfrm>
          <a:prstGeom prst="line">
            <a:avLst/>
          </a:prstGeom>
          <a:noFill/>
          <a:ln w="15240">
            <a:solidFill>
              <a:srgbClr val="12BFE2"/>
            </a:solidFill>
            <a:prstDash val="solid"/>
          </a:ln>
        </p:spPr>
        <p:txBody>
          <a:bodyPr/>
          <a:lstStyle/>
          <a:p>
            <a:endParaRPr lang="en-US"/>
          </a:p>
        </p:txBody>
      </p:sp>
      <p:sp>
        <p:nvSpPr>
          <p:cNvPr id="7" name="Shape 5"/>
          <p:cNvSpPr/>
          <p:nvPr/>
        </p:nvSpPr>
        <p:spPr>
          <a:xfrm>
            <a:off x="1508760" y="2423160"/>
            <a:ext cx="502920" cy="0"/>
          </a:xfrm>
          <a:prstGeom prst="line">
            <a:avLst/>
          </a:prstGeom>
          <a:noFill/>
          <a:ln w="13970">
            <a:solidFill>
              <a:srgbClr val="1F8EA3"/>
            </a:solidFill>
            <a:prstDash val="solid"/>
            <a:tailEnd type="triangle"/>
          </a:ln>
        </p:spPr>
        <p:txBody>
          <a:bodyPr/>
          <a:lstStyle/>
          <a:p>
            <a:endParaRPr lang="en-US"/>
          </a:p>
        </p:txBody>
      </p:sp>
      <p:sp>
        <p:nvSpPr>
          <p:cNvPr id="8" name="Shape 6"/>
          <p:cNvSpPr/>
          <p:nvPr/>
        </p:nvSpPr>
        <p:spPr>
          <a:xfrm>
            <a:off x="2944368" y="2423160"/>
            <a:ext cx="502920" cy="0"/>
          </a:xfrm>
          <a:prstGeom prst="line">
            <a:avLst/>
          </a:prstGeom>
          <a:noFill/>
          <a:ln w="13970">
            <a:solidFill>
              <a:srgbClr val="1F8EA3"/>
            </a:solidFill>
            <a:prstDash val="solid"/>
            <a:tailEnd type="triangle"/>
          </a:ln>
        </p:spPr>
        <p:txBody>
          <a:bodyPr/>
          <a:lstStyle/>
          <a:p>
            <a:endParaRPr lang="en-US"/>
          </a:p>
        </p:txBody>
      </p:sp>
      <p:sp>
        <p:nvSpPr>
          <p:cNvPr id="9" name="Shape 7"/>
          <p:cNvSpPr/>
          <p:nvPr/>
        </p:nvSpPr>
        <p:spPr>
          <a:xfrm>
            <a:off x="4379976" y="2423160"/>
            <a:ext cx="502920" cy="0"/>
          </a:xfrm>
          <a:prstGeom prst="line">
            <a:avLst/>
          </a:prstGeom>
          <a:noFill/>
          <a:ln w="13970">
            <a:solidFill>
              <a:srgbClr val="1F8EA3"/>
            </a:solidFill>
            <a:prstDash val="solid"/>
            <a:tailEnd type="triangle"/>
          </a:ln>
        </p:spPr>
        <p:txBody>
          <a:bodyPr/>
          <a:lstStyle/>
          <a:p>
            <a:endParaRPr lang="en-US"/>
          </a:p>
        </p:txBody>
      </p:sp>
      <p:sp>
        <p:nvSpPr>
          <p:cNvPr id="10" name="Shape 8"/>
          <p:cNvSpPr/>
          <p:nvPr/>
        </p:nvSpPr>
        <p:spPr>
          <a:xfrm>
            <a:off x="5815584" y="2423160"/>
            <a:ext cx="502920" cy="0"/>
          </a:xfrm>
          <a:prstGeom prst="line">
            <a:avLst/>
          </a:prstGeom>
          <a:noFill/>
          <a:ln w="13970">
            <a:solidFill>
              <a:srgbClr val="1F8EA3"/>
            </a:solidFill>
            <a:prstDash val="solid"/>
            <a:tailEnd type="triangle"/>
          </a:ln>
        </p:spPr>
        <p:txBody>
          <a:bodyPr/>
          <a:lstStyle/>
          <a:p>
            <a:endParaRPr lang="en-US"/>
          </a:p>
        </p:txBody>
      </p:sp>
      <p:sp>
        <p:nvSpPr>
          <p:cNvPr id="11" name="Shape 9"/>
          <p:cNvSpPr/>
          <p:nvPr/>
        </p:nvSpPr>
        <p:spPr>
          <a:xfrm>
            <a:off x="7251192" y="2423160"/>
            <a:ext cx="502920" cy="0"/>
          </a:xfrm>
          <a:prstGeom prst="line">
            <a:avLst/>
          </a:prstGeom>
          <a:noFill/>
          <a:ln w="13970">
            <a:solidFill>
              <a:srgbClr val="1F8EA3"/>
            </a:solidFill>
            <a:prstDash val="solid"/>
            <a:tailEnd type="triangle"/>
          </a:ln>
        </p:spPr>
        <p:txBody>
          <a:bodyPr/>
          <a:lstStyle/>
          <a:p>
            <a:endParaRPr lang="en-US"/>
          </a:p>
        </p:txBody>
      </p:sp>
      <p:sp>
        <p:nvSpPr>
          <p:cNvPr id="12" name="Shape 10"/>
          <p:cNvSpPr/>
          <p:nvPr/>
        </p:nvSpPr>
        <p:spPr>
          <a:xfrm>
            <a:off x="685800" y="1691640"/>
            <a:ext cx="1024128" cy="1417320"/>
          </a:xfrm>
          <a:prstGeom prst="roundRect">
            <a:avLst/>
          </a:prstGeom>
          <a:solidFill>
            <a:srgbClr val="111A2D"/>
          </a:solidFill>
          <a:ln w="12700">
            <a:solidFill>
              <a:srgbClr val="111A2D"/>
            </a:solidFill>
            <a:prstDash val="solid"/>
          </a:ln>
        </p:spPr>
        <p:txBody>
          <a:bodyPr/>
          <a:lstStyle/>
          <a:p>
            <a:endParaRPr lang="en-US"/>
          </a:p>
        </p:txBody>
      </p:sp>
      <p:pic>
        <p:nvPicPr>
          <p:cNvPr id="13" name="Image 0" descr="/mnt/data/ppt_extract/ppt/media/image1.png"/>
          <p:cNvPicPr>
            <a:picLocks noChangeAspect="1"/>
          </p:cNvPicPr>
          <p:nvPr/>
        </p:nvPicPr>
        <p:blipFill>
          <a:blip r:embed="rId3"/>
          <a:stretch>
            <a:fillRect/>
          </a:stretch>
        </p:blipFill>
        <p:spPr>
          <a:xfrm>
            <a:off x="1033272" y="1856232"/>
            <a:ext cx="310896" cy="310896"/>
          </a:xfrm>
          <a:prstGeom prst="rect">
            <a:avLst/>
          </a:prstGeom>
        </p:spPr>
      </p:pic>
      <p:sp>
        <p:nvSpPr>
          <p:cNvPr id="14" name="Text 11"/>
          <p:cNvSpPr/>
          <p:nvPr/>
        </p:nvSpPr>
        <p:spPr>
          <a:xfrm>
            <a:off x="758952" y="2313432"/>
            <a:ext cx="877824" cy="146304"/>
          </a:xfrm>
          <a:prstGeom prst="rect">
            <a:avLst/>
          </a:prstGeom>
          <a:noFill/>
          <a:ln/>
        </p:spPr>
        <p:txBody>
          <a:bodyPr wrap="square" lIns="0" tIns="0" rIns="0" bIns="0" rtlCol="0" anchor="ctr">
            <a:normAutofit/>
          </a:bodyPr>
          <a:lstStyle/>
          <a:p>
            <a:pPr marL="0" indent="0" algn="ctr">
              <a:buNone/>
            </a:pPr>
            <a:r>
              <a:rPr lang="en-US" sz="740" b="1" dirty="0">
                <a:solidFill>
                  <a:srgbClr val="12BFE2"/>
                </a:solidFill>
              </a:rPr>
              <a:t>Slicer exports</a:t>
            </a:r>
            <a:endParaRPr lang="en-US" sz="740" dirty="0"/>
          </a:p>
        </p:txBody>
      </p:sp>
      <p:sp>
        <p:nvSpPr>
          <p:cNvPr id="15" name="Text 12"/>
          <p:cNvSpPr/>
          <p:nvPr/>
        </p:nvSpPr>
        <p:spPr>
          <a:xfrm>
            <a:off x="758952" y="2578608"/>
            <a:ext cx="877824" cy="274320"/>
          </a:xfrm>
          <a:prstGeom prst="rect">
            <a:avLst/>
          </a:prstGeom>
          <a:noFill/>
          <a:ln/>
        </p:spPr>
        <p:txBody>
          <a:bodyPr wrap="square" lIns="0" tIns="0" rIns="0" bIns="0" rtlCol="0" anchor="ctr">
            <a:normAutofit/>
          </a:bodyPr>
          <a:lstStyle/>
          <a:p>
            <a:pPr marL="0" indent="0" algn="ctr">
              <a:buNone/>
            </a:pPr>
            <a:r>
              <a:rPr lang="en-US" sz="570" dirty="0">
                <a:solidFill>
                  <a:srgbClr val="A7B3C6"/>
                </a:solidFill>
              </a:rPr>
              <a:t>CT, masks, centerlines, markups</a:t>
            </a:r>
            <a:endParaRPr lang="en-US" sz="570" dirty="0"/>
          </a:p>
        </p:txBody>
      </p:sp>
      <p:sp>
        <p:nvSpPr>
          <p:cNvPr id="16" name="Shape 13"/>
          <p:cNvSpPr/>
          <p:nvPr/>
        </p:nvSpPr>
        <p:spPr>
          <a:xfrm>
            <a:off x="2121408" y="1691640"/>
            <a:ext cx="1024128" cy="1417320"/>
          </a:xfrm>
          <a:prstGeom prst="roundRect">
            <a:avLst/>
          </a:prstGeom>
          <a:solidFill>
            <a:srgbClr val="111A2D"/>
          </a:solidFill>
          <a:ln w="12700">
            <a:solidFill>
              <a:srgbClr val="111A2D"/>
            </a:solidFill>
            <a:prstDash val="solid"/>
          </a:ln>
        </p:spPr>
        <p:txBody>
          <a:bodyPr/>
          <a:lstStyle/>
          <a:p>
            <a:endParaRPr lang="en-US"/>
          </a:p>
        </p:txBody>
      </p:sp>
      <p:pic>
        <p:nvPicPr>
          <p:cNvPr id="17" name="Image 1" descr="/mnt/data/ppt_extract/ppt/media/image11.png"/>
          <p:cNvPicPr>
            <a:picLocks noChangeAspect="1"/>
          </p:cNvPicPr>
          <p:nvPr/>
        </p:nvPicPr>
        <p:blipFill>
          <a:blip r:embed="rId4"/>
          <a:stretch>
            <a:fillRect/>
          </a:stretch>
        </p:blipFill>
        <p:spPr>
          <a:xfrm>
            <a:off x="2468880" y="1856232"/>
            <a:ext cx="310896" cy="310896"/>
          </a:xfrm>
          <a:prstGeom prst="rect">
            <a:avLst/>
          </a:prstGeom>
        </p:spPr>
      </p:pic>
      <p:sp>
        <p:nvSpPr>
          <p:cNvPr id="18" name="Text 14"/>
          <p:cNvSpPr/>
          <p:nvPr/>
        </p:nvSpPr>
        <p:spPr>
          <a:xfrm>
            <a:off x="2194560" y="2313432"/>
            <a:ext cx="877824" cy="146304"/>
          </a:xfrm>
          <a:prstGeom prst="rect">
            <a:avLst/>
          </a:prstGeom>
          <a:noFill/>
          <a:ln/>
        </p:spPr>
        <p:txBody>
          <a:bodyPr wrap="square" lIns="0" tIns="0" rIns="0" bIns="0" rtlCol="0" anchor="ctr">
            <a:normAutofit/>
          </a:bodyPr>
          <a:lstStyle/>
          <a:p>
            <a:pPr marL="0" indent="0" algn="ctr">
              <a:buNone/>
            </a:pPr>
            <a:r>
              <a:rPr lang="en-US" sz="740" b="1" dirty="0">
                <a:solidFill>
                  <a:srgbClr val="2DD4BF"/>
                </a:solidFill>
              </a:rPr>
              <a:t>Manifest</a:t>
            </a:r>
            <a:endParaRPr lang="en-US" sz="740" dirty="0"/>
          </a:p>
        </p:txBody>
      </p:sp>
      <p:sp>
        <p:nvSpPr>
          <p:cNvPr id="19" name="Text 15"/>
          <p:cNvSpPr/>
          <p:nvPr/>
        </p:nvSpPr>
        <p:spPr>
          <a:xfrm>
            <a:off x="2194560" y="2578608"/>
            <a:ext cx="877824" cy="274320"/>
          </a:xfrm>
          <a:prstGeom prst="rect">
            <a:avLst/>
          </a:prstGeom>
          <a:noFill/>
          <a:ln/>
        </p:spPr>
        <p:txBody>
          <a:bodyPr wrap="square" lIns="0" tIns="0" rIns="0" bIns="0" rtlCol="0" anchor="ctr">
            <a:normAutofit/>
          </a:bodyPr>
          <a:lstStyle/>
          <a:p>
            <a:pPr marL="0" indent="0" algn="ctr">
              <a:buNone/>
            </a:pPr>
            <a:r>
              <a:rPr lang="en-US" sz="570" dirty="0">
                <a:solidFill>
                  <a:srgbClr val="A7B3C6"/>
                </a:solidFill>
              </a:rPr>
              <a:t>portable case contract</a:t>
            </a:r>
            <a:endParaRPr lang="en-US" sz="570" dirty="0"/>
          </a:p>
        </p:txBody>
      </p:sp>
      <p:sp>
        <p:nvSpPr>
          <p:cNvPr id="20" name="Shape 16"/>
          <p:cNvSpPr/>
          <p:nvPr/>
        </p:nvSpPr>
        <p:spPr>
          <a:xfrm>
            <a:off x="3557016" y="1691640"/>
            <a:ext cx="1024128" cy="1417320"/>
          </a:xfrm>
          <a:prstGeom prst="roundRect">
            <a:avLst/>
          </a:prstGeom>
          <a:solidFill>
            <a:srgbClr val="111A2D"/>
          </a:solidFill>
          <a:ln w="12700">
            <a:solidFill>
              <a:srgbClr val="111A2D"/>
            </a:solidFill>
            <a:prstDash val="solid"/>
          </a:ln>
        </p:spPr>
        <p:txBody>
          <a:bodyPr/>
          <a:lstStyle/>
          <a:p>
            <a:endParaRPr lang="en-US"/>
          </a:p>
        </p:txBody>
      </p:sp>
      <p:pic>
        <p:nvPicPr>
          <p:cNvPr id="21" name="Image 2" descr="/mnt/data/ppt_extract/ppt/media/image15.png"/>
          <p:cNvPicPr>
            <a:picLocks noChangeAspect="1"/>
          </p:cNvPicPr>
          <p:nvPr/>
        </p:nvPicPr>
        <p:blipFill>
          <a:blip r:embed="rId5"/>
          <a:stretch>
            <a:fillRect/>
          </a:stretch>
        </p:blipFill>
        <p:spPr>
          <a:xfrm>
            <a:off x="3904488" y="1856232"/>
            <a:ext cx="310896" cy="310896"/>
          </a:xfrm>
          <a:prstGeom prst="rect">
            <a:avLst/>
          </a:prstGeom>
        </p:spPr>
      </p:pic>
      <p:sp>
        <p:nvSpPr>
          <p:cNvPr id="22" name="Text 17"/>
          <p:cNvSpPr/>
          <p:nvPr/>
        </p:nvSpPr>
        <p:spPr>
          <a:xfrm>
            <a:off x="3630168" y="2313432"/>
            <a:ext cx="877824" cy="146304"/>
          </a:xfrm>
          <a:prstGeom prst="rect">
            <a:avLst/>
          </a:prstGeom>
          <a:noFill/>
          <a:ln/>
        </p:spPr>
        <p:txBody>
          <a:bodyPr wrap="square" lIns="0" tIns="0" rIns="0" bIns="0" rtlCol="0" anchor="ctr">
            <a:normAutofit/>
          </a:bodyPr>
          <a:lstStyle/>
          <a:p>
            <a:pPr marL="0" indent="0" algn="ctr">
              <a:buNone/>
            </a:pPr>
            <a:r>
              <a:rPr lang="en-US" sz="740" b="1" dirty="0">
                <a:solidFill>
                  <a:srgbClr val="F59E0B"/>
                </a:solidFill>
              </a:rPr>
              <a:t>Validation</a:t>
            </a:r>
            <a:endParaRPr lang="en-US" sz="740" dirty="0"/>
          </a:p>
        </p:txBody>
      </p:sp>
      <p:sp>
        <p:nvSpPr>
          <p:cNvPr id="23" name="Text 18"/>
          <p:cNvSpPr/>
          <p:nvPr/>
        </p:nvSpPr>
        <p:spPr>
          <a:xfrm>
            <a:off x="3630168" y="2578608"/>
            <a:ext cx="877824" cy="274320"/>
          </a:xfrm>
          <a:prstGeom prst="rect">
            <a:avLst/>
          </a:prstGeom>
          <a:noFill/>
          <a:ln/>
        </p:spPr>
        <p:txBody>
          <a:bodyPr wrap="square" lIns="0" tIns="0" rIns="0" bIns="0" rtlCol="0" anchor="ctr">
            <a:normAutofit/>
          </a:bodyPr>
          <a:lstStyle/>
          <a:p>
            <a:pPr marL="0" indent="0" algn="ctr">
              <a:buNone/>
            </a:pPr>
            <a:r>
              <a:rPr lang="en-US" sz="570" dirty="0">
                <a:solidFill>
                  <a:srgbClr val="A7B3C6"/>
                </a:solidFill>
              </a:rPr>
              <a:t>bounds, contacts, targets</a:t>
            </a:r>
            <a:endParaRPr lang="en-US" sz="570" dirty="0"/>
          </a:p>
        </p:txBody>
      </p:sp>
      <p:sp>
        <p:nvSpPr>
          <p:cNvPr id="24" name="Shape 19"/>
          <p:cNvSpPr/>
          <p:nvPr/>
        </p:nvSpPr>
        <p:spPr>
          <a:xfrm>
            <a:off x="4992624" y="1691640"/>
            <a:ext cx="1024128" cy="1417320"/>
          </a:xfrm>
          <a:prstGeom prst="roundRect">
            <a:avLst/>
          </a:prstGeom>
          <a:solidFill>
            <a:srgbClr val="111A2D"/>
          </a:solidFill>
          <a:ln w="12700">
            <a:solidFill>
              <a:srgbClr val="111A2D"/>
            </a:solidFill>
            <a:prstDash val="solid"/>
          </a:ln>
        </p:spPr>
        <p:txBody>
          <a:bodyPr/>
          <a:lstStyle/>
          <a:p>
            <a:endParaRPr lang="en-US"/>
          </a:p>
        </p:txBody>
      </p:sp>
      <p:pic>
        <p:nvPicPr>
          <p:cNvPr id="25" name="Image 3" descr="/mnt/data/ppt_extract/ppt/media/image26.png"/>
          <p:cNvPicPr>
            <a:picLocks noChangeAspect="1"/>
          </p:cNvPicPr>
          <p:nvPr/>
        </p:nvPicPr>
        <p:blipFill>
          <a:blip r:embed="rId6"/>
          <a:stretch>
            <a:fillRect/>
          </a:stretch>
        </p:blipFill>
        <p:spPr>
          <a:xfrm>
            <a:off x="5340096" y="1856232"/>
            <a:ext cx="310896" cy="310896"/>
          </a:xfrm>
          <a:prstGeom prst="rect">
            <a:avLst/>
          </a:prstGeom>
        </p:spPr>
      </p:pic>
      <p:sp>
        <p:nvSpPr>
          <p:cNvPr id="26" name="Text 20"/>
          <p:cNvSpPr/>
          <p:nvPr/>
        </p:nvSpPr>
        <p:spPr>
          <a:xfrm>
            <a:off x="5065776" y="2313432"/>
            <a:ext cx="877824" cy="146304"/>
          </a:xfrm>
          <a:prstGeom prst="rect">
            <a:avLst/>
          </a:prstGeom>
          <a:noFill/>
          <a:ln/>
        </p:spPr>
        <p:txBody>
          <a:bodyPr wrap="square" lIns="0" tIns="0" rIns="0" bIns="0" rtlCol="0" anchor="ctr">
            <a:normAutofit/>
          </a:bodyPr>
          <a:lstStyle/>
          <a:p>
            <a:pPr marL="0" indent="0" algn="ctr">
              <a:buNone/>
            </a:pPr>
            <a:r>
              <a:rPr lang="en-US" sz="740" b="1" dirty="0">
                <a:solidFill>
                  <a:srgbClr val="12BFE2"/>
                </a:solidFill>
              </a:rPr>
              <a:t>Pose logic</a:t>
            </a:r>
            <a:endParaRPr lang="en-US" sz="740" dirty="0"/>
          </a:p>
        </p:txBody>
      </p:sp>
      <p:sp>
        <p:nvSpPr>
          <p:cNvPr id="27" name="Text 21"/>
          <p:cNvSpPr/>
          <p:nvPr/>
        </p:nvSpPr>
        <p:spPr>
          <a:xfrm>
            <a:off x="5065776" y="2578608"/>
            <a:ext cx="877824" cy="274320"/>
          </a:xfrm>
          <a:prstGeom prst="rect">
            <a:avLst/>
          </a:prstGeom>
          <a:noFill/>
          <a:ln/>
        </p:spPr>
        <p:txBody>
          <a:bodyPr wrap="square" lIns="0" tIns="0" rIns="0" bIns="0" rtlCol="0" anchor="ctr">
            <a:normAutofit/>
          </a:bodyPr>
          <a:lstStyle/>
          <a:p>
            <a:pPr marL="0" indent="0" algn="ctr">
              <a:buNone/>
            </a:pPr>
            <a:r>
              <a:rPr lang="en-US" sz="570" dirty="0">
                <a:solidFill>
                  <a:srgbClr val="A7B3C6"/>
                </a:solidFill>
              </a:rPr>
              <a:t>contact → target geometry</a:t>
            </a:r>
            <a:endParaRPr lang="en-US" sz="570" dirty="0"/>
          </a:p>
        </p:txBody>
      </p:sp>
      <p:sp>
        <p:nvSpPr>
          <p:cNvPr id="28" name="Shape 22"/>
          <p:cNvSpPr/>
          <p:nvPr/>
        </p:nvSpPr>
        <p:spPr>
          <a:xfrm>
            <a:off x="6428232" y="1691640"/>
            <a:ext cx="1024128" cy="1417320"/>
          </a:xfrm>
          <a:prstGeom prst="roundRect">
            <a:avLst/>
          </a:prstGeom>
          <a:solidFill>
            <a:srgbClr val="111A2D"/>
          </a:solidFill>
          <a:ln w="12700">
            <a:solidFill>
              <a:srgbClr val="111A2D"/>
            </a:solidFill>
            <a:prstDash val="solid"/>
          </a:ln>
        </p:spPr>
        <p:txBody>
          <a:bodyPr/>
          <a:lstStyle/>
          <a:p>
            <a:endParaRPr lang="en-US"/>
          </a:p>
        </p:txBody>
      </p:sp>
      <p:pic>
        <p:nvPicPr>
          <p:cNvPr id="29" name="Image 4" descr="/mnt/data/ppt_extract/ppt/media/image3.png"/>
          <p:cNvPicPr>
            <a:picLocks noChangeAspect="1"/>
          </p:cNvPicPr>
          <p:nvPr/>
        </p:nvPicPr>
        <p:blipFill>
          <a:blip r:embed="rId7"/>
          <a:stretch>
            <a:fillRect/>
          </a:stretch>
        </p:blipFill>
        <p:spPr>
          <a:xfrm>
            <a:off x="6775704" y="1856232"/>
            <a:ext cx="310896" cy="310896"/>
          </a:xfrm>
          <a:prstGeom prst="rect">
            <a:avLst/>
          </a:prstGeom>
        </p:spPr>
      </p:pic>
      <p:sp>
        <p:nvSpPr>
          <p:cNvPr id="30" name="Text 23"/>
          <p:cNvSpPr/>
          <p:nvPr/>
        </p:nvSpPr>
        <p:spPr>
          <a:xfrm>
            <a:off x="6501384" y="2313432"/>
            <a:ext cx="877824" cy="146304"/>
          </a:xfrm>
          <a:prstGeom prst="rect">
            <a:avLst/>
          </a:prstGeom>
          <a:noFill/>
          <a:ln/>
        </p:spPr>
        <p:txBody>
          <a:bodyPr wrap="square" lIns="0" tIns="0" rIns="0" bIns="0" rtlCol="0" anchor="ctr">
            <a:normAutofit/>
          </a:bodyPr>
          <a:lstStyle/>
          <a:p>
            <a:pPr marL="0" indent="0" algn="ctr">
              <a:buNone/>
            </a:pPr>
            <a:r>
              <a:rPr lang="en-US" sz="740" b="1" dirty="0">
                <a:solidFill>
                  <a:srgbClr val="2DD4BF"/>
                </a:solidFill>
              </a:rPr>
              <a:t>Renderers</a:t>
            </a:r>
            <a:endParaRPr lang="en-US" sz="740" dirty="0"/>
          </a:p>
        </p:txBody>
      </p:sp>
      <p:sp>
        <p:nvSpPr>
          <p:cNvPr id="31" name="Text 24"/>
          <p:cNvSpPr/>
          <p:nvPr/>
        </p:nvSpPr>
        <p:spPr>
          <a:xfrm>
            <a:off x="6501384" y="2578608"/>
            <a:ext cx="877824" cy="274320"/>
          </a:xfrm>
          <a:prstGeom prst="rect">
            <a:avLst/>
          </a:prstGeom>
          <a:noFill/>
          <a:ln/>
        </p:spPr>
        <p:txBody>
          <a:bodyPr wrap="square" lIns="0" tIns="0" rIns="0" bIns="0" rtlCol="0" anchor="ctr">
            <a:normAutofit/>
          </a:bodyPr>
          <a:lstStyle/>
          <a:p>
            <a:pPr marL="0" indent="0" algn="ctr">
              <a:buNone/>
            </a:pPr>
            <a:r>
              <a:rPr lang="en-US" sz="570" dirty="0">
                <a:solidFill>
                  <a:srgbClr val="A7B3C6"/>
                </a:solidFill>
              </a:rPr>
              <a:t>localizer + physics</a:t>
            </a:r>
            <a:endParaRPr lang="en-US" sz="570" dirty="0"/>
          </a:p>
        </p:txBody>
      </p:sp>
      <p:sp>
        <p:nvSpPr>
          <p:cNvPr id="32" name="Shape 25"/>
          <p:cNvSpPr/>
          <p:nvPr/>
        </p:nvSpPr>
        <p:spPr>
          <a:xfrm>
            <a:off x="7863840" y="1691640"/>
            <a:ext cx="1024128" cy="1417320"/>
          </a:xfrm>
          <a:prstGeom prst="roundRect">
            <a:avLst/>
          </a:prstGeom>
          <a:solidFill>
            <a:srgbClr val="111A2D"/>
          </a:solidFill>
          <a:ln w="12700">
            <a:solidFill>
              <a:srgbClr val="111A2D"/>
            </a:solidFill>
            <a:prstDash val="solid"/>
          </a:ln>
        </p:spPr>
        <p:txBody>
          <a:bodyPr/>
          <a:lstStyle/>
          <a:p>
            <a:endParaRPr lang="en-US"/>
          </a:p>
        </p:txBody>
      </p:sp>
      <p:pic>
        <p:nvPicPr>
          <p:cNvPr id="33" name="Image 5" descr="/mnt/data/ppt_extract/ppt/media/image12.png"/>
          <p:cNvPicPr>
            <a:picLocks noChangeAspect="1"/>
          </p:cNvPicPr>
          <p:nvPr/>
        </p:nvPicPr>
        <p:blipFill>
          <a:blip r:embed="rId8"/>
          <a:stretch>
            <a:fillRect/>
          </a:stretch>
        </p:blipFill>
        <p:spPr>
          <a:xfrm>
            <a:off x="8211312" y="1856232"/>
            <a:ext cx="310896" cy="310896"/>
          </a:xfrm>
          <a:prstGeom prst="rect">
            <a:avLst/>
          </a:prstGeom>
        </p:spPr>
      </p:pic>
      <p:sp>
        <p:nvSpPr>
          <p:cNvPr id="34" name="Text 26"/>
          <p:cNvSpPr/>
          <p:nvPr/>
        </p:nvSpPr>
        <p:spPr>
          <a:xfrm>
            <a:off x="7936992" y="2313432"/>
            <a:ext cx="877824" cy="146304"/>
          </a:xfrm>
          <a:prstGeom prst="rect">
            <a:avLst/>
          </a:prstGeom>
          <a:noFill/>
          <a:ln/>
        </p:spPr>
        <p:txBody>
          <a:bodyPr wrap="square" lIns="0" tIns="0" rIns="0" bIns="0" rtlCol="0" anchor="ctr">
            <a:normAutofit/>
          </a:bodyPr>
          <a:lstStyle/>
          <a:p>
            <a:pPr marL="0" indent="0" algn="ctr">
              <a:buNone/>
            </a:pPr>
            <a:r>
              <a:rPr lang="en-US" sz="740" b="1" dirty="0">
                <a:solidFill>
                  <a:srgbClr val="F59E0B"/>
                </a:solidFill>
              </a:rPr>
              <a:t>Course module</a:t>
            </a:r>
            <a:endParaRPr lang="en-US" sz="740" dirty="0"/>
          </a:p>
        </p:txBody>
      </p:sp>
      <p:sp>
        <p:nvSpPr>
          <p:cNvPr id="35" name="Text 27"/>
          <p:cNvSpPr/>
          <p:nvPr/>
        </p:nvSpPr>
        <p:spPr>
          <a:xfrm>
            <a:off x="7936992" y="2578608"/>
            <a:ext cx="877824" cy="274320"/>
          </a:xfrm>
          <a:prstGeom prst="rect">
            <a:avLst/>
          </a:prstGeom>
          <a:noFill/>
          <a:ln/>
        </p:spPr>
        <p:txBody>
          <a:bodyPr wrap="square" lIns="0" tIns="0" rIns="0" bIns="0" rtlCol="0" anchor="ctr">
            <a:normAutofit/>
          </a:bodyPr>
          <a:lstStyle/>
          <a:p>
            <a:pPr marL="0" indent="0" algn="ctr">
              <a:buNone/>
            </a:pPr>
            <a:r>
              <a:rPr lang="en-US" sz="570" dirty="0">
                <a:solidFill>
                  <a:srgbClr val="A7B3C6"/>
                </a:solidFill>
              </a:rPr>
              <a:t>browser learner view</a:t>
            </a:r>
            <a:endParaRPr lang="en-US" sz="570" dirty="0"/>
          </a:p>
        </p:txBody>
      </p:sp>
      <p:sp>
        <p:nvSpPr>
          <p:cNvPr id="36" name="Shape 28"/>
          <p:cNvSpPr/>
          <p:nvPr/>
        </p:nvSpPr>
        <p:spPr>
          <a:xfrm>
            <a:off x="914400" y="3803904"/>
            <a:ext cx="7315200" cy="566928"/>
          </a:xfrm>
          <a:prstGeom prst="roundRect">
            <a:avLst/>
          </a:prstGeom>
          <a:solidFill>
            <a:srgbClr val="111A2D"/>
          </a:solidFill>
          <a:ln w="12700">
            <a:solidFill>
              <a:srgbClr val="111A2D"/>
            </a:solidFill>
            <a:prstDash val="solid"/>
          </a:ln>
        </p:spPr>
        <p:txBody>
          <a:bodyPr/>
          <a:lstStyle/>
          <a:p>
            <a:endParaRPr lang="en-US"/>
          </a:p>
        </p:txBody>
      </p:sp>
      <p:sp>
        <p:nvSpPr>
          <p:cNvPr id="37" name="Shape 29"/>
          <p:cNvSpPr/>
          <p:nvPr/>
        </p:nvSpPr>
        <p:spPr>
          <a:xfrm>
            <a:off x="914400" y="3803904"/>
            <a:ext cx="36576" cy="566928"/>
          </a:xfrm>
          <a:prstGeom prst="rect">
            <a:avLst/>
          </a:prstGeom>
          <a:solidFill>
            <a:srgbClr val="2DD4BF"/>
          </a:solidFill>
          <a:ln w="12700">
            <a:solidFill>
              <a:srgbClr val="2DD4BF"/>
            </a:solidFill>
            <a:prstDash val="solid"/>
          </a:ln>
        </p:spPr>
        <p:txBody>
          <a:bodyPr/>
          <a:lstStyle/>
          <a:p>
            <a:endParaRPr lang="en-US"/>
          </a:p>
        </p:txBody>
      </p:sp>
      <p:sp>
        <p:nvSpPr>
          <p:cNvPr id="38" name="Text 30"/>
          <p:cNvSpPr/>
          <p:nvPr/>
        </p:nvSpPr>
        <p:spPr>
          <a:xfrm>
            <a:off x="1078992" y="3968496"/>
            <a:ext cx="7013448" cy="310896"/>
          </a:xfrm>
          <a:prstGeom prst="rect">
            <a:avLst/>
          </a:prstGeom>
          <a:noFill/>
          <a:ln/>
        </p:spPr>
        <p:txBody>
          <a:bodyPr wrap="square" lIns="0" tIns="0" rIns="0" bIns="0" rtlCol="0" anchor="ctr">
            <a:normAutofit/>
          </a:bodyPr>
          <a:lstStyle/>
          <a:p>
            <a:pPr marL="0" indent="0">
              <a:buNone/>
            </a:pPr>
            <a:r>
              <a:rPr lang="en-US" sz="900" dirty="0">
                <a:solidFill>
                  <a:srgbClr val="F8FAFC"/>
                </a:solidFill>
                <a:latin typeface="Aptos" pitchFamily="34" charset="0"/>
                <a:ea typeface="Aptos" pitchFamily="34" charset="-122"/>
                <a:cs typeface="Aptos" pitchFamily="34" charset="-120"/>
              </a:rPr>
              <a:t>Design lesson: separate the geometry QA view from the “looks like EBUS” renderer.</a:t>
            </a:r>
            <a:endParaRPr lang="en-US" sz="900" dirty="0"/>
          </a:p>
          <a:p>
            <a:pPr marL="0" indent="0">
              <a:buNone/>
            </a:pPr>
            <a:r>
              <a:rPr lang="en-US" sz="900" dirty="0">
                <a:solidFill>
                  <a:srgbClr val="F8FAFC"/>
                </a:solidFill>
                <a:latin typeface="Aptos" pitchFamily="34" charset="0"/>
                <a:ea typeface="Aptos" pitchFamily="34" charset="-122"/>
                <a:cs typeface="Aptos" pitchFamily="34" charset="-120"/>
              </a:rPr>
              <a:t>A good-looking image can still be anatomically wrong.</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70D1A"/>
        </a:solidFill>
        <a:effectLst/>
      </p:bgPr>
    </p:bg>
    <p:spTree>
      <p:nvGrpSpPr>
        <p:cNvPr id="1" name=""/>
        <p:cNvGrpSpPr/>
        <p:nvPr/>
      </p:nvGrpSpPr>
      <p:grpSpPr>
        <a:xfrm>
          <a:off x="0" y="0"/>
          <a:ext cx="0" cy="0"/>
          <a:chOff x="0" y="0"/>
          <a:chExt cx="0" cy="0"/>
        </a:xfrm>
      </p:grpSpPr>
      <p:sp>
        <p:nvSpPr>
          <p:cNvPr id="2" name="Text 0"/>
          <p:cNvSpPr/>
          <p:nvPr/>
        </p:nvSpPr>
        <p:spPr>
          <a:xfrm>
            <a:off x="411480" y="274320"/>
            <a:ext cx="3474720" cy="146304"/>
          </a:xfrm>
          <a:prstGeom prst="rect">
            <a:avLst/>
          </a:prstGeom>
          <a:noFill/>
          <a:ln/>
        </p:spPr>
        <p:txBody>
          <a:bodyPr wrap="square" lIns="0" tIns="0" rIns="0" bIns="0" rtlCol="0" anchor="ctr"/>
          <a:lstStyle/>
          <a:p>
            <a:pPr marL="0" indent="0">
              <a:buNone/>
            </a:pPr>
            <a:r>
              <a:rPr lang="en-US" sz="650" b="1" dirty="0">
                <a:solidFill>
                  <a:srgbClr val="12BFE2"/>
                </a:solidFill>
                <a:latin typeface="Aptos" pitchFamily="34" charset="0"/>
                <a:ea typeface="Aptos" pitchFamily="34" charset="-122"/>
                <a:cs typeface="Aptos" pitchFamily="34" charset="-120"/>
              </a:rPr>
              <a:t>MODULE FOCUS</a:t>
            </a:r>
            <a:endParaRPr lang="en-US" sz="650" dirty="0"/>
          </a:p>
        </p:txBody>
      </p:sp>
      <p:sp>
        <p:nvSpPr>
          <p:cNvPr id="3" name="Text 1"/>
          <p:cNvSpPr/>
          <p:nvPr/>
        </p:nvSpPr>
        <p:spPr>
          <a:xfrm>
            <a:off x="411480" y="612648"/>
            <a:ext cx="5669280" cy="384048"/>
          </a:xfrm>
          <a:prstGeom prst="rect">
            <a:avLst/>
          </a:prstGeom>
          <a:noFill/>
          <a:ln/>
        </p:spPr>
        <p:txBody>
          <a:bodyPr wrap="square" lIns="0" tIns="0" rIns="0" bIns="0" rtlCol="0" anchor="ctr">
            <a:normAutofit/>
          </a:bodyPr>
          <a:lstStyle/>
          <a:p>
            <a:pPr marL="0" indent="0">
              <a:buNone/>
            </a:pPr>
            <a:r>
              <a:rPr lang="en-US" sz="2100" b="1" dirty="0">
                <a:solidFill>
                  <a:srgbClr val="F8FAFC"/>
                </a:solidFill>
                <a:latin typeface="Aptos Display" pitchFamily="34" charset="0"/>
                <a:ea typeface="Aptos Display" pitchFamily="34" charset="-122"/>
                <a:cs typeface="Aptos Display" pitchFamily="34" charset="-120"/>
              </a:rPr>
              <a:t>Clinical truth the AI could not invent</a:t>
            </a:r>
            <a:endParaRPr lang="en-US" sz="2100" dirty="0"/>
          </a:p>
        </p:txBody>
      </p:sp>
      <p:sp>
        <p:nvSpPr>
          <p:cNvPr id="4" name="Text 2"/>
          <p:cNvSpPr/>
          <p:nvPr/>
        </p:nvSpPr>
        <p:spPr>
          <a:xfrm>
            <a:off x="411480" y="4828032"/>
            <a:ext cx="4754880" cy="109728"/>
          </a:xfrm>
          <a:prstGeom prst="rect">
            <a:avLst/>
          </a:prstGeom>
          <a:noFill/>
          <a:ln/>
        </p:spPr>
        <p:txBody>
          <a:bodyPr wrap="square" lIns="0" tIns="0" rIns="0" bIns="0" rtlCol="0" anchor="ctr"/>
          <a:lstStyle/>
          <a:p>
            <a:pPr marL="0" indent="0">
              <a:buNone/>
            </a:pPr>
            <a:r>
              <a:rPr lang="en-US" sz="550" dirty="0">
                <a:solidFill>
                  <a:srgbClr val="5F6B7A"/>
                </a:solidFill>
                <a:latin typeface="Aptos" pitchFamily="34" charset="0"/>
                <a:ea typeface="Aptos" pitchFamily="34" charset="-122"/>
                <a:cs typeface="Aptos" pitchFamily="34" charset="-120"/>
              </a:rPr>
              <a:t>AABIP Webinar 2026  |  AI in Interventional Pulmonology</a:t>
            </a:r>
            <a:endParaRPr lang="en-US" sz="550" dirty="0"/>
          </a:p>
        </p:txBody>
      </p:sp>
      <p:sp>
        <p:nvSpPr>
          <p:cNvPr id="5" name="Text 3"/>
          <p:cNvSpPr/>
          <p:nvPr/>
        </p:nvSpPr>
        <p:spPr>
          <a:xfrm>
            <a:off x="8366760" y="4828032"/>
            <a:ext cx="365760" cy="109728"/>
          </a:xfrm>
          <a:prstGeom prst="rect">
            <a:avLst/>
          </a:prstGeom>
          <a:noFill/>
          <a:ln/>
        </p:spPr>
        <p:txBody>
          <a:bodyPr wrap="square" lIns="0" tIns="0" rIns="0" bIns="0" rtlCol="0" anchor="ctr"/>
          <a:lstStyle/>
          <a:p>
            <a:pPr marL="0" indent="0" algn="r">
              <a:buNone/>
            </a:pPr>
            <a:r>
              <a:rPr lang="en-US" sz="550" dirty="0">
                <a:solidFill>
                  <a:srgbClr val="5F6B7A"/>
                </a:solidFill>
                <a:latin typeface="Aptos" pitchFamily="34" charset="0"/>
                <a:ea typeface="Aptos" pitchFamily="34" charset="-122"/>
                <a:cs typeface="Aptos" pitchFamily="34" charset="-120"/>
              </a:rPr>
              <a:t>15 / 22</a:t>
            </a:r>
            <a:endParaRPr lang="en-US" sz="550" dirty="0"/>
          </a:p>
        </p:txBody>
      </p:sp>
      <p:sp>
        <p:nvSpPr>
          <p:cNvPr id="6" name="Shape 4"/>
          <p:cNvSpPr/>
          <p:nvPr/>
        </p:nvSpPr>
        <p:spPr>
          <a:xfrm>
            <a:off x="411480" y="1060704"/>
            <a:ext cx="1143000" cy="0"/>
          </a:xfrm>
          <a:prstGeom prst="line">
            <a:avLst/>
          </a:prstGeom>
          <a:noFill/>
          <a:ln w="15240">
            <a:solidFill>
              <a:srgbClr val="12BFE2"/>
            </a:solidFill>
            <a:prstDash val="solid"/>
          </a:ln>
        </p:spPr>
        <p:txBody>
          <a:bodyPr/>
          <a:lstStyle/>
          <a:p>
            <a:endParaRPr lang="en-US"/>
          </a:p>
        </p:txBody>
      </p:sp>
      <p:sp>
        <p:nvSpPr>
          <p:cNvPr id="7" name="Shape 5"/>
          <p:cNvSpPr/>
          <p:nvPr/>
        </p:nvSpPr>
        <p:spPr>
          <a:xfrm>
            <a:off x="621792" y="1234440"/>
            <a:ext cx="3840480" cy="603504"/>
          </a:xfrm>
          <a:prstGeom prst="roundRect">
            <a:avLst>
              <a:gd name="adj" fmla="val 18182"/>
            </a:avLst>
          </a:prstGeom>
          <a:solidFill>
            <a:srgbClr val="111A2D"/>
          </a:solidFill>
          <a:ln w="12700">
            <a:solidFill>
              <a:srgbClr val="111A2D">
                <a:alpha val="0"/>
              </a:srgbClr>
            </a:solidFill>
            <a:prstDash val="solid"/>
          </a:ln>
        </p:spPr>
        <p:txBody>
          <a:bodyPr/>
          <a:lstStyle/>
          <a:p>
            <a:endParaRPr lang="en-US"/>
          </a:p>
        </p:txBody>
      </p:sp>
      <p:sp>
        <p:nvSpPr>
          <p:cNvPr id="8" name="Shape 6"/>
          <p:cNvSpPr/>
          <p:nvPr/>
        </p:nvSpPr>
        <p:spPr>
          <a:xfrm>
            <a:off x="621792" y="1234440"/>
            <a:ext cx="32004" cy="603504"/>
          </a:xfrm>
          <a:prstGeom prst="rect">
            <a:avLst/>
          </a:prstGeom>
          <a:solidFill>
            <a:srgbClr val="12BFE2"/>
          </a:solidFill>
          <a:ln w="12700">
            <a:solidFill>
              <a:srgbClr val="12BFE2"/>
            </a:solidFill>
            <a:prstDash val="solid"/>
          </a:ln>
        </p:spPr>
        <p:txBody>
          <a:bodyPr/>
          <a:lstStyle/>
          <a:p>
            <a:endParaRPr lang="en-US"/>
          </a:p>
        </p:txBody>
      </p:sp>
      <p:sp>
        <p:nvSpPr>
          <p:cNvPr id="9" name="Shape 7"/>
          <p:cNvSpPr/>
          <p:nvPr/>
        </p:nvSpPr>
        <p:spPr>
          <a:xfrm>
            <a:off x="740664" y="1353312"/>
            <a:ext cx="256032" cy="256032"/>
          </a:xfrm>
          <a:prstGeom prst="ellipse">
            <a:avLst/>
          </a:prstGeom>
          <a:solidFill>
            <a:srgbClr val="12BFE2"/>
          </a:solidFill>
          <a:ln w="12700">
            <a:solidFill>
              <a:srgbClr val="12BFE2"/>
            </a:solidFill>
            <a:prstDash val="solid"/>
          </a:ln>
        </p:spPr>
        <p:txBody>
          <a:bodyPr/>
          <a:lstStyle/>
          <a:p>
            <a:endParaRPr lang="en-US"/>
          </a:p>
        </p:txBody>
      </p:sp>
      <p:sp>
        <p:nvSpPr>
          <p:cNvPr id="10" name="Text 8"/>
          <p:cNvSpPr/>
          <p:nvPr/>
        </p:nvSpPr>
        <p:spPr>
          <a:xfrm>
            <a:off x="740664" y="1399032"/>
            <a:ext cx="256032" cy="109728"/>
          </a:xfrm>
          <a:prstGeom prst="rect">
            <a:avLst/>
          </a:prstGeom>
          <a:noFill/>
          <a:ln/>
        </p:spPr>
        <p:txBody>
          <a:bodyPr wrap="square" lIns="0" tIns="0" rIns="0" bIns="0" rtlCol="0" anchor="ctr"/>
          <a:lstStyle/>
          <a:p>
            <a:pPr marL="0" indent="0" algn="ctr">
              <a:buNone/>
            </a:pPr>
            <a:r>
              <a:rPr lang="en-US" sz="650" b="1" dirty="0">
                <a:solidFill>
                  <a:srgbClr val="070D1A"/>
                </a:solidFill>
                <a:latin typeface="Aptos" pitchFamily="34" charset="0"/>
                <a:ea typeface="Aptos" pitchFamily="34" charset="-122"/>
                <a:cs typeface="Aptos" pitchFamily="34" charset="-120"/>
              </a:rPr>
              <a:t>1</a:t>
            </a:r>
            <a:endParaRPr lang="en-US" sz="650" dirty="0"/>
          </a:p>
        </p:txBody>
      </p:sp>
      <p:sp>
        <p:nvSpPr>
          <p:cNvPr id="11" name="Text 9"/>
          <p:cNvSpPr/>
          <p:nvPr/>
        </p:nvSpPr>
        <p:spPr>
          <a:xfrm>
            <a:off x="1042416" y="1362456"/>
            <a:ext cx="3310128" cy="201168"/>
          </a:xfrm>
          <a:prstGeom prst="rect">
            <a:avLst/>
          </a:prstGeom>
          <a:noFill/>
          <a:ln/>
        </p:spPr>
        <p:txBody>
          <a:bodyPr wrap="square" lIns="0" tIns="0" rIns="0" bIns="0" rtlCol="0" anchor="ctr">
            <a:normAutofit/>
          </a:bodyPr>
          <a:lstStyle/>
          <a:p>
            <a:pPr marL="0" indent="0">
              <a:buNone/>
            </a:pPr>
            <a:r>
              <a:rPr lang="en-US" sz="870" b="1" dirty="0">
                <a:solidFill>
                  <a:srgbClr val="F8FAFC"/>
                </a:solidFill>
                <a:latin typeface="Aptos" pitchFamily="34" charset="0"/>
                <a:ea typeface="Aptos" pitchFamily="34" charset="-122"/>
                <a:cs typeface="Aptos" pitchFamily="34" charset="-120"/>
              </a:rPr>
              <a:t>Convex-probe EBUS only</a:t>
            </a:r>
            <a:endParaRPr lang="en-US" sz="870" dirty="0"/>
          </a:p>
        </p:txBody>
      </p:sp>
      <p:sp>
        <p:nvSpPr>
          <p:cNvPr id="12" name="Text 10"/>
          <p:cNvSpPr/>
          <p:nvPr/>
        </p:nvSpPr>
        <p:spPr>
          <a:xfrm>
            <a:off x="1042416" y="1645920"/>
            <a:ext cx="3310128" cy="100584"/>
          </a:xfrm>
          <a:prstGeom prst="rect">
            <a:avLst/>
          </a:prstGeom>
          <a:noFill/>
          <a:ln/>
        </p:spPr>
        <p:txBody>
          <a:bodyPr wrap="square" lIns="0" tIns="0" rIns="0" bIns="0" rtlCol="0" anchor="ctr">
            <a:normAutofit/>
          </a:bodyPr>
          <a:lstStyle/>
          <a:p>
            <a:pPr marL="0" indent="0">
              <a:buNone/>
            </a:pPr>
            <a:r>
              <a:rPr lang="en-US" sz="660" dirty="0">
                <a:solidFill>
                  <a:srgbClr val="A7B3C6"/>
                </a:solidFill>
                <a:latin typeface="Aptos" pitchFamily="34" charset="0"/>
                <a:ea typeface="Aptos" pitchFamily="34" charset="-122"/>
                <a:cs typeface="Aptos" pitchFamily="34" charset="-120"/>
              </a:rPr>
              <a:t>Do not expand to radial EBUS or full navigation.</a:t>
            </a:r>
            <a:endParaRPr lang="en-US" sz="660" dirty="0"/>
          </a:p>
        </p:txBody>
      </p:sp>
      <p:sp>
        <p:nvSpPr>
          <p:cNvPr id="13" name="Shape 11"/>
          <p:cNvSpPr/>
          <p:nvPr/>
        </p:nvSpPr>
        <p:spPr>
          <a:xfrm>
            <a:off x="621792" y="2020824"/>
            <a:ext cx="3840480" cy="603504"/>
          </a:xfrm>
          <a:prstGeom prst="roundRect">
            <a:avLst>
              <a:gd name="adj" fmla="val 18182"/>
            </a:avLst>
          </a:prstGeom>
          <a:solidFill>
            <a:srgbClr val="111A2D"/>
          </a:solidFill>
          <a:ln w="12700">
            <a:solidFill>
              <a:srgbClr val="111A2D">
                <a:alpha val="0"/>
              </a:srgbClr>
            </a:solidFill>
            <a:prstDash val="solid"/>
          </a:ln>
        </p:spPr>
        <p:txBody>
          <a:bodyPr/>
          <a:lstStyle/>
          <a:p>
            <a:endParaRPr lang="en-US"/>
          </a:p>
        </p:txBody>
      </p:sp>
      <p:sp>
        <p:nvSpPr>
          <p:cNvPr id="14" name="Shape 12"/>
          <p:cNvSpPr/>
          <p:nvPr/>
        </p:nvSpPr>
        <p:spPr>
          <a:xfrm>
            <a:off x="621792" y="2020824"/>
            <a:ext cx="32004" cy="603504"/>
          </a:xfrm>
          <a:prstGeom prst="rect">
            <a:avLst/>
          </a:prstGeom>
          <a:solidFill>
            <a:srgbClr val="12BFE2"/>
          </a:solidFill>
          <a:ln w="12700">
            <a:solidFill>
              <a:srgbClr val="12BFE2"/>
            </a:solidFill>
            <a:prstDash val="solid"/>
          </a:ln>
        </p:spPr>
        <p:txBody>
          <a:bodyPr/>
          <a:lstStyle/>
          <a:p>
            <a:endParaRPr lang="en-US"/>
          </a:p>
        </p:txBody>
      </p:sp>
      <p:sp>
        <p:nvSpPr>
          <p:cNvPr id="15" name="Shape 13"/>
          <p:cNvSpPr/>
          <p:nvPr/>
        </p:nvSpPr>
        <p:spPr>
          <a:xfrm>
            <a:off x="740664" y="2139696"/>
            <a:ext cx="256032" cy="256032"/>
          </a:xfrm>
          <a:prstGeom prst="ellipse">
            <a:avLst/>
          </a:prstGeom>
          <a:solidFill>
            <a:srgbClr val="12BFE2"/>
          </a:solidFill>
          <a:ln w="12700">
            <a:solidFill>
              <a:srgbClr val="12BFE2"/>
            </a:solidFill>
            <a:prstDash val="solid"/>
          </a:ln>
        </p:spPr>
        <p:txBody>
          <a:bodyPr/>
          <a:lstStyle/>
          <a:p>
            <a:endParaRPr lang="en-US"/>
          </a:p>
        </p:txBody>
      </p:sp>
      <p:sp>
        <p:nvSpPr>
          <p:cNvPr id="16" name="Text 14"/>
          <p:cNvSpPr/>
          <p:nvPr/>
        </p:nvSpPr>
        <p:spPr>
          <a:xfrm>
            <a:off x="740664" y="2185416"/>
            <a:ext cx="256032" cy="109728"/>
          </a:xfrm>
          <a:prstGeom prst="rect">
            <a:avLst/>
          </a:prstGeom>
          <a:noFill/>
          <a:ln/>
        </p:spPr>
        <p:txBody>
          <a:bodyPr wrap="square" lIns="0" tIns="0" rIns="0" bIns="0" rtlCol="0" anchor="ctr"/>
          <a:lstStyle/>
          <a:p>
            <a:pPr marL="0" indent="0" algn="ctr">
              <a:buNone/>
            </a:pPr>
            <a:r>
              <a:rPr lang="en-US" sz="650" b="1" dirty="0">
                <a:solidFill>
                  <a:srgbClr val="070D1A"/>
                </a:solidFill>
                <a:latin typeface="Aptos" pitchFamily="34" charset="0"/>
                <a:ea typeface="Aptos" pitchFamily="34" charset="-122"/>
                <a:cs typeface="Aptos" pitchFamily="34" charset="-120"/>
              </a:rPr>
              <a:t>2</a:t>
            </a:r>
            <a:endParaRPr lang="en-US" sz="650" dirty="0"/>
          </a:p>
        </p:txBody>
      </p:sp>
      <p:sp>
        <p:nvSpPr>
          <p:cNvPr id="17" name="Text 15"/>
          <p:cNvSpPr/>
          <p:nvPr/>
        </p:nvSpPr>
        <p:spPr>
          <a:xfrm>
            <a:off x="1042416" y="2148840"/>
            <a:ext cx="3310128" cy="201168"/>
          </a:xfrm>
          <a:prstGeom prst="rect">
            <a:avLst/>
          </a:prstGeom>
          <a:noFill/>
          <a:ln/>
        </p:spPr>
        <p:txBody>
          <a:bodyPr wrap="square" lIns="0" tIns="0" rIns="0" bIns="0" rtlCol="0" anchor="ctr">
            <a:normAutofit/>
          </a:bodyPr>
          <a:lstStyle/>
          <a:p>
            <a:pPr marL="0" indent="0">
              <a:buNone/>
            </a:pPr>
            <a:r>
              <a:rPr lang="en-US" sz="870" b="1" dirty="0">
                <a:solidFill>
                  <a:srgbClr val="F8FAFC"/>
                </a:solidFill>
                <a:latin typeface="Aptos" pitchFamily="34" charset="0"/>
                <a:ea typeface="Aptos" pitchFamily="34" charset="-122"/>
                <a:cs typeface="Aptos" pitchFamily="34" charset="-120"/>
              </a:rPr>
              <a:t>Contact point is origin</a:t>
            </a:r>
            <a:endParaRPr lang="en-US" sz="870" dirty="0"/>
          </a:p>
        </p:txBody>
      </p:sp>
      <p:sp>
        <p:nvSpPr>
          <p:cNvPr id="18" name="Text 16"/>
          <p:cNvSpPr/>
          <p:nvPr/>
        </p:nvSpPr>
        <p:spPr>
          <a:xfrm>
            <a:off x="1042416" y="2432304"/>
            <a:ext cx="3310128" cy="100584"/>
          </a:xfrm>
          <a:prstGeom prst="rect">
            <a:avLst/>
          </a:prstGeom>
          <a:noFill/>
          <a:ln/>
        </p:spPr>
        <p:txBody>
          <a:bodyPr wrap="square" lIns="0" tIns="0" rIns="0" bIns="0" rtlCol="0" anchor="ctr">
            <a:normAutofit/>
          </a:bodyPr>
          <a:lstStyle/>
          <a:p>
            <a:pPr marL="0" indent="0">
              <a:buNone/>
            </a:pPr>
            <a:r>
              <a:rPr lang="en-US" sz="660" dirty="0">
                <a:solidFill>
                  <a:srgbClr val="A7B3C6"/>
                </a:solidFill>
                <a:latin typeface="Aptos" pitchFamily="34" charset="0"/>
                <a:ea typeface="Aptos" pitchFamily="34" charset="-122"/>
                <a:cs typeface="Aptos" pitchFamily="34" charset="-120"/>
              </a:rPr>
              <a:t>The apex starts at airway-wall contact.</a:t>
            </a:r>
            <a:endParaRPr lang="en-US" sz="660" dirty="0"/>
          </a:p>
        </p:txBody>
      </p:sp>
      <p:sp>
        <p:nvSpPr>
          <p:cNvPr id="19" name="Shape 17"/>
          <p:cNvSpPr/>
          <p:nvPr/>
        </p:nvSpPr>
        <p:spPr>
          <a:xfrm>
            <a:off x="621792" y="2862072"/>
            <a:ext cx="3840480" cy="603504"/>
          </a:xfrm>
          <a:prstGeom prst="roundRect">
            <a:avLst>
              <a:gd name="adj" fmla="val 18182"/>
            </a:avLst>
          </a:prstGeom>
          <a:solidFill>
            <a:srgbClr val="111A2D"/>
          </a:solidFill>
          <a:ln w="12700">
            <a:solidFill>
              <a:srgbClr val="111A2D">
                <a:alpha val="0"/>
              </a:srgbClr>
            </a:solidFill>
            <a:prstDash val="solid"/>
          </a:ln>
        </p:spPr>
        <p:txBody>
          <a:bodyPr/>
          <a:lstStyle/>
          <a:p>
            <a:endParaRPr lang="en-US"/>
          </a:p>
        </p:txBody>
      </p:sp>
      <p:sp>
        <p:nvSpPr>
          <p:cNvPr id="20" name="Shape 18"/>
          <p:cNvSpPr/>
          <p:nvPr/>
        </p:nvSpPr>
        <p:spPr>
          <a:xfrm>
            <a:off x="621792" y="2862072"/>
            <a:ext cx="32004" cy="603504"/>
          </a:xfrm>
          <a:prstGeom prst="rect">
            <a:avLst/>
          </a:prstGeom>
          <a:solidFill>
            <a:srgbClr val="F59E0B"/>
          </a:solidFill>
          <a:ln w="12700">
            <a:solidFill>
              <a:srgbClr val="F59E0B"/>
            </a:solidFill>
            <a:prstDash val="solid"/>
          </a:ln>
        </p:spPr>
        <p:txBody>
          <a:bodyPr/>
          <a:lstStyle/>
          <a:p>
            <a:endParaRPr lang="en-US"/>
          </a:p>
        </p:txBody>
      </p:sp>
      <p:sp>
        <p:nvSpPr>
          <p:cNvPr id="21" name="Shape 19"/>
          <p:cNvSpPr/>
          <p:nvPr/>
        </p:nvSpPr>
        <p:spPr>
          <a:xfrm>
            <a:off x="740664" y="2980944"/>
            <a:ext cx="256032" cy="256032"/>
          </a:xfrm>
          <a:prstGeom prst="ellipse">
            <a:avLst/>
          </a:prstGeom>
          <a:solidFill>
            <a:srgbClr val="F59E0B"/>
          </a:solidFill>
          <a:ln w="12700">
            <a:solidFill>
              <a:srgbClr val="F59E0B"/>
            </a:solidFill>
            <a:prstDash val="solid"/>
          </a:ln>
        </p:spPr>
        <p:txBody>
          <a:bodyPr/>
          <a:lstStyle/>
          <a:p>
            <a:endParaRPr lang="en-US"/>
          </a:p>
        </p:txBody>
      </p:sp>
      <p:sp>
        <p:nvSpPr>
          <p:cNvPr id="22" name="Text 20"/>
          <p:cNvSpPr/>
          <p:nvPr/>
        </p:nvSpPr>
        <p:spPr>
          <a:xfrm>
            <a:off x="740664" y="3026664"/>
            <a:ext cx="256032" cy="109728"/>
          </a:xfrm>
          <a:prstGeom prst="rect">
            <a:avLst/>
          </a:prstGeom>
          <a:noFill/>
          <a:ln/>
        </p:spPr>
        <p:txBody>
          <a:bodyPr wrap="square" lIns="0" tIns="0" rIns="0" bIns="0" rtlCol="0" anchor="ctr"/>
          <a:lstStyle/>
          <a:p>
            <a:pPr marL="0" indent="0" algn="ctr">
              <a:buNone/>
            </a:pPr>
            <a:r>
              <a:rPr lang="en-US" sz="650" b="1" dirty="0">
                <a:solidFill>
                  <a:srgbClr val="070D1A"/>
                </a:solidFill>
                <a:latin typeface="Aptos" pitchFamily="34" charset="0"/>
                <a:ea typeface="Aptos" pitchFamily="34" charset="-122"/>
                <a:cs typeface="Aptos" pitchFamily="34" charset="-120"/>
              </a:rPr>
              <a:t>3</a:t>
            </a:r>
            <a:endParaRPr lang="en-US" sz="650" dirty="0"/>
          </a:p>
        </p:txBody>
      </p:sp>
      <p:sp>
        <p:nvSpPr>
          <p:cNvPr id="23" name="Text 21"/>
          <p:cNvSpPr/>
          <p:nvPr/>
        </p:nvSpPr>
        <p:spPr>
          <a:xfrm>
            <a:off x="1042416" y="2990088"/>
            <a:ext cx="3310128" cy="201168"/>
          </a:xfrm>
          <a:prstGeom prst="rect">
            <a:avLst/>
          </a:prstGeom>
          <a:noFill/>
          <a:ln/>
        </p:spPr>
        <p:txBody>
          <a:bodyPr wrap="square" lIns="0" tIns="0" rIns="0" bIns="0" rtlCol="0" anchor="ctr">
            <a:normAutofit/>
          </a:bodyPr>
          <a:lstStyle/>
          <a:p>
            <a:pPr marL="0" indent="0">
              <a:buNone/>
            </a:pPr>
            <a:r>
              <a:rPr lang="en-US" sz="870" b="1" dirty="0">
                <a:solidFill>
                  <a:srgbClr val="F8FAFC"/>
                </a:solidFill>
                <a:latin typeface="Aptos" pitchFamily="34" charset="0"/>
                <a:ea typeface="Aptos" pitchFamily="34" charset="-122"/>
                <a:cs typeface="Aptos" pitchFamily="34" charset="-120"/>
              </a:rPr>
              <a:t>Station 7 has two approaches</a:t>
            </a:r>
            <a:endParaRPr lang="en-US" sz="870" dirty="0"/>
          </a:p>
        </p:txBody>
      </p:sp>
      <p:sp>
        <p:nvSpPr>
          <p:cNvPr id="24" name="Text 22"/>
          <p:cNvSpPr/>
          <p:nvPr/>
        </p:nvSpPr>
        <p:spPr>
          <a:xfrm>
            <a:off x="1042416" y="3273552"/>
            <a:ext cx="3310128" cy="100584"/>
          </a:xfrm>
          <a:prstGeom prst="rect">
            <a:avLst/>
          </a:prstGeom>
          <a:noFill/>
          <a:ln/>
        </p:spPr>
        <p:txBody>
          <a:bodyPr wrap="square" lIns="0" tIns="0" rIns="0" bIns="0" rtlCol="0" anchor="ctr">
            <a:normAutofit/>
          </a:bodyPr>
          <a:lstStyle/>
          <a:p>
            <a:pPr marL="0" indent="0">
              <a:buNone/>
            </a:pPr>
            <a:r>
              <a:rPr lang="en-US" sz="660" dirty="0">
                <a:solidFill>
                  <a:srgbClr val="A7B3C6"/>
                </a:solidFill>
                <a:latin typeface="Aptos" pitchFamily="34" charset="0"/>
                <a:ea typeface="Aptos" pitchFamily="34" charset="-122"/>
                <a:cs typeface="Aptos" pitchFamily="34" charset="-120"/>
              </a:rPr>
              <a:t>LMS and RMS are distinct contacts to the same target.</a:t>
            </a:r>
            <a:endParaRPr lang="en-US" sz="660" dirty="0"/>
          </a:p>
        </p:txBody>
      </p:sp>
      <p:sp>
        <p:nvSpPr>
          <p:cNvPr id="25" name="Shape 23"/>
          <p:cNvSpPr/>
          <p:nvPr/>
        </p:nvSpPr>
        <p:spPr>
          <a:xfrm>
            <a:off x="621792" y="3648456"/>
            <a:ext cx="3840480" cy="603504"/>
          </a:xfrm>
          <a:prstGeom prst="roundRect">
            <a:avLst>
              <a:gd name="adj" fmla="val 18182"/>
            </a:avLst>
          </a:prstGeom>
          <a:solidFill>
            <a:srgbClr val="111A2D"/>
          </a:solidFill>
          <a:ln w="12700">
            <a:solidFill>
              <a:srgbClr val="111A2D">
                <a:alpha val="0"/>
              </a:srgbClr>
            </a:solidFill>
            <a:prstDash val="solid"/>
          </a:ln>
        </p:spPr>
        <p:txBody>
          <a:bodyPr/>
          <a:lstStyle/>
          <a:p>
            <a:endParaRPr lang="en-US"/>
          </a:p>
        </p:txBody>
      </p:sp>
      <p:sp>
        <p:nvSpPr>
          <p:cNvPr id="26" name="Shape 24"/>
          <p:cNvSpPr/>
          <p:nvPr/>
        </p:nvSpPr>
        <p:spPr>
          <a:xfrm>
            <a:off x="621792" y="3648456"/>
            <a:ext cx="32004" cy="603504"/>
          </a:xfrm>
          <a:prstGeom prst="rect">
            <a:avLst/>
          </a:prstGeom>
          <a:solidFill>
            <a:srgbClr val="12BFE2"/>
          </a:solidFill>
          <a:ln w="12700">
            <a:solidFill>
              <a:srgbClr val="12BFE2"/>
            </a:solidFill>
            <a:prstDash val="solid"/>
          </a:ln>
        </p:spPr>
        <p:txBody>
          <a:bodyPr/>
          <a:lstStyle/>
          <a:p>
            <a:endParaRPr lang="en-US"/>
          </a:p>
        </p:txBody>
      </p:sp>
      <p:sp>
        <p:nvSpPr>
          <p:cNvPr id="27" name="Shape 25"/>
          <p:cNvSpPr/>
          <p:nvPr/>
        </p:nvSpPr>
        <p:spPr>
          <a:xfrm>
            <a:off x="740664" y="3767328"/>
            <a:ext cx="256032" cy="256032"/>
          </a:xfrm>
          <a:prstGeom prst="ellipse">
            <a:avLst/>
          </a:prstGeom>
          <a:solidFill>
            <a:srgbClr val="12BFE2"/>
          </a:solidFill>
          <a:ln w="12700">
            <a:solidFill>
              <a:srgbClr val="12BFE2"/>
            </a:solidFill>
            <a:prstDash val="solid"/>
          </a:ln>
        </p:spPr>
        <p:txBody>
          <a:bodyPr/>
          <a:lstStyle/>
          <a:p>
            <a:endParaRPr lang="en-US"/>
          </a:p>
        </p:txBody>
      </p:sp>
      <p:sp>
        <p:nvSpPr>
          <p:cNvPr id="28" name="Text 26"/>
          <p:cNvSpPr/>
          <p:nvPr/>
        </p:nvSpPr>
        <p:spPr>
          <a:xfrm>
            <a:off x="740664" y="3813048"/>
            <a:ext cx="256032" cy="109728"/>
          </a:xfrm>
          <a:prstGeom prst="rect">
            <a:avLst/>
          </a:prstGeom>
          <a:noFill/>
          <a:ln/>
        </p:spPr>
        <p:txBody>
          <a:bodyPr wrap="square" lIns="0" tIns="0" rIns="0" bIns="0" rtlCol="0" anchor="ctr"/>
          <a:lstStyle/>
          <a:p>
            <a:pPr marL="0" indent="0" algn="ctr">
              <a:buNone/>
            </a:pPr>
            <a:r>
              <a:rPr lang="en-US" sz="650" b="1" dirty="0">
                <a:solidFill>
                  <a:srgbClr val="070D1A"/>
                </a:solidFill>
                <a:latin typeface="Aptos" pitchFamily="34" charset="0"/>
                <a:ea typeface="Aptos" pitchFamily="34" charset="-122"/>
                <a:cs typeface="Aptos" pitchFamily="34" charset="-120"/>
              </a:rPr>
              <a:t>4</a:t>
            </a:r>
            <a:endParaRPr lang="en-US" sz="650" dirty="0"/>
          </a:p>
        </p:txBody>
      </p:sp>
      <p:sp>
        <p:nvSpPr>
          <p:cNvPr id="29" name="Text 27"/>
          <p:cNvSpPr/>
          <p:nvPr/>
        </p:nvSpPr>
        <p:spPr>
          <a:xfrm>
            <a:off x="1042416" y="3776472"/>
            <a:ext cx="3310128" cy="201168"/>
          </a:xfrm>
          <a:prstGeom prst="rect">
            <a:avLst/>
          </a:prstGeom>
          <a:noFill/>
          <a:ln/>
        </p:spPr>
        <p:txBody>
          <a:bodyPr wrap="square" lIns="0" tIns="0" rIns="0" bIns="0" rtlCol="0" anchor="ctr">
            <a:normAutofit/>
          </a:bodyPr>
          <a:lstStyle/>
          <a:p>
            <a:pPr marL="0" indent="0">
              <a:buNone/>
            </a:pPr>
            <a:r>
              <a:rPr lang="en-US" sz="870" b="1" dirty="0">
                <a:solidFill>
                  <a:srgbClr val="F8FAFC"/>
                </a:solidFill>
                <a:latin typeface="Aptos" pitchFamily="34" charset="0"/>
                <a:ea typeface="Aptos" pitchFamily="34" charset="-122"/>
                <a:cs typeface="Aptos" pitchFamily="34" charset="-120"/>
              </a:rPr>
              <a:t>Geometry beats prettiness</a:t>
            </a:r>
            <a:endParaRPr lang="en-US" sz="870" dirty="0"/>
          </a:p>
        </p:txBody>
      </p:sp>
      <p:sp>
        <p:nvSpPr>
          <p:cNvPr id="30" name="Text 28"/>
          <p:cNvSpPr/>
          <p:nvPr/>
        </p:nvSpPr>
        <p:spPr>
          <a:xfrm>
            <a:off x="1042416" y="4059936"/>
            <a:ext cx="3310128" cy="100584"/>
          </a:xfrm>
          <a:prstGeom prst="rect">
            <a:avLst/>
          </a:prstGeom>
          <a:noFill/>
          <a:ln/>
        </p:spPr>
        <p:txBody>
          <a:bodyPr wrap="square" lIns="0" tIns="0" rIns="0" bIns="0" rtlCol="0" anchor="ctr">
            <a:normAutofit/>
          </a:bodyPr>
          <a:lstStyle/>
          <a:p>
            <a:pPr marL="0" indent="0">
              <a:buNone/>
            </a:pPr>
            <a:r>
              <a:rPr lang="en-US" sz="660" dirty="0">
                <a:solidFill>
                  <a:srgbClr val="A7B3C6"/>
                </a:solidFill>
                <a:latin typeface="Aptos" pitchFamily="34" charset="0"/>
                <a:ea typeface="Aptos" pitchFamily="34" charset="-122"/>
                <a:cs typeface="Aptos" pitchFamily="34" charset="-120"/>
              </a:rPr>
              <a:t>A believable image is not enough without anatomy.</a:t>
            </a:r>
            <a:endParaRPr lang="en-US" sz="660" dirty="0"/>
          </a:p>
        </p:txBody>
      </p:sp>
      <p:sp>
        <p:nvSpPr>
          <p:cNvPr id="31" name="Text 29"/>
          <p:cNvSpPr/>
          <p:nvPr/>
        </p:nvSpPr>
        <p:spPr>
          <a:xfrm>
            <a:off x="4892040" y="1170432"/>
            <a:ext cx="3474720" cy="182880"/>
          </a:xfrm>
          <a:prstGeom prst="rect">
            <a:avLst/>
          </a:prstGeom>
          <a:noFill/>
          <a:ln/>
        </p:spPr>
        <p:txBody>
          <a:bodyPr wrap="square" lIns="0" tIns="0" rIns="0" bIns="0" rtlCol="0" anchor="ctr"/>
          <a:lstStyle/>
          <a:p>
            <a:pPr marL="0" indent="0" algn="ctr">
              <a:buNone/>
            </a:pPr>
            <a:r>
              <a:rPr lang="en-US" sz="1050" b="1" dirty="0">
                <a:solidFill>
                  <a:srgbClr val="F8FAFC"/>
                </a:solidFill>
              </a:rPr>
              <a:t>Station 7 teaching moment</a:t>
            </a:r>
            <a:endParaRPr lang="en-US" sz="1050" dirty="0"/>
          </a:p>
        </p:txBody>
      </p:sp>
      <p:sp>
        <p:nvSpPr>
          <p:cNvPr id="32" name="Shape 30"/>
          <p:cNvSpPr/>
          <p:nvPr/>
        </p:nvSpPr>
        <p:spPr>
          <a:xfrm>
            <a:off x="4800600" y="1508760"/>
            <a:ext cx="1645920" cy="1874520"/>
          </a:xfrm>
          <a:prstGeom prst="roundRect">
            <a:avLst>
              <a:gd name="adj" fmla="val 6667"/>
            </a:avLst>
          </a:prstGeom>
          <a:solidFill>
            <a:srgbClr val="0B1220"/>
          </a:solidFill>
          <a:ln w="15240">
            <a:solidFill>
              <a:srgbClr val="12BFE2"/>
            </a:solidFill>
            <a:prstDash val="solid"/>
          </a:ln>
        </p:spPr>
        <p:txBody>
          <a:bodyPr/>
          <a:lstStyle/>
          <a:p>
            <a:endParaRPr lang="en-US"/>
          </a:p>
        </p:txBody>
      </p:sp>
      <p:sp>
        <p:nvSpPr>
          <p:cNvPr id="33" name="Text 31"/>
          <p:cNvSpPr/>
          <p:nvPr/>
        </p:nvSpPr>
        <p:spPr>
          <a:xfrm>
            <a:off x="4983480" y="2061972"/>
            <a:ext cx="1280160" cy="475488"/>
          </a:xfrm>
          <a:prstGeom prst="rect">
            <a:avLst/>
          </a:prstGeom>
          <a:noFill/>
          <a:ln/>
        </p:spPr>
        <p:txBody>
          <a:bodyPr wrap="square" lIns="0" tIns="0" rIns="0" bIns="0" rtlCol="0" anchor="ctr"/>
          <a:lstStyle/>
          <a:p>
            <a:pPr marL="0" indent="0" algn="ctr">
              <a:buNone/>
            </a:pPr>
            <a:r>
              <a:rPr lang="en-US" sz="1000" b="1" dirty="0">
                <a:solidFill>
                  <a:srgbClr val="12BFE2"/>
                </a:solidFill>
                <a:latin typeface="Aptos" pitchFamily="34" charset="0"/>
                <a:ea typeface="Aptos" pitchFamily="34" charset="-122"/>
                <a:cs typeface="Aptos" pitchFamily="34" charset="-120"/>
              </a:rPr>
              <a:t>LMS approach</a:t>
            </a:r>
            <a:endParaRPr lang="en-US" sz="1000" dirty="0"/>
          </a:p>
        </p:txBody>
      </p:sp>
      <p:sp>
        <p:nvSpPr>
          <p:cNvPr id="34" name="Text 32"/>
          <p:cNvSpPr/>
          <p:nvPr/>
        </p:nvSpPr>
        <p:spPr>
          <a:xfrm>
            <a:off x="5029200" y="2647188"/>
            <a:ext cx="1188720" cy="201168"/>
          </a:xfrm>
          <a:prstGeom prst="rect">
            <a:avLst/>
          </a:prstGeom>
          <a:noFill/>
          <a:ln/>
        </p:spPr>
        <p:txBody>
          <a:bodyPr wrap="square" lIns="0" tIns="0" rIns="0" bIns="0" rtlCol="0" anchor="ctr"/>
          <a:lstStyle/>
          <a:p>
            <a:pPr marL="0" indent="0" algn="ctr">
              <a:buNone/>
            </a:pPr>
            <a:r>
              <a:rPr lang="en-US" sz="700" dirty="0">
                <a:solidFill>
                  <a:srgbClr val="7E8CA3"/>
                </a:solidFill>
                <a:latin typeface="Aptos" pitchFamily="34" charset="0"/>
                <a:ea typeface="Aptos" pitchFamily="34" charset="-122"/>
                <a:cs typeface="Aptos" pitchFamily="34" charset="-120"/>
              </a:rPr>
              <a:t>drop localizer/physics image</a:t>
            </a:r>
            <a:endParaRPr lang="en-US" sz="700" dirty="0"/>
          </a:p>
        </p:txBody>
      </p:sp>
      <p:sp>
        <p:nvSpPr>
          <p:cNvPr id="35" name="Shape 33"/>
          <p:cNvSpPr/>
          <p:nvPr/>
        </p:nvSpPr>
        <p:spPr>
          <a:xfrm>
            <a:off x="6720840" y="1508760"/>
            <a:ext cx="1645920" cy="1874520"/>
          </a:xfrm>
          <a:prstGeom prst="roundRect">
            <a:avLst>
              <a:gd name="adj" fmla="val 6667"/>
            </a:avLst>
          </a:prstGeom>
          <a:solidFill>
            <a:srgbClr val="0B1220"/>
          </a:solidFill>
          <a:ln w="15240">
            <a:solidFill>
              <a:srgbClr val="F59E0B"/>
            </a:solidFill>
            <a:prstDash val="solid"/>
          </a:ln>
        </p:spPr>
        <p:txBody>
          <a:bodyPr/>
          <a:lstStyle/>
          <a:p>
            <a:endParaRPr lang="en-US"/>
          </a:p>
        </p:txBody>
      </p:sp>
      <p:sp>
        <p:nvSpPr>
          <p:cNvPr id="36" name="Text 34"/>
          <p:cNvSpPr/>
          <p:nvPr/>
        </p:nvSpPr>
        <p:spPr>
          <a:xfrm>
            <a:off x="6903720" y="2061972"/>
            <a:ext cx="1280160" cy="475488"/>
          </a:xfrm>
          <a:prstGeom prst="rect">
            <a:avLst/>
          </a:prstGeom>
          <a:noFill/>
          <a:ln/>
        </p:spPr>
        <p:txBody>
          <a:bodyPr wrap="square" lIns="0" tIns="0" rIns="0" bIns="0" rtlCol="0" anchor="ctr"/>
          <a:lstStyle/>
          <a:p>
            <a:pPr marL="0" indent="0" algn="ctr">
              <a:buNone/>
            </a:pPr>
            <a:r>
              <a:rPr lang="en-US" sz="1000" b="1" dirty="0">
                <a:solidFill>
                  <a:srgbClr val="F59E0B"/>
                </a:solidFill>
                <a:latin typeface="Aptos" pitchFamily="34" charset="0"/>
                <a:ea typeface="Aptos" pitchFamily="34" charset="-122"/>
                <a:cs typeface="Aptos" pitchFamily="34" charset="-120"/>
              </a:rPr>
              <a:t>RMS approach</a:t>
            </a:r>
            <a:endParaRPr lang="en-US" sz="1000" dirty="0"/>
          </a:p>
        </p:txBody>
      </p:sp>
      <p:sp>
        <p:nvSpPr>
          <p:cNvPr id="37" name="Text 35"/>
          <p:cNvSpPr/>
          <p:nvPr/>
        </p:nvSpPr>
        <p:spPr>
          <a:xfrm>
            <a:off x="6949440" y="2647188"/>
            <a:ext cx="1188720" cy="201168"/>
          </a:xfrm>
          <a:prstGeom prst="rect">
            <a:avLst/>
          </a:prstGeom>
          <a:noFill/>
          <a:ln/>
        </p:spPr>
        <p:txBody>
          <a:bodyPr wrap="square" lIns="0" tIns="0" rIns="0" bIns="0" rtlCol="0" anchor="ctr"/>
          <a:lstStyle/>
          <a:p>
            <a:pPr marL="0" indent="0" algn="ctr">
              <a:buNone/>
            </a:pPr>
            <a:r>
              <a:rPr lang="en-US" sz="700" dirty="0">
                <a:solidFill>
                  <a:srgbClr val="7E8CA3"/>
                </a:solidFill>
                <a:latin typeface="Aptos" pitchFamily="34" charset="0"/>
                <a:ea typeface="Aptos" pitchFamily="34" charset="-122"/>
                <a:cs typeface="Aptos" pitchFamily="34" charset="-120"/>
              </a:rPr>
              <a:t>drop localizer/physics image</a:t>
            </a:r>
            <a:endParaRPr lang="en-US" sz="700" dirty="0"/>
          </a:p>
        </p:txBody>
      </p:sp>
      <p:sp>
        <p:nvSpPr>
          <p:cNvPr id="38" name="Text 36"/>
          <p:cNvSpPr/>
          <p:nvPr/>
        </p:nvSpPr>
        <p:spPr>
          <a:xfrm>
            <a:off x="4773168" y="3730752"/>
            <a:ext cx="3611880" cy="237744"/>
          </a:xfrm>
          <a:prstGeom prst="rect">
            <a:avLst/>
          </a:prstGeom>
          <a:noFill/>
          <a:ln/>
        </p:spPr>
        <p:txBody>
          <a:bodyPr wrap="square" lIns="0" tIns="0" rIns="0" bIns="0" rtlCol="0" anchor="ctr">
            <a:normAutofit/>
          </a:bodyPr>
          <a:lstStyle/>
          <a:p>
            <a:pPr marL="0" indent="0" algn="ctr">
              <a:buNone/>
            </a:pPr>
            <a:r>
              <a:rPr lang="en-US" sz="820" b="1" dirty="0">
                <a:solidFill>
                  <a:srgbClr val="F59E0B"/>
                </a:solidFill>
                <a:latin typeface="Aptos" pitchFamily="34" charset="0"/>
                <a:ea typeface="Aptos" pitchFamily="34" charset="-122"/>
                <a:cs typeface="Aptos" pitchFamily="34" charset="-120"/>
              </a:rPr>
              <a:t>The app should not collapse these into one generic “station 7” view.</a:t>
            </a:r>
            <a:endParaRPr lang="en-US" sz="82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70D1A"/>
        </a:solidFill>
        <a:effectLst/>
      </p:bgPr>
    </p:bg>
    <p:spTree>
      <p:nvGrpSpPr>
        <p:cNvPr id="1" name=""/>
        <p:cNvGrpSpPr/>
        <p:nvPr/>
      </p:nvGrpSpPr>
      <p:grpSpPr>
        <a:xfrm>
          <a:off x="0" y="0"/>
          <a:ext cx="0" cy="0"/>
          <a:chOff x="0" y="0"/>
          <a:chExt cx="0" cy="0"/>
        </a:xfrm>
      </p:grpSpPr>
      <p:sp>
        <p:nvSpPr>
          <p:cNvPr id="2" name="Text 0"/>
          <p:cNvSpPr/>
          <p:nvPr/>
        </p:nvSpPr>
        <p:spPr>
          <a:xfrm>
            <a:off x="411480" y="274320"/>
            <a:ext cx="3474720" cy="146304"/>
          </a:xfrm>
          <a:prstGeom prst="rect">
            <a:avLst/>
          </a:prstGeom>
          <a:noFill/>
          <a:ln/>
        </p:spPr>
        <p:txBody>
          <a:bodyPr wrap="square" lIns="0" tIns="0" rIns="0" bIns="0" rtlCol="0" anchor="ctr"/>
          <a:lstStyle/>
          <a:p>
            <a:pPr marL="0" indent="0">
              <a:buNone/>
            </a:pPr>
            <a:r>
              <a:rPr lang="en-US" sz="650" b="1" dirty="0">
                <a:solidFill>
                  <a:srgbClr val="12BFE2"/>
                </a:solidFill>
                <a:latin typeface="Aptos" pitchFamily="34" charset="0"/>
                <a:ea typeface="Aptos" pitchFamily="34" charset="-122"/>
                <a:cs typeface="Aptos" pitchFamily="34" charset="-120"/>
              </a:rPr>
              <a:t>WEBINAR DEMO</a:t>
            </a:r>
            <a:endParaRPr lang="en-US" sz="650" dirty="0"/>
          </a:p>
        </p:txBody>
      </p:sp>
      <p:sp>
        <p:nvSpPr>
          <p:cNvPr id="3" name="Text 1"/>
          <p:cNvSpPr/>
          <p:nvPr/>
        </p:nvSpPr>
        <p:spPr>
          <a:xfrm>
            <a:off x="411480" y="612648"/>
            <a:ext cx="5669280" cy="384048"/>
          </a:xfrm>
          <a:prstGeom prst="rect">
            <a:avLst/>
          </a:prstGeom>
          <a:noFill/>
          <a:ln/>
        </p:spPr>
        <p:txBody>
          <a:bodyPr wrap="square" lIns="0" tIns="0" rIns="0" bIns="0" rtlCol="0" anchor="ctr">
            <a:normAutofit/>
          </a:bodyPr>
          <a:lstStyle/>
          <a:p>
            <a:pPr marL="0" indent="0">
              <a:buNone/>
            </a:pPr>
            <a:r>
              <a:rPr lang="en-US" sz="2100" b="1" dirty="0">
                <a:solidFill>
                  <a:srgbClr val="F8FAFC"/>
                </a:solidFill>
                <a:latin typeface="Aptos Display" pitchFamily="34" charset="0"/>
                <a:ea typeface="Aptos Display" pitchFamily="34" charset="-122"/>
                <a:cs typeface="Aptos Display" pitchFamily="34" charset="-120"/>
              </a:rPr>
              <a:t>Show interactions, not code</a:t>
            </a:r>
            <a:endParaRPr lang="en-US" sz="2100" dirty="0"/>
          </a:p>
        </p:txBody>
      </p:sp>
      <p:sp>
        <p:nvSpPr>
          <p:cNvPr id="4" name="Text 2"/>
          <p:cNvSpPr/>
          <p:nvPr/>
        </p:nvSpPr>
        <p:spPr>
          <a:xfrm>
            <a:off x="411480" y="4828032"/>
            <a:ext cx="4754880" cy="109728"/>
          </a:xfrm>
          <a:prstGeom prst="rect">
            <a:avLst/>
          </a:prstGeom>
          <a:noFill/>
          <a:ln/>
        </p:spPr>
        <p:txBody>
          <a:bodyPr wrap="square" lIns="0" tIns="0" rIns="0" bIns="0" rtlCol="0" anchor="ctr"/>
          <a:lstStyle/>
          <a:p>
            <a:pPr marL="0" indent="0">
              <a:buNone/>
            </a:pPr>
            <a:r>
              <a:rPr lang="en-US" sz="550" dirty="0">
                <a:solidFill>
                  <a:srgbClr val="5F6B7A"/>
                </a:solidFill>
                <a:latin typeface="Aptos" pitchFamily="34" charset="0"/>
                <a:ea typeface="Aptos" pitchFamily="34" charset="-122"/>
                <a:cs typeface="Aptos" pitchFamily="34" charset="-120"/>
              </a:rPr>
              <a:t>AABIP Webinar 2026  |  AI in Interventional Pulmonology</a:t>
            </a:r>
            <a:endParaRPr lang="en-US" sz="550" dirty="0"/>
          </a:p>
        </p:txBody>
      </p:sp>
      <p:sp>
        <p:nvSpPr>
          <p:cNvPr id="5" name="Text 3"/>
          <p:cNvSpPr/>
          <p:nvPr/>
        </p:nvSpPr>
        <p:spPr>
          <a:xfrm>
            <a:off x="8366760" y="4828032"/>
            <a:ext cx="365760" cy="109728"/>
          </a:xfrm>
          <a:prstGeom prst="rect">
            <a:avLst/>
          </a:prstGeom>
          <a:noFill/>
          <a:ln/>
        </p:spPr>
        <p:txBody>
          <a:bodyPr wrap="square" lIns="0" tIns="0" rIns="0" bIns="0" rtlCol="0" anchor="ctr"/>
          <a:lstStyle/>
          <a:p>
            <a:pPr marL="0" indent="0" algn="r">
              <a:buNone/>
            </a:pPr>
            <a:r>
              <a:rPr lang="en-US" sz="550" dirty="0">
                <a:solidFill>
                  <a:srgbClr val="5F6B7A"/>
                </a:solidFill>
                <a:latin typeface="Aptos" pitchFamily="34" charset="0"/>
                <a:ea typeface="Aptos" pitchFamily="34" charset="-122"/>
                <a:cs typeface="Aptos" pitchFamily="34" charset="-120"/>
              </a:rPr>
              <a:t>16 / 22</a:t>
            </a:r>
            <a:endParaRPr lang="en-US" sz="550" dirty="0"/>
          </a:p>
        </p:txBody>
      </p:sp>
      <p:sp>
        <p:nvSpPr>
          <p:cNvPr id="6" name="Shape 4"/>
          <p:cNvSpPr/>
          <p:nvPr/>
        </p:nvSpPr>
        <p:spPr>
          <a:xfrm>
            <a:off x="411480" y="1060704"/>
            <a:ext cx="1143000" cy="0"/>
          </a:xfrm>
          <a:prstGeom prst="line">
            <a:avLst/>
          </a:prstGeom>
          <a:noFill/>
          <a:ln w="15240">
            <a:solidFill>
              <a:srgbClr val="12BFE2"/>
            </a:solidFill>
            <a:prstDash val="solid"/>
          </a:ln>
        </p:spPr>
        <p:txBody>
          <a:bodyPr/>
          <a:lstStyle/>
          <a:p>
            <a:endParaRPr lang="en-US"/>
          </a:p>
        </p:txBody>
      </p:sp>
      <p:sp>
        <p:nvSpPr>
          <p:cNvPr id="7" name="Text 5"/>
          <p:cNvSpPr/>
          <p:nvPr/>
        </p:nvSpPr>
        <p:spPr>
          <a:xfrm>
            <a:off x="685800" y="1261872"/>
            <a:ext cx="5669280" cy="384048"/>
          </a:xfrm>
          <a:prstGeom prst="rect">
            <a:avLst/>
          </a:prstGeom>
          <a:noFill/>
          <a:ln/>
        </p:spPr>
        <p:txBody>
          <a:bodyPr wrap="square" lIns="0" tIns="0" rIns="0" bIns="0" rtlCol="0" anchor="ctr"/>
          <a:lstStyle/>
          <a:p>
            <a:pPr marL="0" indent="0">
              <a:buNone/>
            </a:pPr>
            <a:r>
              <a:rPr lang="en-US" sz="1500" b="1" dirty="0">
                <a:solidFill>
                  <a:srgbClr val="F8FAFC"/>
                </a:solidFill>
                <a:latin typeface="Aptos Display" pitchFamily="34" charset="0"/>
                <a:ea typeface="Aptos Display" pitchFamily="34" charset="-122"/>
                <a:cs typeface="Aptos Display" pitchFamily="34" charset="-120"/>
              </a:rPr>
              <a:t>A 5-minute demo can teach the process better than a live coding marathon.</a:t>
            </a:r>
            <a:endParaRPr lang="en-US" sz="1500" dirty="0"/>
          </a:p>
        </p:txBody>
      </p:sp>
      <p:sp>
        <p:nvSpPr>
          <p:cNvPr id="8" name="Shape 6"/>
          <p:cNvSpPr/>
          <p:nvPr/>
        </p:nvSpPr>
        <p:spPr>
          <a:xfrm>
            <a:off x="822960" y="1810512"/>
            <a:ext cx="310896" cy="310896"/>
          </a:xfrm>
          <a:prstGeom prst="ellipse">
            <a:avLst/>
          </a:prstGeom>
          <a:solidFill>
            <a:srgbClr val="12BFE2"/>
          </a:solidFill>
          <a:ln w="12700">
            <a:solidFill>
              <a:srgbClr val="12BFE2"/>
            </a:solidFill>
            <a:prstDash val="solid"/>
          </a:ln>
        </p:spPr>
        <p:txBody>
          <a:bodyPr/>
          <a:lstStyle/>
          <a:p>
            <a:endParaRPr lang="en-US"/>
          </a:p>
        </p:txBody>
      </p:sp>
      <p:sp>
        <p:nvSpPr>
          <p:cNvPr id="9" name="Text 7"/>
          <p:cNvSpPr/>
          <p:nvPr/>
        </p:nvSpPr>
        <p:spPr>
          <a:xfrm>
            <a:off x="822960" y="1883664"/>
            <a:ext cx="310896" cy="73152"/>
          </a:xfrm>
          <a:prstGeom prst="rect">
            <a:avLst/>
          </a:prstGeom>
          <a:noFill/>
          <a:ln/>
        </p:spPr>
        <p:txBody>
          <a:bodyPr wrap="square" lIns="0" tIns="0" rIns="0" bIns="0" rtlCol="0" anchor="ctr"/>
          <a:lstStyle/>
          <a:p>
            <a:pPr marL="0" indent="0" algn="ctr">
              <a:buNone/>
            </a:pPr>
            <a:r>
              <a:rPr lang="en-US" sz="620" b="1" dirty="0">
                <a:solidFill>
                  <a:srgbClr val="070D1A"/>
                </a:solidFill>
              </a:rPr>
              <a:t>1</a:t>
            </a:r>
            <a:endParaRPr lang="en-US" sz="620" dirty="0"/>
          </a:p>
        </p:txBody>
      </p:sp>
      <p:sp>
        <p:nvSpPr>
          <p:cNvPr id="10" name="Text 8"/>
          <p:cNvSpPr/>
          <p:nvPr/>
        </p:nvSpPr>
        <p:spPr>
          <a:xfrm>
            <a:off x="1261872" y="1837944"/>
            <a:ext cx="1645920" cy="146304"/>
          </a:xfrm>
          <a:prstGeom prst="rect">
            <a:avLst/>
          </a:prstGeom>
          <a:noFill/>
          <a:ln/>
        </p:spPr>
        <p:txBody>
          <a:bodyPr wrap="square" lIns="0" tIns="0" rIns="0" bIns="0" rtlCol="0" anchor="ctr"/>
          <a:lstStyle/>
          <a:p>
            <a:pPr marL="0" indent="0">
              <a:buNone/>
            </a:pPr>
            <a:r>
              <a:rPr lang="en-US" sz="870" b="1" dirty="0">
                <a:solidFill>
                  <a:srgbClr val="F8FAFC"/>
                </a:solidFill>
              </a:rPr>
              <a:t>Open the course home</a:t>
            </a:r>
            <a:endParaRPr lang="en-US" sz="870" dirty="0"/>
          </a:p>
        </p:txBody>
      </p:sp>
      <p:sp>
        <p:nvSpPr>
          <p:cNvPr id="11" name="Text 9"/>
          <p:cNvSpPr/>
          <p:nvPr/>
        </p:nvSpPr>
        <p:spPr>
          <a:xfrm>
            <a:off x="2971800" y="1837944"/>
            <a:ext cx="3108960" cy="146304"/>
          </a:xfrm>
          <a:prstGeom prst="rect">
            <a:avLst/>
          </a:prstGeom>
          <a:noFill/>
          <a:ln/>
        </p:spPr>
        <p:txBody>
          <a:bodyPr wrap="square" lIns="0" tIns="0" rIns="0" bIns="0" rtlCol="0" anchor="ctr"/>
          <a:lstStyle/>
          <a:p>
            <a:pPr marL="0" indent="0">
              <a:buNone/>
            </a:pPr>
            <a:r>
              <a:rPr lang="en-US" sz="720" dirty="0">
                <a:solidFill>
                  <a:srgbClr val="A7B3C6"/>
                </a:solidFill>
              </a:rPr>
              <a:t>Show module flow and progress.</a:t>
            </a:r>
            <a:endParaRPr lang="en-US" sz="720" dirty="0"/>
          </a:p>
        </p:txBody>
      </p:sp>
      <p:sp>
        <p:nvSpPr>
          <p:cNvPr id="12" name="Shape 10"/>
          <p:cNvSpPr/>
          <p:nvPr/>
        </p:nvSpPr>
        <p:spPr>
          <a:xfrm>
            <a:off x="822960" y="2295144"/>
            <a:ext cx="310896" cy="310896"/>
          </a:xfrm>
          <a:prstGeom prst="ellipse">
            <a:avLst/>
          </a:prstGeom>
          <a:solidFill>
            <a:srgbClr val="F59E0B"/>
          </a:solidFill>
          <a:ln w="12700">
            <a:solidFill>
              <a:srgbClr val="F59E0B"/>
            </a:solidFill>
            <a:prstDash val="solid"/>
          </a:ln>
        </p:spPr>
        <p:txBody>
          <a:bodyPr/>
          <a:lstStyle/>
          <a:p>
            <a:endParaRPr lang="en-US"/>
          </a:p>
        </p:txBody>
      </p:sp>
      <p:sp>
        <p:nvSpPr>
          <p:cNvPr id="13" name="Text 11"/>
          <p:cNvSpPr/>
          <p:nvPr/>
        </p:nvSpPr>
        <p:spPr>
          <a:xfrm>
            <a:off x="822960" y="2368296"/>
            <a:ext cx="310896" cy="73152"/>
          </a:xfrm>
          <a:prstGeom prst="rect">
            <a:avLst/>
          </a:prstGeom>
          <a:noFill/>
          <a:ln/>
        </p:spPr>
        <p:txBody>
          <a:bodyPr wrap="square" lIns="0" tIns="0" rIns="0" bIns="0" rtlCol="0" anchor="ctr"/>
          <a:lstStyle/>
          <a:p>
            <a:pPr marL="0" indent="0" algn="ctr">
              <a:buNone/>
            </a:pPr>
            <a:r>
              <a:rPr lang="en-US" sz="620" b="1" dirty="0">
                <a:solidFill>
                  <a:srgbClr val="070D1A"/>
                </a:solidFill>
              </a:rPr>
              <a:t>2</a:t>
            </a:r>
            <a:endParaRPr lang="en-US" sz="620" dirty="0"/>
          </a:p>
        </p:txBody>
      </p:sp>
      <p:sp>
        <p:nvSpPr>
          <p:cNvPr id="14" name="Text 12"/>
          <p:cNvSpPr/>
          <p:nvPr/>
        </p:nvSpPr>
        <p:spPr>
          <a:xfrm>
            <a:off x="1261872" y="2322576"/>
            <a:ext cx="1645920" cy="146304"/>
          </a:xfrm>
          <a:prstGeom prst="rect">
            <a:avLst/>
          </a:prstGeom>
          <a:noFill/>
          <a:ln/>
        </p:spPr>
        <p:txBody>
          <a:bodyPr wrap="square" lIns="0" tIns="0" rIns="0" bIns="0" rtlCol="0" anchor="ctr"/>
          <a:lstStyle/>
          <a:p>
            <a:pPr marL="0" indent="0">
              <a:buNone/>
            </a:pPr>
            <a:r>
              <a:rPr lang="en-US" sz="870" b="1" dirty="0">
                <a:solidFill>
                  <a:srgbClr val="F8FAFC"/>
                </a:solidFill>
              </a:rPr>
              <a:t>Run knobology lab</a:t>
            </a:r>
            <a:endParaRPr lang="en-US" sz="870" dirty="0"/>
          </a:p>
        </p:txBody>
      </p:sp>
      <p:sp>
        <p:nvSpPr>
          <p:cNvPr id="15" name="Text 13"/>
          <p:cNvSpPr/>
          <p:nvPr/>
        </p:nvSpPr>
        <p:spPr>
          <a:xfrm>
            <a:off x="2971800" y="2322576"/>
            <a:ext cx="3108960" cy="146304"/>
          </a:xfrm>
          <a:prstGeom prst="rect">
            <a:avLst/>
          </a:prstGeom>
          <a:noFill/>
          <a:ln/>
        </p:spPr>
        <p:txBody>
          <a:bodyPr wrap="square" lIns="0" tIns="0" rIns="0" bIns="0" rtlCol="0" anchor="ctr"/>
          <a:lstStyle/>
          <a:p>
            <a:pPr marL="0" indent="0">
              <a:buNone/>
            </a:pPr>
            <a:r>
              <a:rPr lang="en-US" sz="720" dirty="0">
                <a:solidFill>
                  <a:srgbClr val="A7B3C6"/>
                </a:solidFill>
              </a:rPr>
              <a:t>Learner changes settings and gets feedback.</a:t>
            </a:r>
            <a:endParaRPr lang="en-US" sz="720" dirty="0"/>
          </a:p>
        </p:txBody>
      </p:sp>
      <p:sp>
        <p:nvSpPr>
          <p:cNvPr id="16" name="Shape 14"/>
          <p:cNvSpPr/>
          <p:nvPr/>
        </p:nvSpPr>
        <p:spPr>
          <a:xfrm>
            <a:off x="822960" y="2779776"/>
            <a:ext cx="310896" cy="310896"/>
          </a:xfrm>
          <a:prstGeom prst="ellipse">
            <a:avLst/>
          </a:prstGeom>
          <a:solidFill>
            <a:srgbClr val="F59E0B"/>
          </a:solidFill>
          <a:ln w="12700">
            <a:solidFill>
              <a:srgbClr val="F59E0B"/>
            </a:solidFill>
            <a:prstDash val="solid"/>
          </a:ln>
        </p:spPr>
        <p:txBody>
          <a:bodyPr/>
          <a:lstStyle/>
          <a:p>
            <a:endParaRPr lang="en-US"/>
          </a:p>
        </p:txBody>
      </p:sp>
      <p:sp>
        <p:nvSpPr>
          <p:cNvPr id="17" name="Text 15"/>
          <p:cNvSpPr/>
          <p:nvPr/>
        </p:nvSpPr>
        <p:spPr>
          <a:xfrm>
            <a:off x="822960" y="2852928"/>
            <a:ext cx="310896" cy="73152"/>
          </a:xfrm>
          <a:prstGeom prst="rect">
            <a:avLst/>
          </a:prstGeom>
          <a:noFill/>
          <a:ln/>
        </p:spPr>
        <p:txBody>
          <a:bodyPr wrap="square" lIns="0" tIns="0" rIns="0" bIns="0" rtlCol="0" anchor="ctr"/>
          <a:lstStyle/>
          <a:p>
            <a:pPr marL="0" indent="0" algn="ctr">
              <a:buNone/>
            </a:pPr>
            <a:r>
              <a:rPr lang="en-US" sz="620" b="1" dirty="0">
                <a:solidFill>
                  <a:srgbClr val="070D1A"/>
                </a:solidFill>
              </a:rPr>
              <a:t>3</a:t>
            </a:r>
            <a:endParaRPr lang="en-US" sz="620" dirty="0"/>
          </a:p>
        </p:txBody>
      </p:sp>
      <p:sp>
        <p:nvSpPr>
          <p:cNvPr id="18" name="Text 16"/>
          <p:cNvSpPr/>
          <p:nvPr/>
        </p:nvSpPr>
        <p:spPr>
          <a:xfrm>
            <a:off x="1261872" y="2807208"/>
            <a:ext cx="1645920" cy="146304"/>
          </a:xfrm>
          <a:prstGeom prst="rect">
            <a:avLst/>
          </a:prstGeom>
          <a:noFill/>
          <a:ln/>
        </p:spPr>
        <p:txBody>
          <a:bodyPr wrap="square" lIns="0" tIns="0" rIns="0" bIns="0" rtlCol="0" anchor="ctr"/>
          <a:lstStyle/>
          <a:p>
            <a:pPr marL="0" indent="0">
              <a:buNone/>
            </a:pPr>
            <a:r>
              <a:rPr lang="en-US" sz="870" b="1" dirty="0">
                <a:solidFill>
                  <a:srgbClr val="F8FAFC"/>
                </a:solidFill>
              </a:rPr>
              <a:t>Open simulator</a:t>
            </a:r>
            <a:endParaRPr lang="en-US" sz="870" dirty="0"/>
          </a:p>
        </p:txBody>
      </p:sp>
      <p:sp>
        <p:nvSpPr>
          <p:cNvPr id="19" name="Text 17"/>
          <p:cNvSpPr/>
          <p:nvPr/>
        </p:nvSpPr>
        <p:spPr>
          <a:xfrm>
            <a:off x="2971800" y="2807208"/>
            <a:ext cx="3108960" cy="146304"/>
          </a:xfrm>
          <a:prstGeom prst="rect">
            <a:avLst/>
          </a:prstGeom>
          <a:noFill/>
          <a:ln/>
        </p:spPr>
        <p:txBody>
          <a:bodyPr wrap="square" lIns="0" tIns="0" rIns="0" bIns="0" rtlCol="0" anchor="ctr"/>
          <a:lstStyle/>
          <a:p>
            <a:pPr marL="0" indent="0">
              <a:buNone/>
            </a:pPr>
            <a:r>
              <a:rPr lang="en-US" sz="720" dirty="0">
                <a:solidFill>
                  <a:srgbClr val="A7B3C6"/>
                </a:solidFill>
              </a:rPr>
              <a:t>Compare station 7 LMS vs RMS.</a:t>
            </a:r>
            <a:endParaRPr lang="en-US" sz="720" dirty="0"/>
          </a:p>
        </p:txBody>
      </p:sp>
      <p:sp>
        <p:nvSpPr>
          <p:cNvPr id="20" name="Shape 18"/>
          <p:cNvSpPr/>
          <p:nvPr/>
        </p:nvSpPr>
        <p:spPr>
          <a:xfrm>
            <a:off x="822960" y="3264408"/>
            <a:ext cx="310896" cy="310896"/>
          </a:xfrm>
          <a:prstGeom prst="ellipse">
            <a:avLst/>
          </a:prstGeom>
          <a:solidFill>
            <a:srgbClr val="12BFE2"/>
          </a:solidFill>
          <a:ln w="12700">
            <a:solidFill>
              <a:srgbClr val="12BFE2"/>
            </a:solidFill>
            <a:prstDash val="solid"/>
          </a:ln>
        </p:spPr>
        <p:txBody>
          <a:bodyPr/>
          <a:lstStyle/>
          <a:p>
            <a:endParaRPr lang="en-US"/>
          </a:p>
        </p:txBody>
      </p:sp>
      <p:sp>
        <p:nvSpPr>
          <p:cNvPr id="21" name="Text 19"/>
          <p:cNvSpPr/>
          <p:nvPr/>
        </p:nvSpPr>
        <p:spPr>
          <a:xfrm>
            <a:off x="822960" y="3337560"/>
            <a:ext cx="310896" cy="73152"/>
          </a:xfrm>
          <a:prstGeom prst="rect">
            <a:avLst/>
          </a:prstGeom>
          <a:noFill/>
          <a:ln/>
        </p:spPr>
        <p:txBody>
          <a:bodyPr wrap="square" lIns="0" tIns="0" rIns="0" bIns="0" rtlCol="0" anchor="ctr"/>
          <a:lstStyle/>
          <a:p>
            <a:pPr marL="0" indent="0" algn="ctr">
              <a:buNone/>
            </a:pPr>
            <a:r>
              <a:rPr lang="en-US" sz="620" b="1" dirty="0">
                <a:solidFill>
                  <a:srgbClr val="070D1A"/>
                </a:solidFill>
              </a:rPr>
              <a:t>4</a:t>
            </a:r>
            <a:endParaRPr lang="en-US" sz="620" dirty="0"/>
          </a:p>
        </p:txBody>
      </p:sp>
      <p:sp>
        <p:nvSpPr>
          <p:cNvPr id="22" name="Text 20"/>
          <p:cNvSpPr/>
          <p:nvPr/>
        </p:nvSpPr>
        <p:spPr>
          <a:xfrm>
            <a:off x="1261872" y="3291840"/>
            <a:ext cx="1645920" cy="146304"/>
          </a:xfrm>
          <a:prstGeom prst="rect">
            <a:avLst/>
          </a:prstGeom>
          <a:noFill/>
          <a:ln/>
        </p:spPr>
        <p:txBody>
          <a:bodyPr wrap="square" lIns="0" tIns="0" rIns="0" bIns="0" rtlCol="0" anchor="ctr"/>
          <a:lstStyle/>
          <a:p>
            <a:pPr marL="0" indent="0">
              <a:buNone/>
            </a:pPr>
            <a:r>
              <a:rPr lang="en-US" sz="870" b="1" dirty="0">
                <a:solidFill>
                  <a:srgbClr val="F8FAFC"/>
                </a:solidFill>
              </a:rPr>
              <a:t>Show one prompt</a:t>
            </a:r>
            <a:endParaRPr lang="en-US" sz="870" dirty="0"/>
          </a:p>
        </p:txBody>
      </p:sp>
      <p:sp>
        <p:nvSpPr>
          <p:cNvPr id="23" name="Text 21"/>
          <p:cNvSpPr/>
          <p:nvPr/>
        </p:nvSpPr>
        <p:spPr>
          <a:xfrm>
            <a:off x="2971800" y="3291840"/>
            <a:ext cx="3108960" cy="146304"/>
          </a:xfrm>
          <a:prstGeom prst="rect">
            <a:avLst/>
          </a:prstGeom>
          <a:noFill/>
          <a:ln/>
        </p:spPr>
        <p:txBody>
          <a:bodyPr wrap="square" lIns="0" tIns="0" rIns="0" bIns="0" rtlCol="0" anchor="ctr"/>
          <a:lstStyle/>
          <a:p>
            <a:pPr marL="0" indent="0">
              <a:buNone/>
            </a:pPr>
            <a:r>
              <a:rPr lang="en-US" sz="720" dirty="0">
                <a:solidFill>
                  <a:srgbClr val="A7B3C6"/>
                </a:solidFill>
              </a:rPr>
              <a:t>What you asked Codex/agent to change.</a:t>
            </a:r>
            <a:endParaRPr lang="en-US" sz="720" dirty="0"/>
          </a:p>
        </p:txBody>
      </p:sp>
      <p:sp>
        <p:nvSpPr>
          <p:cNvPr id="24" name="Shape 22"/>
          <p:cNvSpPr/>
          <p:nvPr/>
        </p:nvSpPr>
        <p:spPr>
          <a:xfrm>
            <a:off x="822960" y="3749040"/>
            <a:ext cx="310896" cy="310896"/>
          </a:xfrm>
          <a:prstGeom prst="ellipse">
            <a:avLst/>
          </a:prstGeom>
          <a:solidFill>
            <a:srgbClr val="12BFE2"/>
          </a:solidFill>
          <a:ln w="12700">
            <a:solidFill>
              <a:srgbClr val="12BFE2"/>
            </a:solidFill>
            <a:prstDash val="solid"/>
          </a:ln>
        </p:spPr>
        <p:txBody>
          <a:bodyPr/>
          <a:lstStyle/>
          <a:p>
            <a:endParaRPr lang="en-US"/>
          </a:p>
        </p:txBody>
      </p:sp>
      <p:sp>
        <p:nvSpPr>
          <p:cNvPr id="25" name="Text 23"/>
          <p:cNvSpPr/>
          <p:nvPr/>
        </p:nvSpPr>
        <p:spPr>
          <a:xfrm>
            <a:off x="822960" y="3822192"/>
            <a:ext cx="310896" cy="73152"/>
          </a:xfrm>
          <a:prstGeom prst="rect">
            <a:avLst/>
          </a:prstGeom>
          <a:noFill/>
          <a:ln/>
        </p:spPr>
        <p:txBody>
          <a:bodyPr wrap="square" lIns="0" tIns="0" rIns="0" bIns="0" rtlCol="0" anchor="ctr"/>
          <a:lstStyle/>
          <a:p>
            <a:pPr marL="0" indent="0" algn="ctr">
              <a:buNone/>
            </a:pPr>
            <a:r>
              <a:rPr lang="en-US" sz="620" b="1" dirty="0">
                <a:solidFill>
                  <a:srgbClr val="070D1A"/>
                </a:solidFill>
              </a:rPr>
              <a:t>5</a:t>
            </a:r>
            <a:endParaRPr lang="en-US" sz="620" dirty="0"/>
          </a:p>
        </p:txBody>
      </p:sp>
      <p:sp>
        <p:nvSpPr>
          <p:cNvPr id="26" name="Text 24"/>
          <p:cNvSpPr/>
          <p:nvPr/>
        </p:nvSpPr>
        <p:spPr>
          <a:xfrm>
            <a:off x="1261872" y="3776472"/>
            <a:ext cx="1645920" cy="146304"/>
          </a:xfrm>
          <a:prstGeom prst="rect">
            <a:avLst/>
          </a:prstGeom>
          <a:noFill/>
          <a:ln/>
        </p:spPr>
        <p:txBody>
          <a:bodyPr wrap="square" lIns="0" tIns="0" rIns="0" bIns="0" rtlCol="0" anchor="ctr"/>
          <a:lstStyle/>
          <a:p>
            <a:pPr marL="0" indent="0">
              <a:buNone/>
            </a:pPr>
            <a:r>
              <a:rPr lang="en-US" sz="870" b="1" dirty="0">
                <a:solidFill>
                  <a:srgbClr val="F8FAFC"/>
                </a:solidFill>
              </a:rPr>
              <a:t>Show evidence</a:t>
            </a:r>
            <a:endParaRPr lang="en-US" sz="870" dirty="0"/>
          </a:p>
        </p:txBody>
      </p:sp>
      <p:sp>
        <p:nvSpPr>
          <p:cNvPr id="27" name="Text 25"/>
          <p:cNvSpPr/>
          <p:nvPr/>
        </p:nvSpPr>
        <p:spPr>
          <a:xfrm>
            <a:off x="2971800" y="3776472"/>
            <a:ext cx="3108960" cy="146304"/>
          </a:xfrm>
          <a:prstGeom prst="rect">
            <a:avLst/>
          </a:prstGeom>
          <a:noFill/>
          <a:ln/>
        </p:spPr>
        <p:txBody>
          <a:bodyPr wrap="square" lIns="0" tIns="0" rIns="0" bIns="0" rtlCol="0" anchor="ctr"/>
          <a:lstStyle/>
          <a:p>
            <a:pPr marL="0" indent="0">
              <a:buNone/>
            </a:pPr>
            <a:r>
              <a:rPr lang="en-US" sz="720" dirty="0">
                <a:solidFill>
                  <a:srgbClr val="A7B3C6"/>
                </a:solidFill>
              </a:rPr>
              <a:t>Typecheck, tests, build, or review bundle.</a:t>
            </a:r>
            <a:endParaRPr lang="en-US" sz="720" dirty="0"/>
          </a:p>
        </p:txBody>
      </p:sp>
      <p:sp>
        <p:nvSpPr>
          <p:cNvPr id="28" name="Shape 26"/>
          <p:cNvSpPr/>
          <p:nvPr/>
        </p:nvSpPr>
        <p:spPr>
          <a:xfrm>
            <a:off x="6446520" y="1554480"/>
            <a:ext cx="2057400" cy="2286000"/>
          </a:xfrm>
          <a:prstGeom prst="roundRect">
            <a:avLst/>
          </a:prstGeom>
          <a:solidFill>
            <a:srgbClr val="020617"/>
          </a:solidFill>
          <a:ln w="12700">
            <a:solidFill>
              <a:srgbClr val="1E293B"/>
            </a:solidFill>
            <a:prstDash val="solid"/>
          </a:ln>
        </p:spPr>
        <p:txBody>
          <a:bodyPr/>
          <a:lstStyle/>
          <a:p>
            <a:endParaRPr lang="en-US"/>
          </a:p>
        </p:txBody>
      </p:sp>
      <p:sp>
        <p:nvSpPr>
          <p:cNvPr id="29" name="Text 27"/>
          <p:cNvSpPr/>
          <p:nvPr/>
        </p:nvSpPr>
        <p:spPr>
          <a:xfrm>
            <a:off x="6629400" y="1965960"/>
            <a:ext cx="1645920" cy="914400"/>
          </a:xfrm>
          <a:prstGeom prst="rect">
            <a:avLst/>
          </a:prstGeom>
          <a:noFill/>
          <a:ln/>
        </p:spPr>
        <p:txBody>
          <a:bodyPr wrap="square" lIns="0" tIns="0" rIns="0" bIns="0" rtlCol="0" anchor="ctr">
            <a:normAutofit/>
          </a:bodyPr>
          <a:lstStyle/>
          <a:p>
            <a:pPr marL="0" indent="0">
              <a:buNone/>
            </a:pPr>
            <a:r>
              <a:rPr lang="en-US" sz="820" dirty="0">
                <a:solidFill>
                  <a:srgbClr val="22C55E"/>
                </a:solidFill>
                <a:latin typeface="Courier New" pitchFamily="34" charset="0"/>
                <a:ea typeface="Courier New" pitchFamily="34" charset="-122"/>
                <a:cs typeface="Courier New" pitchFamily="34" charset="-120"/>
              </a:rPr>
              <a:t>$ npm run test</a:t>
            </a:r>
            <a:endParaRPr lang="en-US" sz="820" dirty="0"/>
          </a:p>
          <a:p>
            <a:pPr marL="0" indent="0">
              <a:buNone/>
            </a:pPr>
            <a:r>
              <a:rPr lang="en-US" sz="820" dirty="0">
                <a:solidFill>
                  <a:srgbClr val="22C55E"/>
                </a:solidFill>
                <a:latin typeface="Courier New" pitchFamily="34" charset="0"/>
                <a:ea typeface="Courier New" pitchFamily="34" charset="-122"/>
                <a:cs typeface="Courier New" pitchFamily="34" charset="-120"/>
              </a:rPr>
              <a:t>✓ 85 tests passed</a:t>
            </a:r>
            <a:endParaRPr lang="en-US" sz="820" dirty="0"/>
          </a:p>
          <a:p>
            <a:pPr marL="0" indent="0">
              <a:buNone/>
            </a:pPr>
            <a:endParaRPr lang="en-US" sz="820" dirty="0"/>
          </a:p>
          <a:p>
            <a:pPr marL="0" indent="0">
              <a:buNone/>
            </a:pPr>
            <a:r>
              <a:rPr lang="en-US" sz="820" dirty="0">
                <a:solidFill>
                  <a:srgbClr val="22C55E"/>
                </a:solidFill>
                <a:latin typeface="Courier New" pitchFamily="34" charset="0"/>
                <a:ea typeface="Courier New" pitchFamily="34" charset="-122"/>
                <a:cs typeface="Courier New" pitchFamily="34" charset="-120"/>
              </a:rPr>
              <a:t>$ npm run build</a:t>
            </a:r>
            <a:endParaRPr lang="en-US" sz="820" dirty="0"/>
          </a:p>
          <a:p>
            <a:pPr marL="0" indent="0">
              <a:buNone/>
            </a:pPr>
            <a:r>
              <a:rPr lang="en-US" sz="820" dirty="0">
                <a:solidFill>
                  <a:srgbClr val="22C55E"/>
                </a:solidFill>
                <a:latin typeface="Courier New" pitchFamily="34" charset="0"/>
                <a:ea typeface="Courier New" pitchFamily="34" charset="-122"/>
                <a:cs typeface="Courier New" pitchFamily="34" charset="-120"/>
              </a:rPr>
              <a:t>✓ built in 7.8s</a:t>
            </a:r>
            <a:endParaRPr lang="en-US" sz="820" dirty="0"/>
          </a:p>
        </p:txBody>
      </p:sp>
      <p:sp>
        <p:nvSpPr>
          <p:cNvPr id="30" name="Text 28"/>
          <p:cNvSpPr/>
          <p:nvPr/>
        </p:nvSpPr>
        <p:spPr>
          <a:xfrm>
            <a:off x="1371600" y="4361688"/>
            <a:ext cx="6400800" cy="164592"/>
          </a:xfrm>
          <a:prstGeom prst="rect">
            <a:avLst/>
          </a:prstGeom>
          <a:noFill/>
          <a:ln/>
        </p:spPr>
        <p:txBody>
          <a:bodyPr wrap="square" lIns="0" tIns="0" rIns="0" bIns="0" rtlCol="0" anchor="ctr"/>
          <a:lstStyle/>
          <a:p>
            <a:pPr marL="0" indent="0" algn="ctr">
              <a:buNone/>
            </a:pPr>
            <a:r>
              <a:rPr lang="en-US" sz="820" b="1" dirty="0">
                <a:solidFill>
                  <a:srgbClr val="2DD4BF"/>
                </a:solidFill>
                <a:latin typeface="Aptos" pitchFamily="34" charset="0"/>
                <a:ea typeface="Aptos" pitchFamily="34" charset="-122"/>
                <a:cs typeface="Aptos" pitchFamily="34" charset="-120"/>
              </a:rPr>
              <a:t>Do not demo code syntax. Demo the review loop.</a:t>
            </a:r>
            <a:endParaRPr lang="en-US" sz="82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70D1A"/>
        </a:solidFill>
        <a:effectLst/>
      </p:bgPr>
    </p:bg>
    <p:spTree>
      <p:nvGrpSpPr>
        <p:cNvPr id="1" name=""/>
        <p:cNvGrpSpPr/>
        <p:nvPr/>
      </p:nvGrpSpPr>
      <p:grpSpPr>
        <a:xfrm>
          <a:off x="0" y="0"/>
          <a:ext cx="0" cy="0"/>
          <a:chOff x="0" y="0"/>
          <a:chExt cx="0" cy="0"/>
        </a:xfrm>
      </p:grpSpPr>
      <p:sp>
        <p:nvSpPr>
          <p:cNvPr id="2" name="Text 0"/>
          <p:cNvSpPr/>
          <p:nvPr/>
        </p:nvSpPr>
        <p:spPr>
          <a:xfrm>
            <a:off x="411480" y="274320"/>
            <a:ext cx="3474720" cy="146304"/>
          </a:xfrm>
          <a:prstGeom prst="rect">
            <a:avLst/>
          </a:prstGeom>
          <a:noFill/>
          <a:ln/>
        </p:spPr>
        <p:txBody>
          <a:bodyPr wrap="square" lIns="0" tIns="0" rIns="0" bIns="0" rtlCol="0" anchor="ctr"/>
          <a:lstStyle/>
          <a:p>
            <a:pPr marL="0" indent="0">
              <a:buNone/>
            </a:pPr>
            <a:r>
              <a:rPr lang="en-US" sz="650" b="1" dirty="0">
                <a:solidFill>
                  <a:srgbClr val="12BFE2"/>
                </a:solidFill>
                <a:latin typeface="Aptos" pitchFamily="34" charset="0"/>
                <a:ea typeface="Aptos" pitchFamily="34" charset="-122"/>
                <a:cs typeface="Aptos" pitchFamily="34" charset="-120"/>
              </a:rPr>
              <a:t>THE PIVOTS</a:t>
            </a:r>
            <a:endParaRPr lang="en-US" sz="650" dirty="0"/>
          </a:p>
        </p:txBody>
      </p:sp>
      <p:sp>
        <p:nvSpPr>
          <p:cNvPr id="3" name="Text 1"/>
          <p:cNvSpPr/>
          <p:nvPr/>
        </p:nvSpPr>
        <p:spPr>
          <a:xfrm>
            <a:off x="411480" y="612648"/>
            <a:ext cx="5669280" cy="384048"/>
          </a:xfrm>
          <a:prstGeom prst="rect">
            <a:avLst/>
          </a:prstGeom>
          <a:noFill/>
          <a:ln/>
        </p:spPr>
        <p:txBody>
          <a:bodyPr wrap="square" lIns="0" tIns="0" rIns="0" bIns="0" rtlCol="0" anchor="ctr">
            <a:normAutofit/>
          </a:bodyPr>
          <a:lstStyle/>
          <a:p>
            <a:pPr marL="0" indent="0">
              <a:buNone/>
            </a:pPr>
            <a:r>
              <a:rPr lang="en-US" sz="2100" b="1" dirty="0">
                <a:solidFill>
                  <a:srgbClr val="F8FAFC"/>
                </a:solidFill>
                <a:latin typeface="Aptos Display" pitchFamily="34" charset="0"/>
                <a:ea typeface="Aptos Display" pitchFamily="34" charset="-122"/>
                <a:cs typeface="Aptos Display" pitchFamily="34" charset="-120"/>
              </a:rPr>
              <a:t>The build was not linear</a:t>
            </a:r>
            <a:endParaRPr lang="en-US" sz="2100" dirty="0"/>
          </a:p>
        </p:txBody>
      </p:sp>
      <p:sp>
        <p:nvSpPr>
          <p:cNvPr id="4" name="Text 2"/>
          <p:cNvSpPr/>
          <p:nvPr/>
        </p:nvSpPr>
        <p:spPr>
          <a:xfrm>
            <a:off x="411480" y="4828032"/>
            <a:ext cx="4754880" cy="109728"/>
          </a:xfrm>
          <a:prstGeom prst="rect">
            <a:avLst/>
          </a:prstGeom>
          <a:noFill/>
          <a:ln/>
        </p:spPr>
        <p:txBody>
          <a:bodyPr wrap="square" lIns="0" tIns="0" rIns="0" bIns="0" rtlCol="0" anchor="ctr"/>
          <a:lstStyle/>
          <a:p>
            <a:pPr marL="0" indent="0">
              <a:buNone/>
            </a:pPr>
            <a:r>
              <a:rPr lang="en-US" sz="550" dirty="0">
                <a:solidFill>
                  <a:srgbClr val="5F6B7A"/>
                </a:solidFill>
                <a:latin typeface="Aptos" pitchFamily="34" charset="0"/>
                <a:ea typeface="Aptos" pitchFamily="34" charset="-122"/>
                <a:cs typeface="Aptos" pitchFamily="34" charset="-120"/>
              </a:rPr>
              <a:t>AABIP Webinar 2026  |  AI in Interventional Pulmonology</a:t>
            </a:r>
            <a:endParaRPr lang="en-US" sz="550" dirty="0"/>
          </a:p>
        </p:txBody>
      </p:sp>
      <p:sp>
        <p:nvSpPr>
          <p:cNvPr id="5" name="Text 3"/>
          <p:cNvSpPr/>
          <p:nvPr/>
        </p:nvSpPr>
        <p:spPr>
          <a:xfrm>
            <a:off x="8366760" y="4828032"/>
            <a:ext cx="365760" cy="109728"/>
          </a:xfrm>
          <a:prstGeom prst="rect">
            <a:avLst/>
          </a:prstGeom>
          <a:noFill/>
          <a:ln/>
        </p:spPr>
        <p:txBody>
          <a:bodyPr wrap="square" lIns="0" tIns="0" rIns="0" bIns="0" rtlCol="0" anchor="ctr"/>
          <a:lstStyle/>
          <a:p>
            <a:pPr marL="0" indent="0" algn="r">
              <a:buNone/>
            </a:pPr>
            <a:r>
              <a:rPr lang="en-US" sz="550" dirty="0">
                <a:solidFill>
                  <a:srgbClr val="5F6B7A"/>
                </a:solidFill>
                <a:latin typeface="Aptos" pitchFamily="34" charset="0"/>
                <a:ea typeface="Aptos" pitchFamily="34" charset="-122"/>
                <a:cs typeface="Aptos" pitchFamily="34" charset="-120"/>
              </a:rPr>
              <a:t>17 / 22</a:t>
            </a:r>
            <a:endParaRPr lang="en-US" sz="550" dirty="0"/>
          </a:p>
        </p:txBody>
      </p:sp>
      <p:sp>
        <p:nvSpPr>
          <p:cNvPr id="6" name="Shape 4"/>
          <p:cNvSpPr/>
          <p:nvPr/>
        </p:nvSpPr>
        <p:spPr>
          <a:xfrm>
            <a:off x="411480" y="1060704"/>
            <a:ext cx="1143000" cy="0"/>
          </a:xfrm>
          <a:prstGeom prst="line">
            <a:avLst/>
          </a:prstGeom>
          <a:noFill/>
          <a:ln w="15240">
            <a:solidFill>
              <a:srgbClr val="12BFE2"/>
            </a:solidFill>
            <a:prstDash val="solid"/>
          </a:ln>
        </p:spPr>
        <p:txBody>
          <a:bodyPr/>
          <a:lstStyle/>
          <a:p>
            <a:endParaRPr lang="en-US"/>
          </a:p>
        </p:txBody>
      </p:sp>
      <p:sp>
        <p:nvSpPr>
          <p:cNvPr id="7" name="Shape 5"/>
          <p:cNvSpPr/>
          <p:nvPr/>
        </p:nvSpPr>
        <p:spPr>
          <a:xfrm>
            <a:off x="640080" y="1143000"/>
            <a:ext cx="2011680" cy="420624"/>
          </a:xfrm>
          <a:prstGeom prst="roundRect">
            <a:avLst/>
          </a:prstGeom>
          <a:solidFill>
            <a:srgbClr val="111A2D"/>
          </a:solidFill>
          <a:ln w="12700">
            <a:solidFill>
              <a:srgbClr val="111A2D"/>
            </a:solidFill>
            <a:prstDash val="solid"/>
          </a:ln>
        </p:spPr>
        <p:txBody>
          <a:bodyPr/>
          <a:lstStyle/>
          <a:p>
            <a:endParaRPr lang="en-US"/>
          </a:p>
        </p:txBody>
      </p:sp>
      <p:sp>
        <p:nvSpPr>
          <p:cNvPr id="8" name="Text 6"/>
          <p:cNvSpPr/>
          <p:nvPr/>
        </p:nvSpPr>
        <p:spPr>
          <a:xfrm>
            <a:off x="822960" y="1271016"/>
            <a:ext cx="1645920" cy="109728"/>
          </a:xfrm>
          <a:prstGeom prst="rect">
            <a:avLst/>
          </a:prstGeom>
          <a:noFill/>
          <a:ln/>
        </p:spPr>
        <p:txBody>
          <a:bodyPr wrap="square" lIns="0" tIns="0" rIns="0" bIns="0" rtlCol="0" anchor="ctr">
            <a:normAutofit/>
          </a:bodyPr>
          <a:lstStyle/>
          <a:p>
            <a:pPr marL="0" indent="0" algn="ctr">
              <a:buNone/>
            </a:pPr>
            <a:r>
              <a:rPr lang="en-US" sz="760" dirty="0">
                <a:solidFill>
                  <a:srgbClr val="A7B3C6"/>
                </a:solidFill>
              </a:rPr>
              <a:t>Mobile-first</a:t>
            </a:r>
            <a:endParaRPr lang="en-US" sz="760" dirty="0"/>
          </a:p>
        </p:txBody>
      </p:sp>
      <p:sp>
        <p:nvSpPr>
          <p:cNvPr id="9" name="Shape 7"/>
          <p:cNvSpPr/>
          <p:nvPr/>
        </p:nvSpPr>
        <p:spPr>
          <a:xfrm>
            <a:off x="2798064" y="1353312"/>
            <a:ext cx="539496" cy="0"/>
          </a:xfrm>
          <a:prstGeom prst="line">
            <a:avLst/>
          </a:prstGeom>
          <a:noFill/>
          <a:ln w="13970">
            <a:solidFill>
              <a:srgbClr val="12BFE2"/>
            </a:solidFill>
            <a:prstDash val="solid"/>
            <a:tailEnd type="triangle"/>
          </a:ln>
        </p:spPr>
        <p:txBody>
          <a:bodyPr/>
          <a:lstStyle/>
          <a:p>
            <a:endParaRPr lang="en-US"/>
          </a:p>
        </p:txBody>
      </p:sp>
      <p:sp>
        <p:nvSpPr>
          <p:cNvPr id="10" name="Shape 8"/>
          <p:cNvSpPr/>
          <p:nvPr/>
        </p:nvSpPr>
        <p:spPr>
          <a:xfrm>
            <a:off x="3520440" y="1143000"/>
            <a:ext cx="2423160" cy="420624"/>
          </a:xfrm>
          <a:prstGeom prst="roundRect">
            <a:avLst/>
          </a:prstGeom>
          <a:solidFill>
            <a:srgbClr val="0E2A3A"/>
          </a:solidFill>
          <a:ln w="12700">
            <a:solidFill>
              <a:srgbClr val="0E2A3A"/>
            </a:solidFill>
            <a:prstDash val="solid"/>
          </a:ln>
        </p:spPr>
        <p:txBody>
          <a:bodyPr/>
          <a:lstStyle/>
          <a:p>
            <a:endParaRPr lang="en-US"/>
          </a:p>
        </p:txBody>
      </p:sp>
      <p:sp>
        <p:nvSpPr>
          <p:cNvPr id="11" name="Text 9"/>
          <p:cNvSpPr/>
          <p:nvPr/>
        </p:nvSpPr>
        <p:spPr>
          <a:xfrm>
            <a:off x="3657600" y="1271016"/>
            <a:ext cx="2148840" cy="109728"/>
          </a:xfrm>
          <a:prstGeom prst="rect">
            <a:avLst/>
          </a:prstGeom>
          <a:noFill/>
          <a:ln/>
        </p:spPr>
        <p:txBody>
          <a:bodyPr wrap="square" lIns="0" tIns="0" rIns="0" bIns="0" rtlCol="0" anchor="ctr">
            <a:normAutofit/>
          </a:bodyPr>
          <a:lstStyle/>
          <a:p>
            <a:pPr marL="0" indent="0" algn="ctr">
              <a:buNone/>
            </a:pPr>
            <a:r>
              <a:rPr lang="en-US" sz="760" b="1" dirty="0">
                <a:solidFill>
                  <a:srgbClr val="F8FAFC"/>
                </a:solidFill>
              </a:rPr>
              <a:t>Web-first</a:t>
            </a:r>
            <a:endParaRPr lang="en-US" sz="760" dirty="0"/>
          </a:p>
        </p:txBody>
      </p:sp>
      <p:sp>
        <p:nvSpPr>
          <p:cNvPr id="12" name="Text 10"/>
          <p:cNvSpPr/>
          <p:nvPr/>
        </p:nvSpPr>
        <p:spPr>
          <a:xfrm>
            <a:off x="6236208" y="1243584"/>
            <a:ext cx="2194560" cy="146304"/>
          </a:xfrm>
          <a:prstGeom prst="rect">
            <a:avLst/>
          </a:prstGeom>
          <a:noFill/>
          <a:ln/>
        </p:spPr>
        <p:txBody>
          <a:bodyPr wrap="square" lIns="0" tIns="0" rIns="0" bIns="0" rtlCol="0" anchor="ctr">
            <a:normAutofit/>
          </a:bodyPr>
          <a:lstStyle/>
          <a:p>
            <a:pPr marL="0" indent="0">
              <a:buNone/>
            </a:pPr>
            <a:r>
              <a:rPr lang="en-US" sz="680" dirty="0">
                <a:solidFill>
                  <a:srgbClr val="A7B3C6"/>
                </a:solidFill>
              </a:rPr>
              <a:t>web handled media, 3D, and teaching flow better</a:t>
            </a:r>
            <a:endParaRPr lang="en-US" sz="680" dirty="0"/>
          </a:p>
        </p:txBody>
      </p:sp>
      <p:sp>
        <p:nvSpPr>
          <p:cNvPr id="13" name="Shape 11"/>
          <p:cNvSpPr/>
          <p:nvPr/>
        </p:nvSpPr>
        <p:spPr>
          <a:xfrm>
            <a:off x="640080" y="1892808"/>
            <a:ext cx="2011680" cy="420624"/>
          </a:xfrm>
          <a:prstGeom prst="roundRect">
            <a:avLst/>
          </a:prstGeom>
          <a:solidFill>
            <a:srgbClr val="111A2D"/>
          </a:solidFill>
          <a:ln w="12700">
            <a:solidFill>
              <a:srgbClr val="111A2D"/>
            </a:solidFill>
            <a:prstDash val="solid"/>
          </a:ln>
        </p:spPr>
        <p:txBody>
          <a:bodyPr/>
          <a:lstStyle/>
          <a:p>
            <a:endParaRPr lang="en-US"/>
          </a:p>
        </p:txBody>
      </p:sp>
      <p:sp>
        <p:nvSpPr>
          <p:cNvPr id="14" name="Text 12"/>
          <p:cNvSpPr/>
          <p:nvPr/>
        </p:nvSpPr>
        <p:spPr>
          <a:xfrm>
            <a:off x="822960" y="2020824"/>
            <a:ext cx="1645920" cy="109728"/>
          </a:xfrm>
          <a:prstGeom prst="rect">
            <a:avLst/>
          </a:prstGeom>
          <a:noFill/>
          <a:ln/>
        </p:spPr>
        <p:txBody>
          <a:bodyPr wrap="square" lIns="0" tIns="0" rIns="0" bIns="0" rtlCol="0" anchor="ctr">
            <a:normAutofit/>
          </a:bodyPr>
          <a:lstStyle/>
          <a:p>
            <a:pPr marL="0" indent="0" algn="ctr">
              <a:buNone/>
            </a:pPr>
            <a:r>
              <a:rPr lang="en-US" sz="760" dirty="0">
                <a:solidFill>
                  <a:srgbClr val="A7B3C6"/>
                </a:solidFill>
              </a:rPr>
              <a:t>Placeholder visuals</a:t>
            </a:r>
            <a:endParaRPr lang="en-US" sz="760" dirty="0"/>
          </a:p>
        </p:txBody>
      </p:sp>
      <p:sp>
        <p:nvSpPr>
          <p:cNvPr id="15" name="Shape 13"/>
          <p:cNvSpPr/>
          <p:nvPr/>
        </p:nvSpPr>
        <p:spPr>
          <a:xfrm>
            <a:off x="2798064" y="2103120"/>
            <a:ext cx="539496" cy="0"/>
          </a:xfrm>
          <a:prstGeom prst="line">
            <a:avLst/>
          </a:prstGeom>
          <a:noFill/>
          <a:ln w="13970">
            <a:solidFill>
              <a:srgbClr val="12BFE2"/>
            </a:solidFill>
            <a:prstDash val="solid"/>
            <a:tailEnd type="triangle"/>
          </a:ln>
        </p:spPr>
        <p:txBody>
          <a:bodyPr/>
          <a:lstStyle/>
          <a:p>
            <a:endParaRPr lang="en-US"/>
          </a:p>
        </p:txBody>
      </p:sp>
      <p:sp>
        <p:nvSpPr>
          <p:cNvPr id="16" name="Shape 14"/>
          <p:cNvSpPr/>
          <p:nvPr/>
        </p:nvSpPr>
        <p:spPr>
          <a:xfrm>
            <a:off x="3520440" y="1892808"/>
            <a:ext cx="2423160" cy="420624"/>
          </a:xfrm>
          <a:prstGeom prst="roundRect">
            <a:avLst/>
          </a:prstGeom>
          <a:solidFill>
            <a:srgbClr val="0E2A3A"/>
          </a:solidFill>
          <a:ln w="12700">
            <a:solidFill>
              <a:srgbClr val="0E2A3A"/>
            </a:solidFill>
            <a:prstDash val="solid"/>
          </a:ln>
        </p:spPr>
        <p:txBody>
          <a:bodyPr/>
          <a:lstStyle/>
          <a:p>
            <a:endParaRPr lang="en-US"/>
          </a:p>
        </p:txBody>
      </p:sp>
      <p:sp>
        <p:nvSpPr>
          <p:cNvPr id="17" name="Text 15"/>
          <p:cNvSpPr/>
          <p:nvPr/>
        </p:nvSpPr>
        <p:spPr>
          <a:xfrm>
            <a:off x="3657600" y="2020824"/>
            <a:ext cx="2148840" cy="109728"/>
          </a:xfrm>
          <a:prstGeom prst="rect">
            <a:avLst/>
          </a:prstGeom>
          <a:noFill/>
          <a:ln/>
        </p:spPr>
        <p:txBody>
          <a:bodyPr wrap="square" lIns="0" tIns="0" rIns="0" bIns="0" rtlCol="0" anchor="ctr">
            <a:normAutofit/>
          </a:bodyPr>
          <a:lstStyle/>
          <a:p>
            <a:pPr marL="0" indent="0" algn="ctr">
              <a:buNone/>
            </a:pPr>
            <a:r>
              <a:rPr lang="en-US" sz="760" b="1" dirty="0">
                <a:solidFill>
                  <a:srgbClr val="F8FAFC"/>
                </a:solidFill>
              </a:rPr>
              <a:t>Real CT / EBUS / Doppler media</a:t>
            </a:r>
            <a:endParaRPr lang="en-US" sz="760" dirty="0"/>
          </a:p>
        </p:txBody>
      </p:sp>
      <p:sp>
        <p:nvSpPr>
          <p:cNvPr id="18" name="Text 16"/>
          <p:cNvSpPr/>
          <p:nvPr/>
        </p:nvSpPr>
        <p:spPr>
          <a:xfrm>
            <a:off x="6236208" y="1993392"/>
            <a:ext cx="2194560" cy="146304"/>
          </a:xfrm>
          <a:prstGeom prst="rect">
            <a:avLst/>
          </a:prstGeom>
          <a:noFill/>
          <a:ln/>
        </p:spPr>
        <p:txBody>
          <a:bodyPr wrap="square" lIns="0" tIns="0" rIns="0" bIns="0" rtlCol="0" anchor="ctr">
            <a:normAutofit/>
          </a:bodyPr>
          <a:lstStyle/>
          <a:p>
            <a:pPr marL="0" indent="0">
              <a:buNone/>
            </a:pPr>
            <a:r>
              <a:rPr lang="en-US" sz="680" dirty="0">
                <a:solidFill>
                  <a:srgbClr val="A7B3C6"/>
                </a:solidFill>
              </a:rPr>
              <a:t>assets made the app feel course-ready</a:t>
            </a:r>
            <a:endParaRPr lang="en-US" sz="680" dirty="0"/>
          </a:p>
        </p:txBody>
      </p:sp>
      <p:sp>
        <p:nvSpPr>
          <p:cNvPr id="19" name="Shape 17"/>
          <p:cNvSpPr/>
          <p:nvPr/>
        </p:nvSpPr>
        <p:spPr>
          <a:xfrm>
            <a:off x="640080" y="2642616"/>
            <a:ext cx="2011680" cy="420624"/>
          </a:xfrm>
          <a:prstGeom prst="roundRect">
            <a:avLst/>
          </a:prstGeom>
          <a:solidFill>
            <a:srgbClr val="111A2D"/>
          </a:solidFill>
          <a:ln w="12700">
            <a:solidFill>
              <a:srgbClr val="111A2D"/>
            </a:solidFill>
            <a:prstDash val="solid"/>
          </a:ln>
        </p:spPr>
        <p:txBody>
          <a:bodyPr/>
          <a:lstStyle/>
          <a:p>
            <a:endParaRPr lang="en-US"/>
          </a:p>
        </p:txBody>
      </p:sp>
      <p:sp>
        <p:nvSpPr>
          <p:cNvPr id="20" name="Text 18"/>
          <p:cNvSpPr/>
          <p:nvPr/>
        </p:nvSpPr>
        <p:spPr>
          <a:xfrm>
            <a:off x="822960" y="2770632"/>
            <a:ext cx="1645920" cy="109728"/>
          </a:xfrm>
          <a:prstGeom prst="rect">
            <a:avLst/>
          </a:prstGeom>
          <a:noFill/>
          <a:ln/>
        </p:spPr>
        <p:txBody>
          <a:bodyPr wrap="square" lIns="0" tIns="0" rIns="0" bIns="0" rtlCol="0" anchor="ctr">
            <a:normAutofit/>
          </a:bodyPr>
          <a:lstStyle/>
          <a:p>
            <a:pPr marL="0" indent="0" algn="ctr">
              <a:buNone/>
            </a:pPr>
            <a:r>
              <a:rPr lang="en-US" sz="760" dirty="0">
                <a:solidFill>
                  <a:srgbClr val="A7B3C6"/>
                </a:solidFill>
              </a:rPr>
              <a:t>Mega stations page</a:t>
            </a:r>
            <a:endParaRPr lang="en-US" sz="760" dirty="0"/>
          </a:p>
        </p:txBody>
      </p:sp>
      <p:sp>
        <p:nvSpPr>
          <p:cNvPr id="21" name="Shape 19"/>
          <p:cNvSpPr/>
          <p:nvPr/>
        </p:nvSpPr>
        <p:spPr>
          <a:xfrm>
            <a:off x="2798064" y="2852928"/>
            <a:ext cx="539496" cy="0"/>
          </a:xfrm>
          <a:prstGeom prst="line">
            <a:avLst/>
          </a:prstGeom>
          <a:noFill/>
          <a:ln w="13970">
            <a:solidFill>
              <a:srgbClr val="12BFE2"/>
            </a:solidFill>
            <a:prstDash val="solid"/>
            <a:tailEnd type="triangle"/>
          </a:ln>
        </p:spPr>
        <p:txBody>
          <a:bodyPr/>
          <a:lstStyle/>
          <a:p>
            <a:endParaRPr lang="en-US"/>
          </a:p>
        </p:txBody>
      </p:sp>
      <p:sp>
        <p:nvSpPr>
          <p:cNvPr id="22" name="Shape 20"/>
          <p:cNvSpPr/>
          <p:nvPr/>
        </p:nvSpPr>
        <p:spPr>
          <a:xfrm>
            <a:off x="3520440" y="2642616"/>
            <a:ext cx="2423160" cy="420624"/>
          </a:xfrm>
          <a:prstGeom prst="roundRect">
            <a:avLst/>
          </a:prstGeom>
          <a:solidFill>
            <a:srgbClr val="0E2A3A"/>
          </a:solidFill>
          <a:ln w="12700">
            <a:solidFill>
              <a:srgbClr val="0E2A3A"/>
            </a:solidFill>
            <a:prstDash val="solid"/>
          </a:ln>
        </p:spPr>
        <p:txBody>
          <a:bodyPr/>
          <a:lstStyle/>
          <a:p>
            <a:endParaRPr lang="en-US"/>
          </a:p>
        </p:txBody>
      </p:sp>
      <p:sp>
        <p:nvSpPr>
          <p:cNvPr id="23" name="Text 21"/>
          <p:cNvSpPr/>
          <p:nvPr/>
        </p:nvSpPr>
        <p:spPr>
          <a:xfrm>
            <a:off x="3657600" y="2770632"/>
            <a:ext cx="2148840" cy="109728"/>
          </a:xfrm>
          <a:prstGeom prst="rect">
            <a:avLst/>
          </a:prstGeom>
          <a:noFill/>
          <a:ln/>
        </p:spPr>
        <p:txBody>
          <a:bodyPr wrap="square" lIns="0" tIns="0" rIns="0" bIns="0" rtlCol="0" anchor="ctr">
            <a:normAutofit/>
          </a:bodyPr>
          <a:lstStyle/>
          <a:p>
            <a:pPr marL="0" indent="0" algn="ctr">
              <a:buNone/>
            </a:pPr>
            <a:r>
              <a:rPr lang="en-US" sz="760" b="1" dirty="0">
                <a:solidFill>
                  <a:srgbClr val="F8FAFC"/>
                </a:solidFill>
              </a:rPr>
              <a:t>Explore / Flashcards / Quiz / Handbook</a:t>
            </a:r>
            <a:endParaRPr lang="en-US" sz="760" dirty="0"/>
          </a:p>
        </p:txBody>
      </p:sp>
      <p:sp>
        <p:nvSpPr>
          <p:cNvPr id="24" name="Text 22"/>
          <p:cNvSpPr/>
          <p:nvPr/>
        </p:nvSpPr>
        <p:spPr>
          <a:xfrm>
            <a:off x="6236208" y="2743200"/>
            <a:ext cx="2194560" cy="146304"/>
          </a:xfrm>
          <a:prstGeom prst="rect">
            <a:avLst/>
          </a:prstGeom>
          <a:noFill/>
          <a:ln/>
        </p:spPr>
        <p:txBody>
          <a:bodyPr wrap="square" lIns="0" tIns="0" rIns="0" bIns="0" rtlCol="0" anchor="ctr">
            <a:normAutofit/>
          </a:bodyPr>
          <a:lstStyle/>
          <a:p>
            <a:pPr marL="0" indent="0">
              <a:buNone/>
            </a:pPr>
            <a:r>
              <a:rPr lang="en-US" sz="680" dirty="0">
                <a:solidFill>
                  <a:srgbClr val="A7B3C6"/>
                </a:solidFill>
              </a:rPr>
              <a:t>learners needed a cleaner sequence</a:t>
            </a:r>
            <a:endParaRPr lang="en-US" sz="680" dirty="0"/>
          </a:p>
        </p:txBody>
      </p:sp>
      <p:sp>
        <p:nvSpPr>
          <p:cNvPr id="25" name="Shape 23"/>
          <p:cNvSpPr/>
          <p:nvPr/>
        </p:nvSpPr>
        <p:spPr>
          <a:xfrm>
            <a:off x="640080" y="3392424"/>
            <a:ext cx="2011680" cy="420624"/>
          </a:xfrm>
          <a:prstGeom prst="roundRect">
            <a:avLst/>
          </a:prstGeom>
          <a:solidFill>
            <a:srgbClr val="111A2D"/>
          </a:solidFill>
          <a:ln w="12700">
            <a:solidFill>
              <a:srgbClr val="111A2D"/>
            </a:solidFill>
            <a:prstDash val="solid"/>
          </a:ln>
        </p:spPr>
        <p:txBody>
          <a:bodyPr/>
          <a:lstStyle/>
          <a:p>
            <a:endParaRPr lang="en-US"/>
          </a:p>
        </p:txBody>
      </p:sp>
      <p:sp>
        <p:nvSpPr>
          <p:cNvPr id="26" name="Text 24"/>
          <p:cNvSpPr/>
          <p:nvPr/>
        </p:nvSpPr>
        <p:spPr>
          <a:xfrm>
            <a:off x="822960" y="3520440"/>
            <a:ext cx="1645920" cy="109728"/>
          </a:xfrm>
          <a:prstGeom prst="rect">
            <a:avLst/>
          </a:prstGeom>
          <a:noFill/>
          <a:ln/>
        </p:spPr>
        <p:txBody>
          <a:bodyPr wrap="square" lIns="0" tIns="0" rIns="0" bIns="0" rtlCol="0" anchor="ctr">
            <a:normAutofit/>
          </a:bodyPr>
          <a:lstStyle/>
          <a:p>
            <a:pPr marL="0" indent="0" algn="ctr">
              <a:buNone/>
            </a:pPr>
            <a:r>
              <a:rPr lang="en-US" sz="760" dirty="0">
                <a:solidFill>
                  <a:srgbClr val="A7B3C6"/>
                </a:solidFill>
              </a:rPr>
              <a:t>Text-heavy content</a:t>
            </a:r>
            <a:endParaRPr lang="en-US" sz="760" dirty="0"/>
          </a:p>
        </p:txBody>
      </p:sp>
      <p:sp>
        <p:nvSpPr>
          <p:cNvPr id="27" name="Shape 25"/>
          <p:cNvSpPr/>
          <p:nvPr/>
        </p:nvSpPr>
        <p:spPr>
          <a:xfrm>
            <a:off x="2798064" y="3602736"/>
            <a:ext cx="539496" cy="0"/>
          </a:xfrm>
          <a:prstGeom prst="line">
            <a:avLst/>
          </a:prstGeom>
          <a:noFill/>
          <a:ln w="13970">
            <a:solidFill>
              <a:srgbClr val="12BFE2"/>
            </a:solidFill>
            <a:prstDash val="solid"/>
            <a:tailEnd type="triangle"/>
          </a:ln>
        </p:spPr>
        <p:txBody>
          <a:bodyPr/>
          <a:lstStyle/>
          <a:p>
            <a:endParaRPr lang="en-US"/>
          </a:p>
        </p:txBody>
      </p:sp>
      <p:sp>
        <p:nvSpPr>
          <p:cNvPr id="28" name="Shape 26"/>
          <p:cNvSpPr/>
          <p:nvPr/>
        </p:nvSpPr>
        <p:spPr>
          <a:xfrm>
            <a:off x="3520440" y="3392424"/>
            <a:ext cx="2423160" cy="420624"/>
          </a:xfrm>
          <a:prstGeom prst="roundRect">
            <a:avLst/>
          </a:prstGeom>
          <a:solidFill>
            <a:srgbClr val="0E2A3A"/>
          </a:solidFill>
          <a:ln w="12700">
            <a:solidFill>
              <a:srgbClr val="0E2A3A"/>
            </a:solidFill>
            <a:prstDash val="solid"/>
          </a:ln>
        </p:spPr>
        <p:txBody>
          <a:bodyPr/>
          <a:lstStyle/>
          <a:p>
            <a:endParaRPr lang="en-US"/>
          </a:p>
        </p:txBody>
      </p:sp>
      <p:sp>
        <p:nvSpPr>
          <p:cNvPr id="29" name="Text 27"/>
          <p:cNvSpPr/>
          <p:nvPr/>
        </p:nvSpPr>
        <p:spPr>
          <a:xfrm>
            <a:off x="3657600" y="3520440"/>
            <a:ext cx="2148840" cy="109728"/>
          </a:xfrm>
          <a:prstGeom prst="rect">
            <a:avLst/>
          </a:prstGeom>
          <a:noFill/>
          <a:ln/>
        </p:spPr>
        <p:txBody>
          <a:bodyPr wrap="square" lIns="0" tIns="0" rIns="0" bIns="0" rtlCol="0" anchor="ctr">
            <a:normAutofit/>
          </a:bodyPr>
          <a:lstStyle/>
          <a:p>
            <a:pPr marL="0" indent="0" algn="ctr">
              <a:buNone/>
            </a:pPr>
            <a:r>
              <a:rPr lang="en-US" sz="760" b="1" dirty="0">
                <a:solidFill>
                  <a:srgbClr val="F8FAFC"/>
                </a:solidFill>
              </a:rPr>
              <a:t>Guided labs and feedback</a:t>
            </a:r>
            <a:endParaRPr lang="en-US" sz="760" dirty="0"/>
          </a:p>
        </p:txBody>
      </p:sp>
      <p:sp>
        <p:nvSpPr>
          <p:cNvPr id="30" name="Text 28"/>
          <p:cNvSpPr/>
          <p:nvPr/>
        </p:nvSpPr>
        <p:spPr>
          <a:xfrm>
            <a:off x="6236208" y="3493008"/>
            <a:ext cx="2194560" cy="146304"/>
          </a:xfrm>
          <a:prstGeom prst="rect">
            <a:avLst/>
          </a:prstGeom>
          <a:noFill/>
          <a:ln/>
        </p:spPr>
        <p:txBody>
          <a:bodyPr wrap="square" lIns="0" tIns="0" rIns="0" bIns="0" rtlCol="0" anchor="ctr">
            <a:normAutofit/>
          </a:bodyPr>
          <a:lstStyle/>
          <a:p>
            <a:pPr marL="0" indent="0">
              <a:buNone/>
            </a:pPr>
            <a:r>
              <a:rPr lang="en-US" sz="680" dirty="0">
                <a:solidFill>
                  <a:srgbClr val="A7B3C6"/>
                </a:solidFill>
              </a:rPr>
              <a:t>interaction beat another slide deck</a:t>
            </a:r>
            <a:endParaRPr lang="en-US" sz="680" dirty="0"/>
          </a:p>
        </p:txBody>
      </p:sp>
      <p:sp>
        <p:nvSpPr>
          <p:cNvPr id="31" name="Text 29"/>
          <p:cNvSpPr/>
          <p:nvPr/>
        </p:nvSpPr>
        <p:spPr>
          <a:xfrm>
            <a:off x="1097280" y="4370832"/>
            <a:ext cx="6858000" cy="182880"/>
          </a:xfrm>
          <a:prstGeom prst="rect">
            <a:avLst/>
          </a:prstGeom>
          <a:noFill/>
          <a:ln/>
        </p:spPr>
        <p:txBody>
          <a:bodyPr wrap="square" lIns="0" tIns="0" rIns="0" bIns="0" rtlCol="0" anchor="ctr"/>
          <a:lstStyle/>
          <a:p>
            <a:pPr marL="0" indent="0" algn="ctr">
              <a:buNone/>
            </a:pPr>
            <a:r>
              <a:rPr lang="en-US" sz="1350" b="1" dirty="0">
                <a:solidFill>
                  <a:srgbClr val="F59E0B"/>
                </a:solidFill>
                <a:latin typeface="Aptos Display" pitchFamily="34" charset="0"/>
                <a:ea typeface="Aptos Display" pitchFamily="34" charset="-122"/>
                <a:cs typeface="Aptos Display" pitchFamily="34" charset="-120"/>
              </a:rPr>
              <a:t>Asking AI to critique the product was as valuable as asking it to code.</a:t>
            </a:r>
            <a:endParaRPr lang="en-US" sz="13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70D1A"/>
        </a:solidFill>
        <a:effectLst/>
      </p:bgPr>
    </p:bg>
    <p:spTree>
      <p:nvGrpSpPr>
        <p:cNvPr id="1" name=""/>
        <p:cNvGrpSpPr/>
        <p:nvPr/>
      </p:nvGrpSpPr>
      <p:grpSpPr>
        <a:xfrm>
          <a:off x="0" y="0"/>
          <a:ext cx="0" cy="0"/>
          <a:chOff x="0" y="0"/>
          <a:chExt cx="0" cy="0"/>
        </a:xfrm>
      </p:grpSpPr>
      <p:sp>
        <p:nvSpPr>
          <p:cNvPr id="2" name="Text 0"/>
          <p:cNvSpPr/>
          <p:nvPr/>
        </p:nvSpPr>
        <p:spPr>
          <a:xfrm>
            <a:off x="411480" y="274320"/>
            <a:ext cx="3474720" cy="146304"/>
          </a:xfrm>
          <a:prstGeom prst="rect">
            <a:avLst/>
          </a:prstGeom>
          <a:noFill/>
          <a:ln/>
        </p:spPr>
        <p:txBody>
          <a:bodyPr wrap="square" lIns="0" tIns="0" rIns="0" bIns="0" rtlCol="0" anchor="ctr"/>
          <a:lstStyle/>
          <a:p>
            <a:pPr marL="0" indent="0">
              <a:buNone/>
            </a:pPr>
            <a:r>
              <a:rPr lang="en-US" sz="650" b="1" dirty="0">
                <a:solidFill>
                  <a:srgbClr val="12BFE2"/>
                </a:solidFill>
                <a:latin typeface="Aptos" pitchFamily="34" charset="0"/>
                <a:ea typeface="Aptos" pitchFamily="34" charset="-122"/>
                <a:cs typeface="Aptos" pitchFamily="34" charset="-120"/>
              </a:rPr>
              <a:t>DIVISION OF LABOR</a:t>
            </a:r>
            <a:endParaRPr lang="en-US" sz="650" dirty="0"/>
          </a:p>
        </p:txBody>
      </p:sp>
      <p:sp>
        <p:nvSpPr>
          <p:cNvPr id="3" name="Text 1"/>
          <p:cNvSpPr/>
          <p:nvPr/>
        </p:nvSpPr>
        <p:spPr>
          <a:xfrm>
            <a:off x="411480" y="612648"/>
            <a:ext cx="5669280" cy="384048"/>
          </a:xfrm>
          <a:prstGeom prst="rect">
            <a:avLst/>
          </a:prstGeom>
          <a:noFill/>
          <a:ln/>
        </p:spPr>
        <p:txBody>
          <a:bodyPr wrap="square" lIns="0" tIns="0" rIns="0" bIns="0" rtlCol="0" anchor="ctr">
            <a:normAutofit/>
          </a:bodyPr>
          <a:lstStyle/>
          <a:p>
            <a:pPr marL="0" indent="0">
              <a:buNone/>
            </a:pPr>
            <a:r>
              <a:rPr lang="en-US" sz="2100" b="1" dirty="0">
                <a:solidFill>
                  <a:srgbClr val="F8FAFC"/>
                </a:solidFill>
                <a:latin typeface="Aptos Display" pitchFamily="34" charset="0"/>
                <a:ea typeface="Aptos Display" pitchFamily="34" charset="-122"/>
                <a:cs typeface="Aptos Display" pitchFamily="34" charset="-120"/>
              </a:rPr>
              <a:t>What AI accelerates vs. what physicians own</a:t>
            </a:r>
            <a:endParaRPr lang="en-US" sz="2100" dirty="0"/>
          </a:p>
        </p:txBody>
      </p:sp>
      <p:sp>
        <p:nvSpPr>
          <p:cNvPr id="4" name="Text 2"/>
          <p:cNvSpPr/>
          <p:nvPr/>
        </p:nvSpPr>
        <p:spPr>
          <a:xfrm>
            <a:off x="411480" y="4828032"/>
            <a:ext cx="4754880" cy="109728"/>
          </a:xfrm>
          <a:prstGeom prst="rect">
            <a:avLst/>
          </a:prstGeom>
          <a:noFill/>
          <a:ln/>
        </p:spPr>
        <p:txBody>
          <a:bodyPr wrap="square" lIns="0" tIns="0" rIns="0" bIns="0" rtlCol="0" anchor="ctr"/>
          <a:lstStyle/>
          <a:p>
            <a:pPr marL="0" indent="0">
              <a:buNone/>
            </a:pPr>
            <a:r>
              <a:rPr lang="en-US" sz="550" dirty="0">
                <a:solidFill>
                  <a:srgbClr val="5F6B7A"/>
                </a:solidFill>
                <a:latin typeface="Aptos" pitchFamily="34" charset="0"/>
                <a:ea typeface="Aptos" pitchFamily="34" charset="-122"/>
                <a:cs typeface="Aptos" pitchFamily="34" charset="-120"/>
              </a:rPr>
              <a:t>AABIP Webinar 2026  |  AI in Interventional Pulmonology</a:t>
            </a:r>
            <a:endParaRPr lang="en-US" sz="550" dirty="0"/>
          </a:p>
        </p:txBody>
      </p:sp>
      <p:sp>
        <p:nvSpPr>
          <p:cNvPr id="5" name="Text 3"/>
          <p:cNvSpPr/>
          <p:nvPr/>
        </p:nvSpPr>
        <p:spPr>
          <a:xfrm>
            <a:off x="8366760" y="4828032"/>
            <a:ext cx="365760" cy="109728"/>
          </a:xfrm>
          <a:prstGeom prst="rect">
            <a:avLst/>
          </a:prstGeom>
          <a:noFill/>
          <a:ln/>
        </p:spPr>
        <p:txBody>
          <a:bodyPr wrap="square" lIns="0" tIns="0" rIns="0" bIns="0" rtlCol="0" anchor="ctr"/>
          <a:lstStyle/>
          <a:p>
            <a:pPr marL="0" indent="0" algn="r">
              <a:buNone/>
            </a:pPr>
            <a:r>
              <a:rPr lang="en-US" sz="550" dirty="0">
                <a:solidFill>
                  <a:srgbClr val="5F6B7A"/>
                </a:solidFill>
                <a:latin typeface="Aptos" pitchFamily="34" charset="0"/>
                <a:ea typeface="Aptos" pitchFamily="34" charset="-122"/>
                <a:cs typeface="Aptos" pitchFamily="34" charset="-120"/>
              </a:rPr>
              <a:t>18 / 22</a:t>
            </a:r>
            <a:endParaRPr lang="en-US" sz="550" dirty="0"/>
          </a:p>
        </p:txBody>
      </p:sp>
      <p:sp>
        <p:nvSpPr>
          <p:cNvPr id="6" name="Shape 4"/>
          <p:cNvSpPr/>
          <p:nvPr/>
        </p:nvSpPr>
        <p:spPr>
          <a:xfrm>
            <a:off x="411480" y="1060704"/>
            <a:ext cx="1143000" cy="0"/>
          </a:xfrm>
          <a:prstGeom prst="line">
            <a:avLst/>
          </a:prstGeom>
          <a:noFill/>
          <a:ln w="15240">
            <a:solidFill>
              <a:srgbClr val="12BFE2"/>
            </a:solidFill>
            <a:prstDash val="solid"/>
          </a:ln>
        </p:spPr>
        <p:txBody>
          <a:bodyPr/>
          <a:lstStyle/>
          <a:p>
            <a:endParaRPr lang="en-US"/>
          </a:p>
        </p:txBody>
      </p:sp>
      <p:sp>
        <p:nvSpPr>
          <p:cNvPr id="7" name="Shape 5"/>
          <p:cNvSpPr/>
          <p:nvPr/>
        </p:nvSpPr>
        <p:spPr>
          <a:xfrm>
            <a:off x="685800" y="1234440"/>
            <a:ext cx="3703320" cy="2880360"/>
          </a:xfrm>
          <a:prstGeom prst="roundRect">
            <a:avLst/>
          </a:prstGeom>
          <a:solidFill>
            <a:srgbClr val="111A2D"/>
          </a:solidFill>
          <a:ln w="12700">
            <a:solidFill>
              <a:srgbClr val="111A2D"/>
            </a:solidFill>
            <a:prstDash val="solid"/>
          </a:ln>
        </p:spPr>
        <p:txBody>
          <a:bodyPr/>
          <a:lstStyle/>
          <a:p>
            <a:endParaRPr lang="en-US"/>
          </a:p>
        </p:txBody>
      </p:sp>
      <p:sp>
        <p:nvSpPr>
          <p:cNvPr id="8" name="Shape 6"/>
          <p:cNvSpPr/>
          <p:nvPr/>
        </p:nvSpPr>
        <p:spPr>
          <a:xfrm>
            <a:off x="4754880" y="1234440"/>
            <a:ext cx="3703320" cy="2880360"/>
          </a:xfrm>
          <a:prstGeom prst="roundRect">
            <a:avLst/>
          </a:prstGeom>
          <a:solidFill>
            <a:srgbClr val="111A2D"/>
          </a:solidFill>
          <a:ln w="12700">
            <a:solidFill>
              <a:srgbClr val="111A2D"/>
            </a:solidFill>
            <a:prstDash val="solid"/>
          </a:ln>
        </p:spPr>
        <p:txBody>
          <a:bodyPr/>
          <a:lstStyle/>
          <a:p>
            <a:endParaRPr lang="en-US"/>
          </a:p>
        </p:txBody>
      </p:sp>
      <p:sp>
        <p:nvSpPr>
          <p:cNvPr id="9" name="Text 7"/>
          <p:cNvSpPr/>
          <p:nvPr/>
        </p:nvSpPr>
        <p:spPr>
          <a:xfrm>
            <a:off x="960120" y="1536192"/>
            <a:ext cx="2194560" cy="219456"/>
          </a:xfrm>
          <a:prstGeom prst="rect">
            <a:avLst/>
          </a:prstGeom>
          <a:noFill/>
          <a:ln/>
        </p:spPr>
        <p:txBody>
          <a:bodyPr wrap="square" lIns="0" tIns="0" rIns="0" bIns="0" rtlCol="0" anchor="ctr"/>
          <a:lstStyle/>
          <a:p>
            <a:pPr marL="0" indent="0">
              <a:buNone/>
            </a:pPr>
            <a:r>
              <a:rPr lang="en-US" sz="1500" b="1" dirty="0">
                <a:solidFill>
                  <a:srgbClr val="12BFE2"/>
                </a:solidFill>
                <a:latin typeface="Aptos Display" pitchFamily="34" charset="0"/>
                <a:ea typeface="Aptos Display" pitchFamily="34" charset="-122"/>
                <a:cs typeface="Aptos Display" pitchFamily="34" charset="-120"/>
              </a:rPr>
              <a:t>AI accelerates</a:t>
            </a:r>
            <a:endParaRPr lang="en-US" sz="1500" dirty="0"/>
          </a:p>
        </p:txBody>
      </p:sp>
      <p:sp>
        <p:nvSpPr>
          <p:cNvPr id="10" name="Text 8"/>
          <p:cNvSpPr/>
          <p:nvPr/>
        </p:nvSpPr>
        <p:spPr>
          <a:xfrm>
            <a:off x="5029200" y="1536192"/>
            <a:ext cx="2194560" cy="219456"/>
          </a:xfrm>
          <a:prstGeom prst="rect">
            <a:avLst/>
          </a:prstGeom>
          <a:noFill/>
          <a:ln/>
        </p:spPr>
        <p:txBody>
          <a:bodyPr wrap="square" lIns="0" tIns="0" rIns="0" bIns="0" rtlCol="0" anchor="ctr"/>
          <a:lstStyle/>
          <a:p>
            <a:pPr marL="0" indent="0">
              <a:buNone/>
            </a:pPr>
            <a:r>
              <a:rPr lang="en-US" sz="1500" b="1" dirty="0">
                <a:solidFill>
                  <a:srgbClr val="F59E0B"/>
                </a:solidFill>
                <a:latin typeface="Aptos Display" pitchFamily="34" charset="0"/>
                <a:ea typeface="Aptos Display" pitchFamily="34" charset="-122"/>
                <a:cs typeface="Aptos Display" pitchFamily="34" charset="-120"/>
              </a:rPr>
              <a:t>Physician owns</a:t>
            </a:r>
            <a:endParaRPr lang="en-US" sz="1500" dirty="0"/>
          </a:p>
        </p:txBody>
      </p:sp>
      <p:sp>
        <p:nvSpPr>
          <p:cNvPr id="11" name="Text 9"/>
          <p:cNvSpPr/>
          <p:nvPr/>
        </p:nvSpPr>
        <p:spPr>
          <a:xfrm>
            <a:off x="1005840" y="1993392"/>
            <a:ext cx="2834640" cy="137160"/>
          </a:xfrm>
          <a:prstGeom prst="rect">
            <a:avLst/>
          </a:prstGeom>
          <a:noFill/>
          <a:ln/>
        </p:spPr>
        <p:txBody>
          <a:bodyPr wrap="square" lIns="0" tIns="0" rIns="0" bIns="0" rtlCol="0" anchor="ctr"/>
          <a:lstStyle/>
          <a:p>
            <a:r>
              <a:rPr lang="en-US" sz="830" dirty="0">
                <a:solidFill>
                  <a:srgbClr val="F8FAFC"/>
                </a:solidFill>
              </a:rPr>
              <a:t>Route and component scaffolds</a:t>
            </a:r>
            <a:endParaRPr lang="en-US" sz="830" dirty="0"/>
          </a:p>
        </p:txBody>
      </p:sp>
      <p:sp>
        <p:nvSpPr>
          <p:cNvPr id="12" name="Text 10"/>
          <p:cNvSpPr/>
          <p:nvPr/>
        </p:nvSpPr>
        <p:spPr>
          <a:xfrm>
            <a:off x="1005840" y="2304288"/>
            <a:ext cx="2834640" cy="137160"/>
          </a:xfrm>
          <a:prstGeom prst="rect">
            <a:avLst/>
          </a:prstGeom>
          <a:noFill/>
          <a:ln/>
        </p:spPr>
        <p:txBody>
          <a:bodyPr wrap="square" lIns="0" tIns="0" rIns="0" bIns="0" rtlCol="0" anchor="ctr"/>
          <a:lstStyle/>
          <a:p>
            <a:r>
              <a:rPr lang="en-US" sz="830" dirty="0">
                <a:solidFill>
                  <a:srgbClr val="F8FAFC"/>
                </a:solidFill>
              </a:rPr>
              <a:t>Content schemas and loaders</a:t>
            </a:r>
            <a:endParaRPr lang="en-US" sz="830" dirty="0"/>
          </a:p>
        </p:txBody>
      </p:sp>
      <p:sp>
        <p:nvSpPr>
          <p:cNvPr id="13" name="Text 11"/>
          <p:cNvSpPr/>
          <p:nvPr/>
        </p:nvSpPr>
        <p:spPr>
          <a:xfrm>
            <a:off x="1005840" y="2615184"/>
            <a:ext cx="2834640" cy="137160"/>
          </a:xfrm>
          <a:prstGeom prst="rect">
            <a:avLst/>
          </a:prstGeom>
          <a:noFill/>
          <a:ln/>
        </p:spPr>
        <p:txBody>
          <a:bodyPr wrap="square" lIns="0" tIns="0" rIns="0" bIns="0" rtlCol="0" anchor="ctr"/>
          <a:lstStyle/>
          <a:p>
            <a:r>
              <a:rPr lang="en-US" sz="830" dirty="0">
                <a:solidFill>
                  <a:srgbClr val="F8FAFC"/>
                </a:solidFill>
              </a:rPr>
              <a:t>State persistence and quizzes</a:t>
            </a:r>
            <a:endParaRPr lang="en-US" sz="830" dirty="0"/>
          </a:p>
        </p:txBody>
      </p:sp>
      <p:sp>
        <p:nvSpPr>
          <p:cNvPr id="14" name="Text 12"/>
          <p:cNvSpPr/>
          <p:nvPr/>
        </p:nvSpPr>
        <p:spPr>
          <a:xfrm>
            <a:off x="1005840" y="2926080"/>
            <a:ext cx="2834640" cy="137160"/>
          </a:xfrm>
          <a:prstGeom prst="rect">
            <a:avLst/>
          </a:prstGeom>
          <a:noFill/>
          <a:ln/>
        </p:spPr>
        <p:txBody>
          <a:bodyPr wrap="square" lIns="0" tIns="0" rIns="0" bIns="0" rtlCol="0" anchor="ctr"/>
          <a:lstStyle/>
          <a:p>
            <a:r>
              <a:rPr lang="en-US" sz="830" dirty="0">
                <a:solidFill>
                  <a:srgbClr val="F8FAFC"/>
                </a:solidFill>
              </a:rPr>
              <a:t>UI iteration and refactors</a:t>
            </a:r>
            <a:endParaRPr lang="en-US" sz="830" dirty="0"/>
          </a:p>
        </p:txBody>
      </p:sp>
      <p:sp>
        <p:nvSpPr>
          <p:cNvPr id="15" name="Text 13"/>
          <p:cNvSpPr/>
          <p:nvPr/>
        </p:nvSpPr>
        <p:spPr>
          <a:xfrm>
            <a:off x="1005840" y="3236976"/>
            <a:ext cx="2834640" cy="137160"/>
          </a:xfrm>
          <a:prstGeom prst="rect">
            <a:avLst/>
          </a:prstGeom>
          <a:noFill/>
          <a:ln/>
        </p:spPr>
        <p:txBody>
          <a:bodyPr wrap="square" lIns="0" tIns="0" rIns="0" bIns="0" rtlCol="0" anchor="ctr"/>
          <a:lstStyle/>
          <a:p>
            <a:r>
              <a:rPr lang="en-US" sz="830" dirty="0">
                <a:solidFill>
                  <a:srgbClr val="F8FAFC"/>
                </a:solidFill>
              </a:rPr>
              <a:t>Test scaffolds and reports</a:t>
            </a:r>
            <a:endParaRPr lang="en-US" sz="830" dirty="0"/>
          </a:p>
        </p:txBody>
      </p:sp>
      <p:sp>
        <p:nvSpPr>
          <p:cNvPr id="16" name="Text 14"/>
          <p:cNvSpPr/>
          <p:nvPr/>
        </p:nvSpPr>
        <p:spPr>
          <a:xfrm>
            <a:off x="5074920" y="1993392"/>
            <a:ext cx="2834640" cy="137160"/>
          </a:xfrm>
          <a:prstGeom prst="rect">
            <a:avLst/>
          </a:prstGeom>
          <a:noFill/>
          <a:ln/>
        </p:spPr>
        <p:txBody>
          <a:bodyPr wrap="square" lIns="0" tIns="0" rIns="0" bIns="0" rtlCol="0" anchor="ctr"/>
          <a:lstStyle/>
          <a:p>
            <a:r>
              <a:rPr lang="en-US" sz="830" dirty="0">
                <a:solidFill>
                  <a:srgbClr val="F8FAFC"/>
                </a:solidFill>
              </a:rPr>
              <a:t>Curriculum truth</a:t>
            </a:r>
            <a:endParaRPr lang="en-US" sz="830" dirty="0"/>
          </a:p>
        </p:txBody>
      </p:sp>
      <p:sp>
        <p:nvSpPr>
          <p:cNvPr id="17" name="Text 15"/>
          <p:cNvSpPr/>
          <p:nvPr/>
        </p:nvSpPr>
        <p:spPr>
          <a:xfrm>
            <a:off x="5074920" y="2304288"/>
            <a:ext cx="2834640" cy="137160"/>
          </a:xfrm>
          <a:prstGeom prst="rect">
            <a:avLst/>
          </a:prstGeom>
          <a:noFill/>
          <a:ln/>
        </p:spPr>
        <p:txBody>
          <a:bodyPr wrap="square" lIns="0" tIns="0" rIns="0" bIns="0" rtlCol="0" anchor="ctr"/>
          <a:lstStyle/>
          <a:p>
            <a:r>
              <a:rPr lang="en-US" sz="830" dirty="0">
                <a:solidFill>
                  <a:srgbClr val="F8FAFC"/>
                </a:solidFill>
              </a:rPr>
              <a:t>Intended use and claims</a:t>
            </a:r>
            <a:endParaRPr lang="en-US" sz="830" dirty="0"/>
          </a:p>
        </p:txBody>
      </p:sp>
      <p:sp>
        <p:nvSpPr>
          <p:cNvPr id="18" name="Text 16"/>
          <p:cNvSpPr/>
          <p:nvPr/>
        </p:nvSpPr>
        <p:spPr>
          <a:xfrm>
            <a:off x="5074920" y="2615184"/>
            <a:ext cx="2834640" cy="137160"/>
          </a:xfrm>
          <a:prstGeom prst="rect">
            <a:avLst/>
          </a:prstGeom>
          <a:noFill/>
          <a:ln/>
        </p:spPr>
        <p:txBody>
          <a:bodyPr wrap="square" lIns="0" tIns="0" rIns="0" bIns="0" rtlCol="0" anchor="ctr"/>
          <a:lstStyle/>
          <a:p>
            <a:r>
              <a:rPr lang="en-US" sz="830" dirty="0">
                <a:solidFill>
                  <a:srgbClr val="F8FAFC"/>
                </a:solidFill>
              </a:rPr>
              <a:t>Clinical boundaries</a:t>
            </a:r>
            <a:endParaRPr lang="en-US" sz="830" dirty="0"/>
          </a:p>
        </p:txBody>
      </p:sp>
      <p:sp>
        <p:nvSpPr>
          <p:cNvPr id="19" name="Text 17"/>
          <p:cNvSpPr/>
          <p:nvPr/>
        </p:nvSpPr>
        <p:spPr>
          <a:xfrm>
            <a:off x="5074920" y="2926080"/>
            <a:ext cx="2834640" cy="137160"/>
          </a:xfrm>
          <a:prstGeom prst="rect">
            <a:avLst/>
          </a:prstGeom>
          <a:noFill/>
          <a:ln/>
        </p:spPr>
        <p:txBody>
          <a:bodyPr wrap="square" lIns="0" tIns="0" rIns="0" bIns="0" rtlCol="0" anchor="ctr"/>
          <a:lstStyle/>
          <a:p>
            <a:r>
              <a:rPr lang="en-US" sz="830" dirty="0">
                <a:solidFill>
                  <a:srgbClr val="F8FAFC"/>
                </a:solidFill>
              </a:rPr>
              <a:t>Safety and privacy posture</a:t>
            </a:r>
            <a:endParaRPr lang="en-US" sz="830" dirty="0"/>
          </a:p>
        </p:txBody>
      </p:sp>
      <p:sp>
        <p:nvSpPr>
          <p:cNvPr id="20" name="Text 18"/>
          <p:cNvSpPr/>
          <p:nvPr/>
        </p:nvSpPr>
        <p:spPr>
          <a:xfrm>
            <a:off x="5074920" y="3236976"/>
            <a:ext cx="2834640" cy="137160"/>
          </a:xfrm>
          <a:prstGeom prst="rect">
            <a:avLst/>
          </a:prstGeom>
          <a:noFill/>
          <a:ln/>
        </p:spPr>
        <p:txBody>
          <a:bodyPr wrap="square" lIns="0" tIns="0" rIns="0" bIns="0" rtlCol="0" anchor="ctr"/>
          <a:lstStyle/>
          <a:p>
            <a:r>
              <a:rPr lang="en-US" sz="830" dirty="0">
                <a:solidFill>
                  <a:srgbClr val="F8FAFC"/>
                </a:solidFill>
              </a:rPr>
              <a:t>What “good enough” means</a:t>
            </a:r>
            <a:endParaRPr lang="en-US" sz="830" dirty="0"/>
          </a:p>
        </p:txBody>
      </p:sp>
      <p:sp>
        <p:nvSpPr>
          <p:cNvPr id="21" name="Text 19"/>
          <p:cNvSpPr/>
          <p:nvPr/>
        </p:nvSpPr>
        <p:spPr>
          <a:xfrm>
            <a:off x="1097280" y="4407408"/>
            <a:ext cx="6949440" cy="164592"/>
          </a:xfrm>
          <a:prstGeom prst="rect">
            <a:avLst/>
          </a:prstGeom>
          <a:noFill/>
          <a:ln/>
        </p:spPr>
        <p:txBody>
          <a:bodyPr wrap="square" lIns="0" tIns="0" rIns="0" bIns="0" rtlCol="0" anchor="ctr"/>
          <a:lstStyle/>
          <a:p>
            <a:pPr marL="0" indent="0" algn="ctr">
              <a:buNone/>
            </a:pPr>
            <a:r>
              <a:rPr lang="en-US" sz="820" b="1" dirty="0">
                <a:solidFill>
                  <a:srgbClr val="2DD4BF"/>
                </a:solidFill>
                <a:latin typeface="Aptos" pitchFamily="34" charset="0"/>
                <a:ea typeface="Aptos" pitchFamily="34" charset="-122"/>
                <a:cs typeface="Aptos" pitchFamily="34" charset="-120"/>
              </a:rPr>
              <a:t>The model can implement a decision; it should not be trusted to make the clinical decision.</a:t>
            </a:r>
            <a:endParaRPr lang="en-US" sz="82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70D1A"/>
        </a:solidFill>
        <a:effectLst/>
      </p:bgPr>
    </p:bg>
    <p:spTree>
      <p:nvGrpSpPr>
        <p:cNvPr id="1" name=""/>
        <p:cNvGrpSpPr/>
        <p:nvPr/>
      </p:nvGrpSpPr>
      <p:grpSpPr>
        <a:xfrm>
          <a:off x="0" y="0"/>
          <a:ext cx="0" cy="0"/>
          <a:chOff x="0" y="0"/>
          <a:chExt cx="0" cy="0"/>
        </a:xfrm>
      </p:grpSpPr>
      <p:sp>
        <p:nvSpPr>
          <p:cNvPr id="2" name="Text 0"/>
          <p:cNvSpPr/>
          <p:nvPr/>
        </p:nvSpPr>
        <p:spPr>
          <a:xfrm>
            <a:off x="411480" y="274320"/>
            <a:ext cx="3474720" cy="146304"/>
          </a:xfrm>
          <a:prstGeom prst="rect">
            <a:avLst/>
          </a:prstGeom>
          <a:noFill/>
          <a:ln/>
        </p:spPr>
        <p:txBody>
          <a:bodyPr wrap="square" lIns="0" tIns="0" rIns="0" bIns="0" rtlCol="0" anchor="ctr"/>
          <a:lstStyle/>
          <a:p>
            <a:pPr marL="0" indent="0">
              <a:buNone/>
            </a:pPr>
            <a:r>
              <a:rPr lang="en-US" sz="650" b="1" dirty="0">
                <a:solidFill>
                  <a:srgbClr val="12BFE2"/>
                </a:solidFill>
                <a:latin typeface="Aptos" pitchFamily="34" charset="0"/>
                <a:ea typeface="Aptos" pitchFamily="34" charset="-122"/>
                <a:cs typeface="Aptos" pitchFamily="34" charset="-120"/>
              </a:rPr>
              <a:t>BUILD RESPONSIBLY</a:t>
            </a:r>
            <a:endParaRPr lang="en-US" sz="650" dirty="0"/>
          </a:p>
        </p:txBody>
      </p:sp>
      <p:sp>
        <p:nvSpPr>
          <p:cNvPr id="3" name="Text 1"/>
          <p:cNvSpPr/>
          <p:nvPr/>
        </p:nvSpPr>
        <p:spPr>
          <a:xfrm>
            <a:off x="411480" y="612648"/>
            <a:ext cx="5669280" cy="384048"/>
          </a:xfrm>
          <a:prstGeom prst="rect">
            <a:avLst/>
          </a:prstGeom>
          <a:noFill/>
          <a:ln/>
        </p:spPr>
        <p:txBody>
          <a:bodyPr wrap="square" lIns="0" tIns="0" rIns="0" bIns="0" rtlCol="0" anchor="ctr">
            <a:normAutofit/>
          </a:bodyPr>
          <a:lstStyle/>
          <a:p>
            <a:pPr marL="0" indent="0">
              <a:buNone/>
            </a:pPr>
            <a:r>
              <a:rPr lang="en-US" sz="2100" b="1" dirty="0">
                <a:solidFill>
                  <a:srgbClr val="F8FAFC"/>
                </a:solidFill>
                <a:latin typeface="Aptos Display" pitchFamily="34" charset="0"/>
                <a:ea typeface="Aptos Display" pitchFamily="34" charset="-122"/>
                <a:cs typeface="Aptos Display" pitchFamily="34" charset="-120"/>
              </a:rPr>
              <a:t>Guardrails for medical education software</a:t>
            </a:r>
            <a:endParaRPr lang="en-US" sz="2100" dirty="0"/>
          </a:p>
        </p:txBody>
      </p:sp>
      <p:sp>
        <p:nvSpPr>
          <p:cNvPr id="4" name="Text 2"/>
          <p:cNvSpPr/>
          <p:nvPr/>
        </p:nvSpPr>
        <p:spPr>
          <a:xfrm>
            <a:off x="411480" y="4828032"/>
            <a:ext cx="4754880" cy="109728"/>
          </a:xfrm>
          <a:prstGeom prst="rect">
            <a:avLst/>
          </a:prstGeom>
          <a:noFill/>
          <a:ln/>
        </p:spPr>
        <p:txBody>
          <a:bodyPr wrap="square" lIns="0" tIns="0" rIns="0" bIns="0" rtlCol="0" anchor="ctr"/>
          <a:lstStyle/>
          <a:p>
            <a:pPr marL="0" indent="0">
              <a:buNone/>
            </a:pPr>
            <a:r>
              <a:rPr lang="en-US" sz="550" dirty="0">
                <a:solidFill>
                  <a:srgbClr val="5F6B7A"/>
                </a:solidFill>
                <a:latin typeface="Aptos" pitchFamily="34" charset="0"/>
                <a:ea typeface="Aptos" pitchFamily="34" charset="-122"/>
                <a:cs typeface="Aptos" pitchFamily="34" charset="-120"/>
              </a:rPr>
              <a:t>AABIP Webinar 2026  |  AI in Interventional Pulmonology</a:t>
            </a:r>
            <a:endParaRPr lang="en-US" sz="550" dirty="0"/>
          </a:p>
        </p:txBody>
      </p:sp>
      <p:sp>
        <p:nvSpPr>
          <p:cNvPr id="5" name="Text 3"/>
          <p:cNvSpPr/>
          <p:nvPr/>
        </p:nvSpPr>
        <p:spPr>
          <a:xfrm>
            <a:off x="8366760" y="4828032"/>
            <a:ext cx="365760" cy="109728"/>
          </a:xfrm>
          <a:prstGeom prst="rect">
            <a:avLst/>
          </a:prstGeom>
          <a:noFill/>
          <a:ln/>
        </p:spPr>
        <p:txBody>
          <a:bodyPr wrap="square" lIns="0" tIns="0" rIns="0" bIns="0" rtlCol="0" anchor="ctr"/>
          <a:lstStyle/>
          <a:p>
            <a:pPr marL="0" indent="0" algn="r">
              <a:buNone/>
            </a:pPr>
            <a:r>
              <a:rPr lang="en-US" sz="550" dirty="0">
                <a:solidFill>
                  <a:srgbClr val="5F6B7A"/>
                </a:solidFill>
                <a:latin typeface="Aptos" pitchFamily="34" charset="0"/>
                <a:ea typeface="Aptos" pitchFamily="34" charset="-122"/>
                <a:cs typeface="Aptos" pitchFamily="34" charset="-120"/>
              </a:rPr>
              <a:t>19 / 22</a:t>
            </a:r>
            <a:endParaRPr lang="en-US" sz="550" dirty="0"/>
          </a:p>
        </p:txBody>
      </p:sp>
      <p:sp>
        <p:nvSpPr>
          <p:cNvPr id="6" name="Shape 4"/>
          <p:cNvSpPr/>
          <p:nvPr/>
        </p:nvSpPr>
        <p:spPr>
          <a:xfrm>
            <a:off x="411480" y="1060704"/>
            <a:ext cx="1143000" cy="0"/>
          </a:xfrm>
          <a:prstGeom prst="line">
            <a:avLst/>
          </a:prstGeom>
          <a:noFill/>
          <a:ln w="15240">
            <a:solidFill>
              <a:srgbClr val="12BFE2"/>
            </a:solidFill>
            <a:prstDash val="solid"/>
          </a:ln>
        </p:spPr>
        <p:txBody>
          <a:bodyPr/>
          <a:lstStyle/>
          <a:p>
            <a:endParaRPr lang="en-US"/>
          </a:p>
        </p:txBody>
      </p:sp>
      <p:sp>
        <p:nvSpPr>
          <p:cNvPr id="7" name="Shape 5"/>
          <p:cNvSpPr/>
          <p:nvPr/>
        </p:nvSpPr>
        <p:spPr>
          <a:xfrm>
            <a:off x="594360" y="1234440"/>
            <a:ext cx="3703320" cy="658368"/>
          </a:xfrm>
          <a:prstGeom prst="roundRect">
            <a:avLst>
              <a:gd name="adj" fmla="val 16667"/>
            </a:avLst>
          </a:prstGeom>
          <a:solidFill>
            <a:srgbClr val="111A2D"/>
          </a:solidFill>
          <a:ln w="12700">
            <a:solidFill>
              <a:srgbClr val="111A2D">
                <a:alpha val="0"/>
              </a:srgbClr>
            </a:solidFill>
            <a:prstDash val="solid"/>
          </a:ln>
        </p:spPr>
        <p:txBody>
          <a:bodyPr/>
          <a:lstStyle/>
          <a:p>
            <a:endParaRPr lang="en-US"/>
          </a:p>
        </p:txBody>
      </p:sp>
      <p:sp>
        <p:nvSpPr>
          <p:cNvPr id="8" name="Shape 6"/>
          <p:cNvSpPr/>
          <p:nvPr/>
        </p:nvSpPr>
        <p:spPr>
          <a:xfrm>
            <a:off x="594360" y="1234440"/>
            <a:ext cx="32004" cy="658368"/>
          </a:xfrm>
          <a:prstGeom prst="rect">
            <a:avLst/>
          </a:prstGeom>
          <a:solidFill>
            <a:srgbClr val="12BFE2"/>
          </a:solidFill>
          <a:ln w="12700">
            <a:solidFill>
              <a:srgbClr val="12BFE2"/>
            </a:solidFill>
            <a:prstDash val="solid"/>
          </a:ln>
        </p:spPr>
        <p:txBody>
          <a:bodyPr/>
          <a:lstStyle/>
          <a:p>
            <a:endParaRPr lang="en-US"/>
          </a:p>
        </p:txBody>
      </p:sp>
      <p:pic>
        <p:nvPicPr>
          <p:cNvPr id="9" name="Image 0" descr="/mnt/data/ppt_extract/ppt/media/image6.png"/>
          <p:cNvPicPr>
            <a:picLocks noChangeAspect="1"/>
          </p:cNvPicPr>
          <p:nvPr/>
        </p:nvPicPr>
        <p:blipFill>
          <a:blip r:embed="rId3"/>
          <a:stretch>
            <a:fillRect/>
          </a:stretch>
        </p:blipFill>
        <p:spPr>
          <a:xfrm>
            <a:off x="713232" y="1353312"/>
            <a:ext cx="219456" cy="219456"/>
          </a:xfrm>
          <a:prstGeom prst="rect">
            <a:avLst/>
          </a:prstGeom>
        </p:spPr>
      </p:pic>
      <p:sp>
        <p:nvSpPr>
          <p:cNvPr id="10" name="Text 7"/>
          <p:cNvSpPr/>
          <p:nvPr/>
        </p:nvSpPr>
        <p:spPr>
          <a:xfrm>
            <a:off x="1014984" y="1362456"/>
            <a:ext cx="3172968" cy="201168"/>
          </a:xfrm>
          <a:prstGeom prst="rect">
            <a:avLst/>
          </a:prstGeom>
          <a:noFill/>
          <a:ln/>
        </p:spPr>
        <p:txBody>
          <a:bodyPr wrap="square" lIns="0" tIns="0" rIns="0" bIns="0" rtlCol="0" anchor="ctr">
            <a:normAutofit/>
          </a:bodyPr>
          <a:lstStyle/>
          <a:p>
            <a:pPr marL="0" indent="0">
              <a:buNone/>
            </a:pPr>
            <a:r>
              <a:rPr lang="en-US" sz="880" b="1" dirty="0">
                <a:solidFill>
                  <a:srgbClr val="F8FAFC"/>
                </a:solidFill>
                <a:latin typeface="Aptos" pitchFamily="34" charset="0"/>
                <a:ea typeface="Aptos" pitchFamily="34" charset="-122"/>
                <a:cs typeface="Aptos" pitchFamily="34" charset="-120"/>
              </a:rPr>
              <a:t>Intended use is the center</a:t>
            </a:r>
            <a:endParaRPr lang="en-US" sz="880" dirty="0"/>
          </a:p>
        </p:txBody>
      </p:sp>
      <p:sp>
        <p:nvSpPr>
          <p:cNvPr id="11" name="Text 8"/>
          <p:cNvSpPr/>
          <p:nvPr/>
        </p:nvSpPr>
        <p:spPr>
          <a:xfrm>
            <a:off x="1014984" y="1645920"/>
            <a:ext cx="3172968" cy="155448"/>
          </a:xfrm>
          <a:prstGeom prst="rect">
            <a:avLst/>
          </a:prstGeom>
          <a:noFill/>
          <a:ln/>
        </p:spPr>
        <p:txBody>
          <a:bodyPr wrap="square" lIns="0" tIns="0" rIns="0" bIns="0" rtlCol="0" anchor="ctr">
            <a:normAutofit/>
          </a:bodyPr>
          <a:lstStyle/>
          <a:p>
            <a:pPr marL="0" indent="0">
              <a:buNone/>
            </a:pPr>
            <a:r>
              <a:rPr lang="en-US" sz="650" dirty="0">
                <a:solidFill>
                  <a:srgbClr val="A7B3C6"/>
                </a:solidFill>
                <a:latin typeface="Aptos" pitchFamily="34" charset="0"/>
                <a:ea typeface="Aptos" pitchFamily="34" charset="-122"/>
                <a:cs typeface="Aptos" pitchFamily="34" charset="-120"/>
              </a:rPr>
              <a:t>Education/reference is different from patient-specific diagnosis, planning, or recommendations.</a:t>
            </a:r>
            <a:endParaRPr lang="en-US" sz="650" dirty="0"/>
          </a:p>
        </p:txBody>
      </p:sp>
      <p:sp>
        <p:nvSpPr>
          <p:cNvPr id="12" name="Shape 9"/>
          <p:cNvSpPr/>
          <p:nvPr/>
        </p:nvSpPr>
        <p:spPr>
          <a:xfrm>
            <a:off x="594360" y="2057400"/>
            <a:ext cx="3703320" cy="658368"/>
          </a:xfrm>
          <a:prstGeom prst="roundRect">
            <a:avLst>
              <a:gd name="adj" fmla="val 16667"/>
            </a:avLst>
          </a:prstGeom>
          <a:solidFill>
            <a:srgbClr val="111A2D"/>
          </a:solidFill>
          <a:ln w="12700">
            <a:solidFill>
              <a:srgbClr val="111A2D">
                <a:alpha val="0"/>
              </a:srgbClr>
            </a:solidFill>
            <a:prstDash val="solid"/>
          </a:ln>
        </p:spPr>
        <p:txBody>
          <a:bodyPr/>
          <a:lstStyle/>
          <a:p>
            <a:endParaRPr lang="en-US"/>
          </a:p>
        </p:txBody>
      </p:sp>
      <p:sp>
        <p:nvSpPr>
          <p:cNvPr id="13" name="Shape 10"/>
          <p:cNvSpPr/>
          <p:nvPr/>
        </p:nvSpPr>
        <p:spPr>
          <a:xfrm>
            <a:off x="594360" y="2057400"/>
            <a:ext cx="32004" cy="658368"/>
          </a:xfrm>
          <a:prstGeom prst="rect">
            <a:avLst/>
          </a:prstGeom>
          <a:solidFill>
            <a:srgbClr val="F87171"/>
          </a:solidFill>
          <a:ln w="12700">
            <a:solidFill>
              <a:srgbClr val="F87171"/>
            </a:solidFill>
            <a:prstDash val="solid"/>
          </a:ln>
        </p:spPr>
        <p:txBody>
          <a:bodyPr/>
          <a:lstStyle/>
          <a:p>
            <a:endParaRPr lang="en-US"/>
          </a:p>
        </p:txBody>
      </p:sp>
      <p:pic>
        <p:nvPicPr>
          <p:cNvPr id="14" name="Image 1" descr="/mnt/data/ppt_extract/ppt/media/image1.png"/>
          <p:cNvPicPr>
            <a:picLocks noChangeAspect="1"/>
          </p:cNvPicPr>
          <p:nvPr/>
        </p:nvPicPr>
        <p:blipFill>
          <a:blip r:embed="rId4"/>
          <a:stretch>
            <a:fillRect/>
          </a:stretch>
        </p:blipFill>
        <p:spPr>
          <a:xfrm>
            <a:off x="713232" y="2176272"/>
            <a:ext cx="219456" cy="219456"/>
          </a:xfrm>
          <a:prstGeom prst="rect">
            <a:avLst/>
          </a:prstGeom>
        </p:spPr>
      </p:pic>
      <p:sp>
        <p:nvSpPr>
          <p:cNvPr id="15" name="Text 11"/>
          <p:cNvSpPr/>
          <p:nvPr/>
        </p:nvSpPr>
        <p:spPr>
          <a:xfrm>
            <a:off x="1014984" y="2185416"/>
            <a:ext cx="3172968" cy="201168"/>
          </a:xfrm>
          <a:prstGeom prst="rect">
            <a:avLst/>
          </a:prstGeom>
          <a:noFill/>
          <a:ln/>
        </p:spPr>
        <p:txBody>
          <a:bodyPr wrap="square" lIns="0" tIns="0" rIns="0" bIns="0" rtlCol="0" anchor="ctr">
            <a:normAutofit/>
          </a:bodyPr>
          <a:lstStyle/>
          <a:p>
            <a:pPr marL="0" indent="0">
              <a:buNone/>
            </a:pPr>
            <a:r>
              <a:rPr lang="en-US" sz="880" b="1" dirty="0">
                <a:solidFill>
                  <a:srgbClr val="F8FAFC"/>
                </a:solidFill>
                <a:latin typeface="Aptos" pitchFamily="34" charset="0"/>
                <a:ea typeface="Aptos" pitchFamily="34" charset="-122"/>
                <a:cs typeface="Aptos" pitchFamily="34" charset="-120"/>
              </a:rPr>
              <a:t>Keep PHI out of routine prompts</a:t>
            </a:r>
            <a:endParaRPr lang="en-US" sz="880" dirty="0"/>
          </a:p>
        </p:txBody>
      </p:sp>
      <p:sp>
        <p:nvSpPr>
          <p:cNvPr id="16" name="Text 12"/>
          <p:cNvSpPr/>
          <p:nvPr/>
        </p:nvSpPr>
        <p:spPr>
          <a:xfrm>
            <a:off x="1014984" y="2468880"/>
            <a:ext cx="3172968" cy="155448"/>
          </a:xfrm>
          <a:prstGeom prst="rect">
            <a:avLst/>
          </a:prstGeom>
          <a:noFill/>
          <a:ln/>
        </p:spPr>
        <p:txBody>
          <a:bodyPr wrap="square" lIns="0" tIns="0" rIns="0" bIns="0" rtlCol="0" anchor="ctr">
            <a:normAutofit/>
          </a:bodyPr>
          <a:lstStyle/>
          <a:p>
            <a:pPr marL="0" indent="0">
              <a:buNone/>
            </a:pPr>
            <a:r>
              <a:rPr lang="en-US" sz="650" dirty="0">
                <a:solidFill>
                  <a:srgbClr val="A7B3C6"/>
                </a:solidFill>
                <a:latin typeface="Aptos" pitchFamily="34" charset="0"/>
                <a:ea typeface="Aptos" pitchFamily="34" charset="-122"/>
                <a:cs typeface="Aptos" pitchFamily="34" charset="-120"/>
              </a:rPr>
              <a:t>Do not upload identifiable images, DICOMs, or clinical narratives without approved governance.</a:t>
            </a:r>
            <a:endParaRPr lang="en-US" sz="650" dirty="0"/>
          </a:p>
        </p:txBody>
      </p:sp>
      <p:sp>
        <p:nvSpPr>
          <p:cNvPr id="17" name="Shape 13"/>
          <p:cNvSpPr/>
          <p:nvPr/>
        </p:nvSpPr>
        <p:spPr>
          <a:xfrm>
            <a:off x="594360" y="2880360"/>
            <a:ext cx="3703320" cy="658368"/>
          </a:xfrm>
          <a:prstGeom prst="roundRect">
            <a:avLst>
              <a:gd name="adj" fmla="val 16667"/>
            </a:avLst>
          </a:prstGeom>
          <a:solidFill>
            <a:srgbClr val="111A2D"/>
          </a:solidFill>
          <a:ln w="12700">
            <a:solidFill>
              <a:srgbClr val="111A2D">
                <a:alpha val="0"/>
              </a:srgbClr>
            </a:solidFill>
            <a:prstDash val="solid"/>
          </a:ln>
        </p:spPr>
        <p:txBody>
          <a:bodyPr/>
          <a:lstStyle/>
          <a:p>
            <a:endParaRPr lang="en-US"/>
          </a:p>
        </p:txBody>
      </p:sp>
      <p:sp>
        <p:nvSpPr>
          <p:cNvPr id="18" name="Shape 14"/>
          <p:cNvSpPr/>
          <p:nvPr/>
        </p:nvSpPr>
        <p:spPr>
          <a:xfrm>
            <a:off x="594360" y="2880360"/>
            <a:ext cx="32004" cy="658368"/>
          </a:xfrm>
          <a:prstGeom prst="rect">
            <a:avLst/>
          </a:prstGeom>
          <a:solidFill>
            <a:srgbClr val="F59E0B"/>
          </a:solidFill>
          <a:ln w="12700">
            <a:solidFill>
              <a:srgbClr val="F59E0B"/>
            </a:solidFill>
            <a:prstDash val="solid"/>
          </a:ln>
        </p:spPr>
        <p:txBody>
          <a:bodyPr/>
          <a:lstStyle/>
          <a:p>
            <a:endParaRPr lang="en-US"/>
          </a:p>
        </p:txBody>
      </p:sp>
      <p:pic>
        <p:nvPicPr>
          <p:cNvPr id="19" name="Image 2" descr="/mnt/data/ppt_extract/ppt/media/image22.png"/>
          <p:cNvPicPr>
            <a:picLocks noChangeAspect="1"/>
          </p:cNvPicPr>
          <p:nvPr/>
        </p:nvPicPr>
        <p:blipFill>
          <a:blip r:embed="rId5"/>
          <a:stretch>
            <a:fillRect/>
          </a:stretch>
        </p:blipFill>
        <p:spPr>
          <a:xfrm>
            <a:off x="713232" y="2999232"/>
            <a:ext cx="219456" cy="219456"/>
          </a:xfrm>
          <a:prstGeom prst="rect">
            <a:avLst/>
          </a:prstGeom>
        </p:spPr>
      </p:pic>
      <p:sp>
        <p:nvSpPr>
          <p:cNvPr id="20" name="Text 15"/>
          <p:cNvSpPr/>
          <p:nvPr/>
        </p:nvSpPr>
        <p:spPr>
          <a:xfrm>
            <a:off x="1014984" y="3008376"/>
            <a:ext cx="3172968" cy="201168"/>
          </a:xfrm>
          <a:prstGeom prst="rect">
            <a:avLst/>
          </a:prstGeom>
          <a:noFill/>
          <a:ln/>
        </p:spPr>
        <p:txBody>
          <a:bodyPr wrap="square" lIns="0" tIns="0" rIns="0" bIns="0" rtlCol="0" anchor="ctr">
            <a:normAutofit/>
          </a:bodyPr>
          <a:lstStyle/>
          <a:p>
            <a:pPr marL="0" indent="0">
              <a:buNone/>
            </a:pPr>
            <a:r>
              <a:rPr lang="en-US" sz="880" b="1" dirty="0">
                <a:solidFill>
                  <a:srgbClr val="F8FAFC"/>
                </a:solidFill>
                <a:latin typeface="Aptos" pitchFamily="34" charset="0"/>
                <a:ea typeface="Aptos" pitchFamily="34" charset="-122"/>
                <a:cs typeface="Aptos" pitchFamily="34" charset="-120"/>
              </a:rPr>
              <a:t>Respect asset rights</a:t>
            </a:r>
            <a:endParaRPr lang="en-US" sz="880" dirty="0"/>
          </a:p>
        </p:txBody>
      </p:sp>
      <p:sp>
        <p:nvSpPr>
          <p:cNvPr id="21" name="Text 16"/>
          <p:cNvSpPr/>
          <p:nvPr/>
        </p:nvSpPr>
        <p:spPr>
          <a:xfrm>
            <a:off x="1014984" y="3291840"/>
            <a:ext cx="3172968" cy="155448"/>
          </a:xfrm>
          <a:prstGeom prst="rect">
            <a:avLst/>
          </a:prstGeom>
          <a:noFill/>
          <a:ln/>
        </p:spPr>
        <p:txBody>
          <a:bodyPr wrap="square" lIns="0" tIns="0" rIns="0" bIns="0" rtlCol="0" anchor="ctr">
            <a:normAutofit/>
          </a:bodyPr>
          <a:lstStyle/>
          <a:p>
            <a:pPr marL="0" indent="0">
              <a:buNone/>
            </a:pPr>
            <a:r>
              <a:rPr lang="en-US" sz="650" dirty="0">
                <a:solidFill>
                  <a:srgbClr val="A7B3C6"/>
                </a:solidFill>
                <a:latin typeface="Aptos" pitchFamily="34" charset="0"/>
                <a:ea typeface="Aptos" pitchFamily="34" charset="-122"/>
                <a:cs typeface="Aptos" pitchFamily="34" charset="-120"/>
              </a:rPr>
              <a:t>Do not ship copyrighted slide screenshots or unapproved clinical media as app UI.</a:t>
            </a:r>
            <a:endParaRPr lang="en-US" sz="650" dirty="0"/>
          </a:p>
        </p:txBody>
      </p:sp>
      <p:sp>
        <p:nvSpPr>
          <p:cNvPr id="22" name="Shape 17"/>
          <p:cNvSpPr/>
          <p:nvPr/>
        </p:nvSpPr>
        <p:spPr>
          <a:xfrm>
            <a:off x="4800600" y="1234440"/>
            <a:ext cx="3703320" cy="658368"/>
          </a:xfrm>
          <a:prstGeom prst="roundRect">
            <a:avLst>
              <a:gd name="adj" fmla="val 16667"/>
            </a:avLst>
          </a:prstGeom>
          <a:solidFill>
            <a:srgbClr val="111A2D"/>
          </a:solidFill>
          <a:ln w="12700">
            <a:solidFill>
              <a:srgbClr val="111A2D">
                <a:alpha val="0"/>
              </a:srgbClr>
            </a:solidFill>
            <a:prstDash val="solid"/>
          </a:ln>
        </p:spPr>
        <p:txBody>
          <a:bodyPr/>
          <a:lstStyle/>
          <a:p>
            <a:endParaRPr lang="en-US"/>
          </a:p>
        </p:txBody>
      </p:sp>
      <p:sp>
        <p:nvSpPr>
          <p:cNvPr id="23" name="Shape 18"/>
          <p:cNvSpPr/>
          <p:nvPr/>
        </p:nvSpPr>
        <p:spPr>
          <a:xfrm>
            <a:off x="4800600" y="1234440"/>
            <a:ext cx="32004" cy="658368"/>
          </a:xfrm>
          <a:prstGeom prst="rect">
            <a:avLst/>
          </a:prstGeom>
          <a:solidFill>
            <a:srgbClr val="22C55E"/>
          </a:solidFill>
          <a:ln w="12700">
            <a:solidFill>
              <a:srgbClr val="22C55E"/>
            </a:solidFill>
            <a:prstDash val="solid"/>
          </a:ln>
        </p:spPr>
        <p:txBody>
          <a:bodyPr/>
          <a:lstStyle/>
          <a:p>
            <a:endParaRPr lang="en-US"/>
          </a:p>
        </p:txBody>
      </p:sp>
      <p:pic>
        <p:nvPicPr>
          <p:cNvPr id="24" name="Image 3" descr="/mnt/data/ppt_extract/ppt/media/image15.png"/>
          <p:cNvPicPr>
            <a:picLocks noChangeAspect="1"/>
          </p:cNvPicPr>
          <p:nvPr/>
        </p:nvPicPr>
        <p:blipFill>
          <a:blip r:embed="rId6"/>
          <a:stretch>
            <a:fillRect/>
          </a:stretch>
        </p:blipFill>
        <p:spPr>
          <a:xfrm>
            <a:off x="4919472" y="1353312"/>
            <a:ext cx="219456" cy="219456"/>
          </a:xfrm>
          <a:prstGeom prst="rect">
            <a:avLst/>
          </a:prstGeom>
        </p:spPr>
      </p:pic>
      <p:sp>
        <p:nvSpPr>
          <p:cNvPr id="25" name="Text 19"/>
          <p:cNvSpPr/>
          <p:nvPr/>
        </p:nvSpPr>
        <p:spPr>
          <a:xfrm>
            <a:off x="5221224" y="1362456"/>
            <a:ext cx="3172968" cy="201168"/>
          </a:xfrm>
          <a:prstGeom prst="rect">
            <a:avLst/>
          </a:prstGeom>
          <a:noFill/>
          <a:ln/>
        </p:spPr>
        <p:txBody>
          <a:bodyPr wrap="square" lIns="0" tIns="0" rIns="0" bIns="0" rtlCol="0" anchor="ctr">
            <a:normAutofit/>
          </a:bodyPr>
          <a:lstStyle/>
          <a:p>
            <a:pPr marL="0" indent="0">
              <a:buNone/>
            </a:pPr>
            <a:r>
              <a:rPr lang="en-US" sz="880" b="1" dirty="0">
                <a:solidFill>
                  <a:srgbClr val="F8FAFC"/>
                </a:solidFill>
                <a:latin typeface="Aptos" pitchFamily="34" charset="0"/>
                <a:ea typeface="Aptos" pitchFamily="34" charset="-122"/>
                <a:cs typeface="Aptos" pitchFamily="34" charset="-120"/>
              </a:rPr>
              <a:t>Label simulations honestly</a:t>
            </a:r>
            <a:endParaRPr lang="en-US" sz="880" dirty="0"/>
          </a:p>
        </p:txBody>
      </p:sp>
      <p:sp>
        <p:nvSpPr>
          <p:cNvPr id="26" name="Text 20"/>
          <p:cNvSpPr/>
          <p:nvPr/>
        </p:nvSpPr>
        <p:spPr>
          <a:xfrm>
            <a:off x="5221224" y="1645920"/>
            <a:ext cx="3172968" cy="155448"/>
          </a:xfrm>
          <a:prstGeom prst="rect">
            <a:avLst/>
          </a:prstGeom>
          <a:noFill/>
          <a:ln/>
        </p:spPr>
        <p:txBody>
          <a:bodyPr wrap="square" lIns="0" tIns="0" rIns="0" bIns="0" rtlCol="0" anchor="ctr">
            <a:normAutofit/>
          </a:bodyPr>
          <a:lstStyle/>
          <a:p>
            <a:pPr marL="0" indent="0">
              <a:buNone/>
            </a:pPr>
            <a:r>
              <a:rPr lang="en-US" sz="650" dirty="0">
                <a:solidFill>
                  <a:srgbClr val="A7B3C6"/>
                </a:solidFill>
                <a:latin typeface="Aptos" pitchFamily="34" charset="0"/>
                <a:ea typeface="Aptos" pitchFamily="34" charset="-122"/>
                <a:cs typeface="Aptos" pitchFamily="34" charset="-120"/>
              </a:rPr>
              <a:t>Use “educational approximation,” not “clinically validated” unless you have validation.</a:t>
            </a:r>
            <a:endParaRPr lang="en-US" sz="650" dirty="0"/>
          </a:p>
        </p:txBody>
      </p:sp>
      <p:sp>
        <p:nvSpPr>
          <p:cNvPr id="27" name="Shape 21"/>
          <p:cNvSpPr/>
          <p:nvPr/>
        </p:nvSpPr>
        <p:spPr>
          <a:xfrm>
            <a:off x="4800600" y="2057400"/>
            <a:ext cx="3703320" cy="658368"/>
          </a:xfrm>
          <a:prstGeom prst="roundRect">
            <a:avLst>
              <a:gd name="adj" fmla="val 16667"/>
            </a:avLst>
          </a:prstGeom>
          <a:solidFill>
            <a:srgbClr val="111A2D"/>
          </a:solidFill>
          <a:ln w="12700">
            <a:solidFill>
              <a:srgbClr val="111A2D">
                <a:alpha val="0"/>
              </a:srgbClr>
            </a:solidFill>
            <a:prstDash val="solid"/>
          </a:ln>
        </p:spPr>
        <p:txBody>
          <a:bodyPr/>
          <a:lstStyle/>
          <a:p>
            <a:endParaRPr lang="en-US"/>
          </a:p>
        </p:txBody>
      </p:sp>
      <p:sp>
        <p:nvSpPr>
          <p:cNvPr id="28" name="Shape 22"/>
          <p:cNvSpPr/>
          <p:nvPr/>
        </p:nvSpPr>
        <p:spPr>
          <a:xfrm>
            <a:off x="4800600" y="2057400"/>
            <a:ext cx="32004" cy="658368"/>
          </a:xfrm>
          <a:prstGeom prst="rect">
            <a:avLst/>
          </a:prstGeom>
          <a:solidFill>
            <a:srgbClr val="2DD4BF"/>
          </a:solidFill>
          <a:ln w="12700">
            <a:solidFill>
              <a:srgbClr val="2DD4BF"/>
            </a:solidFill>
            <a:prstDash val="solid"/>
          </a:ln>
        </p:spPr>
        <p:txBody>
          <a:bodyPr/>
          <a:lstStyle/>
          <a:p>
            <a:endParaRPr lang="en-US"/>
          </a:p>
        </p:txBody>
      </p:sp>
      <p:pic>
        <p:nvPicPr>
          <p:cNvPr id="29" name="Image 4" descr="/mnt/data/ppt_extract/ppt/media/image10.png"/>
          <p:cNvPicPr>
            <a:picLocks noChangeAspect="1"/>
          </p:cNvPicPr>
          <p:nvPr/>
        </p:nvPicPr>
        <p:blipFill>
          <a:blip r:embed="rId7"/>
          <a:stretch>
            <a:fillRect/>
          </a:stretch>
        </p:blipFill>
        <p:spPr>
          <a:xfrm>
            <a:off x="4919472" y="2176272"/>
            <a:ext cx="219456" cy="219456"/>
          </a:xfrm>
          <a:prstGeom prst="rect">
            <a:avLst/>
          </a:prstGeom>
        </p:spPr>
      </p:pic>
      <p:sp>
        <p:nvSpPr>
          <p:cNvPr id="30" name="Text 23"/>
          <p:cNvSpPr/>
          <p:nvPr/>
        </p:nvSpPr>
        <p:spPr>
          <a:xfrm>
            <a:off x="5221224" y="2185416"/>
            <a:ext cx="3172968" cy="201168"/>
          </a:xfrm>
          <a:prstGeom prst="rect">
            <a:avLst/>
          </a:prstGeom>
          <a:noFill/>
          <a:ln/>
        </p:spPr>
        <p:txBody>
          <a:bodyPr wrap="square" lIns="0" tIns="0" rIns="0" bIns="0" rtlCol="0" anchor="ctr">
            <a:normAutofit/>
          </a:bodyPr>
          <a:lstStyle/>
          <a:p>
            <a:pPr marL="0" indent="0">
              <a:buNone/>
            </a:pPr>
            <a:r>
              <a:rPr lang="en-US" sz="880" b="1" dirty="0">
                <a:solidFill>
                  <a:srgbClr val="F8FAFC"/>
                </a:solidFill>
                <a:latin typeface="Aptos" pitchFamily="34" charset="0"/>
                <a:ea typeface="Aptos" pitchFamily="34" charset="-122"/>
                <a:cs typeface="Aptos" pitchFamily="34" charset="-120"/>
              </a:rPr>
              <a:t>Use tests and review loops</a:t>
            </a:r>
            <a:endParaRPr lang="en-US" sz="880" dirty="0"/>
          </a:p>
        </p:txBody>
      </p:sp>
      <p:sp>
        <p:nvSpPr>
          <p:cNvPr id="31" name="Text 24"/>
          <p:cNvSpPr/>
          <p:nvPr/>
        </p:nvSpPr>
        <p:spPr>
          <a:xfrm>
            <a:off x="5221224" y="2468880"/>
            <a:ext cx="3172968" cy="155448"/>
          </a:xfrm>
          <a:prstGeom prst="rect">
            <a:avLst/>
          </a:prstGeom>
          <a:noFill/>
          <a:ln/>
        </p:spPr>
        <p:txBody>
          <a:bodyPr wrap="square" lIns="0" tIns="0" rIns="0" bIns="0" rtlCol="0" anchor="ctr">
            <a:normAutofit/>
          </a:bodyPr>
          <a:lstStyle/>
          <a:p>
            <a:pPr marL="0" indent="0">
              <a:buNone/>
            </a:pPr>
            <a:r>
              <a:rPr lang="en-US" sz="650" dirty="0">
                <a:solidFill>
                  <a:srgbClr val="A7B3C6"/>
                </a:solidFill>
                <a:latin typeface="Aptos" pitchFamily="34" charset="0"/>
                <a:ea typeface="Aptos" pitchFamily="34" charset="-122"/>
                <a:cs typeface="Aptos" pitchFamily="34" charset="-120"/>
              </a:rPr>
              <a:t>Tests do not validate medical content, but they prevent silent logic regressions.</a:t>
            </a:r>
            <a:endParaRPr lang="en-US" sz="650" dirty="0"/>
          </a:p>
        </p:txBody>
      </p:sp>
      <p:sp>
        <p:nvSpPr>
          <p:cNvPr id="32" name="Shape 25"/>
          <p:cNvSpPr/>
          <p:nvPr/>
        </p:nvSpPr>
        <p:spPr>
          <a:xfrm>
            <a:off x="4800600" y="2880360"/>
            <a:ext cx="3703320" cy="658368"/>
          </a:xfrm>
          <a:prstGeom prst="roundRect">
            <a:avLst>
              <a:gd name="adj" fmla="val 16667"/>
            </a:avLst>
          </a:prstGeom>
          <a:solidFill>
            <a:srgbClr val="111A2D"/>
          </a:solidFill>
          <a:ln w="12700">
            <a:solidFill>
              <a:srgbClr val="111A2D">
                <a:alpha val="0"/>
              </a:srgbClr>
            </a:solidFill>
            <a:prstDash val="solid"/>
          </a:ln>
        </p:spPr>
        <p:txBody>
          <a:bodyPr/>
          <a:lstStyle/>
          <a:p>
            <a:endParaRPr lang="en-US"/>
          </a:p>
        </p:txBody>
      </p:sp>
      <p:sp>
        <p:nvSpPr>
          <p:cNvPr id="33" name="Shape 26"/>
          <p:cNvSpPr/>
          <p:nvPr/>
        </p:nvSpPr>
        <p:spPr>
          <a:xfrm>
            <a:off x="4800600" y="2880360"/>
            <a:ext cx="32004" cy="658368"/>
          </a:xfrm>
          <a:prstGeom prst="rect">
            <a:avLst/>
          </a:prstGeom>
          <a:solidFill>
            <a:srgbClr val="12BFE2"/>
          </a:solidFill>
          <a:ln w="12700">
            <a:solidFill>
              <a:srgbClr val="12BFE2"/>
            </a:solidFill>
            <a:prstDash val="solid"/>
          </a:ln>
        </p:spPr>
        <p:txBody>
          <a:bodyPr/>
          <a:lstStyle/>
          <a:p>
            <a:endParaRPr lang="en-US"/>
          </a:p>
        </p:txBody>
      </p:sp>
      <p:pic>
        <p:nvPicPr>
          <p:cNvPr id="34" name="Image 5" descr="/mnt/data/ppt_extract/ppt/media/image24.png"/>
          <p:cNvPicPr>
            <a:picLocks noChangeAspect="1"/>
          </p:cNvPicPr>
          <p:nvPr/>
        </p:nvPicPr>
        <p:blipFill>
          <a:blip r:embed="rId8"/>
          <a:stretch>
            <a:fillRect/>
          </a:stretch>
        </p:blipFill>
        <p:spPr>
          <a:xfrm>
            <a:off x="4919472" y="2999232"/>
            <a:ext cx="219456" cy="219456"/>
          </a:xfrm>
          <a:prstGeom prst="rect">
            <a:avLst/>
          </a:prstGeom>
        </p:spPr>
      </p:pic>
      <p:sp>
        <p:nvSpPr>
          <p:cNvPr id="35" name="Text 27"/>
          <p:cNvSpPr/>
          <p:nvPr/>
        </p:nvSpPr>
        <p:spPr>
          <a:xfrm>
            <a:off x="5221224" y="3008376"/>
            <a:ext cx="3172968" cy="201168"/>
          </a:xfrm>
          <a:prstGeom prst="rect">
            <a:avLst/>
          </a:prstGeom>
          <a:noFill/>
          <a:ln/>
        </p:spPr>
        <p:txBody>
          <a:bodyPr wrap="square" lIns="0" tIns="0" rIns="0" bIns="0" rtlCol="0" anchor="ctr">
            <a:normAutofit/>
          </a:bodyPr>
          <a:lstStyle/>
          <a:p>
            <a:pPr marL="0" indent="0">
              <a:buNone/>
            </a:pPr>
            <a:r>
              <a:rPr lang="en-US" sz="880" b="1" dirty="0">
                <a:solidFill>
                  <a:srgbClr val="F8FAFC"/>
                </a:solidFill>
                <a:latin typeface="Aptos" pitchFamily="34" charset="0"/>
                <a:ea typeface="Aptos" pitchFamily="34" charset="-122"/>
                <a:cs typeface="Aptos" pitchFamily="34" charset="-120"/>
              </a:rPr>
              <a:t>Know when to get help</a:t>
            </a:r>
            <a:endParaRPr lang="en-US" sz="880" dirty="0"/>
          </a:p>
        </p:txBody>
      </p:sp>
      <p:sp>
        <p:nvSpPr>
          <p:cNvPr id="36" name="Text 28"/>
          <p:cNvSpPr/>
          <p:nvPr/>
        </p:nvSpPr>
        <p:spPr>
          <a:xfrm>
            <a:off x="5221224" y="3291840"/>
            <a:ext cx="3172968" cy="155448"/>
          </a:xfrm>
          <a:prstGeom prst="rect">
            <a:avLst/>
          </a:prstGeom>
          <a:noFill/>
          <a:ln/>
        </p:spPr>
        <p:txBody>
          <a:bodyPr wrap="square" lIns="0" tIns="0" rIns="0" bIns="0" rtlCol="0" anchor="ctr">
            <a:normAutofit/>
          </a:bodyPr>
          <a:lstStyle/>
          <a:p>
            <a:pPr marL="0" indent="0">
              <a:buNone/>
            </a:pPr>
            <a:r>
              <a:rPr lang="en-US" sz="650" dirty="0">
                <a:solidFill>
                  <a:srgbClr val="A7B3C6"/>
                </a:solidFill>
                <a:latin typeface="Aptos" pitchFamily="34" charset="0"/>
                <a:ea typeface="Aptos" pitchFamily="34" charset="-122"/>
                <a:cs typeface="Aptos" pitchFamily="34" charset="-120"/>
              </a:rPr>
              <a:t>Production clinical tools need security, IT, compliance, and professional engineering review.</a:t>
            </a:r>
            <a:endParaRPr lang="en-US" sz="650" dirty="0"/>
          </a:p>
        </p:txBody>
      </p:sp>
      <p:sp>
        <p:nvSpPr>
          <p:cNvPr id="37" name="Text 29"/>
          <p:cNvSpPr/>
          <p:nvPr/>
        </p:nvSpPr>
        <p:spPr>
          <a:xfrm>
            <a:off x="914400" y="4251960"/>
            <a:ext cx="7315200" cy="128016"/>
          </a:xfrm>
          <a:prstGeom prst="rect">
            <a:avLst/>
          </a:prstGeom>
          <a:noFill/>
          <a:ln/>
        </p:spPr>
        <p:txBody>
          <a:bodyPr wrap="square" lIns="0" tIns="0" rIns="0" bIns="0" rtlCol="0" anchor="ctr"/>
          <a:lstStyle/>
          <a:p>
            <a:pPr marL="0" indent="0" algn="ctr">
              <a:buNone/>
            </a:pPr>
            <a:r>
              <a:rPr lang="en-US" sz="580" dirty="0">
                <a:solidFill>
                  <a:srgbClr val="778397"/>
                </a:solidFill>
                <a:latin typeface="Aptos" pitchFamily="34" charset="0"/>
                <a:ea typeface="Aptos" pitchFamily="34" charset="-122"/>
                <a:cs typeface="Aptos" pitchFamily="34" charset="-120"/>
              </a:rPr>
              <a:t>Sources for guardrail framing: FDA mobile medical app examples • HHS HIPAA de-identification guidance • NIST AI RMF</a:t>
            </a:r>
            <a:endParaRPr lang="en-US" sz="58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70D1A"/>
        </a:solidFill>
        <a:effectLst/>
      </p:bgPr>
    </p:bg>
    <p:spTree>
      <p:nvGrpSpPr>
        <p:cNvPr id="1" name=""/>
        <p:cNvGrpSpPr/>
        <p:nvPr/>
      </p:nvGrpSpPr>
      <p:grpSpPr>
        <a:xfrm>
          <a:off x="0" y="0"/>
          <a:ext cx="0" cy="0"/>
          <a:chOff x="0" y="0"/>
          <a:chExt cx="0" cy="0"/>
        </a:xfrm>
      </p:grpSpPr>
      <p:sp>
        <p:nvSpPr>
          <p:cNvPr id="2" name="Text 0"/>
          <p:cNvSpPr/>
          <p:nvPr/>
        </p:nvSpPr>
        <p:spPr>
          <a:xfrm>
            <a:off x="411480" y="274320"/>
            <a:ext cx="3474720" cy="146304"/>
          </a:xfrm>
          <a:prstGeom prst="rect">
            <a:avLst/>
          </a:prstGeom>
          <a:noFill/>
          <a:ln/>
        </p:spPr>
        <p:txBody>
          <a:bodyPr wrap="square" lIns="0" tIns="0" rIns="0" bIns="0" rtlCol="0" anchor="ctr"/>
          <a:lstStyle/>
          <a:p>
            <a:pPr marL="0" indent="0">
              <a:buNone/>
            </a:pPr>
            <a:r>
              <a:rPr lang="en-US" sz="650" b="1" dirty="0">
                <a:solidFill>
                  <a:srgbClr val="12BFE2"/>
                </a:solidFill>
                <a:latin typeface="Aptos" pitchFamily="34" charset="0"/>
                <a:ea typeface="Aptos" pitchFamily="34" charset="-122"/>
                <a:cs typeface="Aptos" pitchFamily="34" charset="-120"/>
              </a:rPr>
              <a:t>PROMPT PATTERN</a:t>
            </a:r>
            <a:endParaRPr lang="en-US" sz="650" dirty="0"/>
          </a:p>
        </p:txBody>
      </p:sp>
      <p:sp>
        <p:nvSpPr>
          <p:cNvPr id="3" name="Text 1"/>
          <p:cNvSpPr/>
          <p:nvPr/>
        </p:nvSpPr>
        <p:spPr>
          <a:xfrm>
            <a:off x="411480" y="612648"/>
            <a:ext cx="5669280" cy="384048"/>
          </a:xfrm>
          <a:prstGeom prst="rect">
            <a:avLst/>
          </a:prstGeom>
          <a:noFill/>
          <a:ln/>
        </p:spPr>
        <p:txBody>
          <a:bodyPr wrap="square" lIns="0" tIns="0" rIns="0" bIns="0" rtlCol="0" anchor="ctr">
            <a:normAutofit/>
          </a:bodyPr>
          <a:lstStyle/>
          <a:p>
            <a:pPr marL="0" indent="0">
              <a:buNone/>
            </a:pPr>
            <a:r>
              <a:rPr lang="en-US" sz="2100" b="1" dirty="0">
                <a:solidFill>
                  <a:srgbClr val="F8FAFC"/>
                </a:solidFill>
                <a:latin typeface="Aptos Display" pitchFamily="34" charset="0"/>
                <a:ea typeface="Aptos Display" pitchFamily="34" charset="-122"/>
                <a:cs typeface="Aptos Display" pitchFamily="34" charset="-120"/>
              </a:rPr>
              <a:t>Reusable prompt for a bounded pass</a:t>
            </a:r>
            <a:endParaRPr lang="en-US" sz="2100" dirty="0"/>
          </a:p>
        </p:txBody>
      </p:sp>
      <p:sp>
        <p:nvSpPr>
          <p:cNvPr id="4" name="Text 2"/>
          <p:cNvSpPr/>
          <p:nvPr/>
        </p:nvSpPr>
        <p:spPr>
          <a:xfrm>
            <a:off x="411480" y="4828032"/>
            <a:ext cx="4754880" cy="109728"/>
          </a:xfrm>
          <a:prstGeom prst="rect">
            <a:avLst/>
          </a:prstGeom>
          <a:noFill/>
          <a:ln/>
        </p:spPr>
        <p:txBody>
          <a:bodyPr wrap="square" lIns="0" tIns="0" rIns="0" bIns="0" rtlCol="0" anchor="ctr"/>
          <a:lstStyle/>
          <a:p>
            <a:pPr marL="0" indent="0">
              <a:buNone/>
            </a:pPr>
            <a:r>
              <a:rPr lang="en-US" sz="550" dirty="0">
                <a:solidFill>
                  <a:srgbClr val="5F6B7A"/>
                </a:solidFill>
                <a:latin typeface="Aptos" pitchFamily="34" charset="0"/>
                <a:ea typeface="Aptos" pitchFamily="34" charset="-122"/>
                <a:cs typeface="Aptos" pitchFamily="34" charset="-120"/>
              </a:rPr>
              <a:t>AABIP Webinar 2026  |  AI in Interventional Pulmonology</a:t>
            </a:r>
            <a:endParaRPr lang="en-US" sz="550" dirty="0"/>
          </a:p>
        </p:txBody>
      </p:sp>
      <p:sp>
        <p:nvSpPr>
          <p:cNvPr id="5" name="Text 3"/>
          <p:cNvSpPr/>
          <p:nvPr/>
        </p:nvSpPr>
        <p:spPr>
          <a:xfrm>
            <a:off x="8366760" y="4828032"/>
            <a:ext cx="365760" cy="109728"/>
          </a:xfrm>
          <a:prstGeom prst="rect">
            <a:avLst/>
          </a:prstGeom>
          <a:noFill/>
          <a:ln/>
        </p:spPr>
        <p:txBody>
          <a:bodyPr wrap="square" lIns="0" tIns="0" rIns="0" bIns="0" rtlCol="0" anchor="ctr"/>
          <a:lstStyle/>
          <a:p>
            <a:pPr marL="0" indent="0" algn="r">
              <a:buNone/>
            </a:pPr>
            <a:r>
              <a:rPr lang="en-US" sz="550" dirty="0">
                <a:solidFill>
                  <a:srgbClr val="5F6B7A"/>
                </a:solidFill>
                <a:latin typeface="Aptos" pitchFamily="34" charset="0"/>
                <a:ea typeface="Aptos" pitchFamily="34" charset="-122"/>
                <a:cs typeface="Aptos" pitchFamily="34" charset="-120"/>
              </a:rPr>
              <a:t>20 / 22</a:t>
            </a:r>
            <a:endParaRPr lang="en-US" sz="550" dirty="0"/>
          </a:p>
        </p:txBody>
      </p:sp>
      <p:sp>
        <p:nvSpPr>
          <p:cNvPr id="6" name="Shape 4"/>
          <p:cNvSpPr/>
          <p:nvPr/>
        </p:nvSpPr>
        <p:spPr>
          <a:xfrm>
            <a:off x="411480" y="1060704"/>
            <a:ext cx="1143000" cy="0"/>
          </a:xfrm>
          <a:prstGeom prst="line">
            <a:avLst/>
          </a:prstGeom>
          <a:noFill/>
          <a:ln w="15240">
            <a:solidFill>
              <a:srgbClr val="12BFE2"/>
            </a:solidFill>
            <a:prstDash val="solid"/>
          </a:ln>
        </p:spPr>
        <p:txBody>
          <a:bodyPr/>
          <a:lstStyle/>
          <a:p>
            <a:endParaRPr lang="en-US"/>
          </a:p>
        </p:txBody>
      </p:sp>
      <p:sp>
        <p:nvSpPr>
          <p:cNvPr id="7" name="Shape 5"/>
          <p:cNvSpPr/>
          <p:nvPr/>
        </p:nvSpPr>
        <p:spPr>
          <a:xfrm>
            <a:off x="731520" y="1207008"/>
            <a:ext cx="7680960" cy="2971800"/>
          </a:xfrm>
          <a:prstGeom prst="roundRect">
            <a:avLst/>
          </a:prstGeom>
          <a:solidFill>
            <a:srgbClr val="020617"/>
          </a:solidFill>
          <a:ln w="10160">
            <a:solidFill>
              <a:srgbClr val="1E293B"/>
            </a:solidFill>
            <a:prstDash val="solid"/>
          </a:ln>
        </p:spPr>
        <p:txBody>
          <a:bodyPr/>
          <a:lstStyle/>
          <a:p>
            <a:endParaRPr lang="en-US"/>
          </a:p>
        </p:txBody>
      </p:sp>
      <p:sp>
        <p:nvSpPr>
          <p:cNvPr id="8" name="Text 6"/>
          <p:cNvSpPr/>
          <p:nvPr/>
        </p:nvSpPr>
        <p:spPr>
          <a:xfrm>
            <a:off x="1005840" y="1508760"/>
            <a:ext cx="7178040" cy="2395728"/>
          </a:xfrm>
          <a:prstGeom prst="rect">
            <a:avLst/>
          </a:prstGeom>
          <a:noFill/>
          <a:ln/>
        </p:spPr>
        <p:txBody>
          <a:bodyPr wrap="square" lIns="0" tIns="0" rIns="0" bIns="0" rtlCol="0" anchor="ctr">
            <a:normAutofit/>
          </a:bodyPr>
          <a:lstStyle/>
          <a:p>
            <a:pPr marL="0" indent="0">
              <a:buNone/>
            </a:pPr>
            <a:r>
              <a:rPr lang="en-US" sz="670" dirty="0">
                <a:solidFill>
                  <a:srgbClr val="D1D5DB"/>
                </a:solidFill>
                <a:latin typeface="Courier New" pitchFamily="34" charset="0"/>
                <a:ea typeface="Courier New" pitchFamily="34" charset="-122"/>
                <a:cs typeface="Courier New" pitchFamily="34" charset="-120"/>
              </a:rPr>
              <a:t>Build one bounded pass only.</a:t>
            </a:r>
            <a:endParaRPr lang="en-US" sz="670" dirty="0"/>
          </a:p>
          <a:p>
            <a:pPr marL="0" indent="0">
              <a:buNone/>
            </a:pPr>
            <a:endParaRPr lang="en-US" sz="670" dirty="0"/>
          </a:p>
          <a:p>
            <a:pPr marL="0" indent="0">
              <a:buNone/>
            </a:pPr>
            <a:r>
              <a:rPr lang="en-US" sz="670" dirty="0">
                <a:solidFill>
                  <a:srgbClr val="D1D5DB"/>
                </a:solidFill>
                <a:latin typeface="Courier New" pitchFamily="34" charset="0"/>
                <a:ea typeface="Courier New" pitchFamily="34" charset="-122"/>
                <a:cs typeface="Courier New" pitchFamily="34" charset="-120"/>
              </a:rPr>
              <a:t>Use the existing app structure and content schemas.</a:t>
            </a:r>
            <a:endParaRPr lang="en-US" sz="670" dirty="0"/>
          </a:p>
          <a:p>
            <a:pPr marL="0" indent="0">
              <a:buNone/>
            </a:pPr>
            <a:r>
              <a:rPr lang="en-US" sz="670" dirty="0">
                <a:solidFill>
                  <a:srgbClr val="D1D5DB"/>
                </a:solidFill>
                <a:latin typeface="Courier New" pitchFamily="34" charset="0"/>
                <a:ea typeface="Courier New" pitchFamily="34" charset="-122"/>
                <a:cs typeface="Courier New" pitchFamily="34" charset="-120"/>
              </a:rPr>
              <a:t>Keep curriculum text in local JSON/Markdown.</a:t>
            </a:r>
            <a:endParaRPr lang="en-US" sz="670" dirty="0"/>
          </a:p>
          <a:p>
            <a:pPr marL="0" indent="0">
              <a:buNone/>
            </a:pPr>
            <a:r>
              <a:rPr lang="en-US" sz="670" dirty="0">
                <a:solidFill>
                  <a:srgbClr val="D1D5DB"/>
                </a:solidFill>
                <a:latin typeface="Courier New" pitchFamily="34" charset="0"/>
                <a:ea typeface="Courier New" pitchFamily="34" charset="-122"/>
                <a:cs typeface="Courier New" pitchFamily="34" charset="-120"/>
              </a:rPr>
              <a:t>Do not add PHI, copyrighted screenshots, or clinical-diagnostic claims.</a:t>
            </a:r>
            <a:endParaRPr lang="en-US" sz="670" dirty="0"/>
          </a:p>
          <a:p>
            <a:pPr marL="0" indent="0">
              <a:buNone/>
            </a:pPr>
            <a:r>
              <a:rPr lang="en-US" sz="670" dirty="0">
                <a:solidFill>
                  <a:srgbClr val="D1D5DB"/>
                </a:solidFill>
                <a:latin typeface="Courier New" pitchFamily="34" charset="0"/>
                <a:ea typeface="Courier New" pitchFamily="34" charset="-122"/>
                <a:cs typeface="Courier New" pitchFamily="34" charset="-120"/>
              </a:rPr>
              <a:t>Do not add new dependencies without asking.</a:t>
            </a:r>
            <a:endParaRPr lang="en-US" sz="670" dirty="0"/>
          </a:p>
          <a:p>
            <a:pPr marL="0" indent="0">
              <a:buNone/>
            </a:pPr>
            <a:endParaRPr lang="en-US" sz="670" dirty="0"/>
          </a:p>
          <a:p>
            <a:pPr marL="0" indent="0">
              <a:buNone/>
            </a:pPr>
            <a:r>
              <a:rPr lang="en-US" sz="670" dirty="0">
                <a:solidFill>
                  <a:srgbClr val="D1D5DB"/>
                </a:solidFill>
                <a:latin typeface="Courier New" pitchFamily="34" charset="0"/>
                <a:ea typeface="Courier New" pitchFamily="34" charset="-122"/>
                <a:cs typeface="Courier New" pitchFamily="34" charset="-120"/>
              </a:rPr>
              <a:t>Feature: [specific learner task]</a:t>
            </a:r>
            <a:endParaRPr lang="en-US" sz="670" dirty="0"/>
          </a:p>
          <a:p>
            <a:pPr marL="0" indent="0">
              <a:buNone/>
            </a:pPr>
            <a:r>
              <a:rPr lang="en-US" sz="670" dirty="0">
                <a:solidFill>
                  <a:srgbClr val="D1D5DB"/>
                </a:solidFill>
                <a:latin typeface="Courier New" pitchFamily="34" charset="0"/>
                <a:ea typeface="Courier New" pitchFamily="34" charset="-122"/>
                <a:cs typeface="Courier New" pitchFamily="34" charset="-120"/>
              </a:rPr>
              <a:t>The learner should see/do/answer [behavior], receive immediate feedback,</a:t>
            </a:r>
            <a:endParaRPr lang="en-US" sz="670" dirty="0"/>
          </a:p>
          <a:p>
            <a:pPr marL="0" indent="0">
              <a:buNone/>
            </a:pPr>
            <a:r>
              <a:rPr lang="en-US" sz="670" dirty="0">
                <a:solidFill>
                  <a:srgbClr val="D1D5DB"/>
                </a:solidFill>
                <a:latin typeface="Courier New" pitchFamily="34" charset="0"/>
                <a:ea typeface="Courier New" pitchFamily="34" charset="-122"/>
                <a:cs typeface="Courier New" pitchFamily="34" charset="-120"/>
              </a:rPr>
              <a:t>and have progress saved locally.</a:t>
            </a:r>
            <a:endParaRPr lang="en-US" sz="670" dirty="0"/>
          </a:p>
          <a:p>
            <a:pPr marL="0" indent="0">
              <a:buNone/>
            </a:pPr>
            <a:endParaRPr lang="en-US" sz="670" dirty="0"/>
          </a:p>
          <a:p>
            <a:pPr marL="0" indent="0">
              <a:buNone/>
            </a:pPr>
            <a:r>
              <a:rPr lang="en-US" sz="670" dirty="0">
                <a:solidFill>
                  <a:srgbClr val="D1D5DB"/>
                </a:solidFill>
                <a:latin typeface="Courier New" pitchFamily="34" charset="0"/>
                <a:ea typeface="Courier New" pitchFamily="34" charset="-122"/>
                <a:cs typeface="Courier New" pitchFamily="34" charset="-120"/>
              </a:rPr>
              <a:t>Add or update focused tests for scoring/state transitions.</a:t>
            </a:r>
            <a:endParaRPr lang="en-US" sz="670" dirty="0"/>
          </a:p>
          <a:p>
            <a:pPr marL="0" indent="0">
              <a:buNone/>
            </a:pPr>
            <a:r>
              <a:rPr lang="en-US" sz="670" dirty="0">
                <a:solidFill>
                  <a:srgbClr val="D1D5DB"/>
                </a:solidFill>
                <a:latin typeface="Courier New" pitchFamily="34" charset="0"/>
                <a:ea typeface="Courier New" pitchFamily="34" charset="-122"/>
                <a:cs typeface="Courier New" pitchFamily="34" charset="-120"/>
              </a:rPr>
              <a:t>Run typecheck, tests, and build.</a:t>
            </a:r>
            <a:endParaRPr lang="en-US" sz="670" dirty="0"/>
          </a:p>
          <a:p>
            <a:pPr marL="0" indent="0">
              <a:buNone/>
            </a:pPr>
            <a:endParaRPr lang="en-US" sz="670" dirty="0"/>
          </a:p>
          <a:p>
            <a:pPr marL="0" indent="0">
              <a:buNone/>
            </a:pPr>
            <a:r>
              <a:rPr lang="en-US" sz="670" dirty="0">
                <a:solidFill>
                  <a:srgbClr val="D1D5DB"/>
                </a:solidFill>
                <a:latin typeface="Courier New" pitchFamily="34" charset="0"/>
                <a:ea typeface="Courier New" pitchFamily="34" charset="-122"/>
                <a:cs typeface="Courier New" pitchFamily="34" charset="-120"/>
              </a:rPr>
              <a:t>End with exact files changed, commands run, results, and known limitations.</a:t>
            </a:r>
            <a:endParaRPr lang="en-US" sz="670" dirty="0"/>
          </a:p>
        </p:txBody>
      </p:sp>
      <p:sp>
        <p:nvSpPr>
          <p:cNvPr id="9" name="Text 7"/>
          <p:cNvSpPr/>
          <p:nvPr/>
        </p:nvSpPr>
        <p:spPr>
          <a:xfrm>
            <a:off x="1143000" y="4370832"/>
            <a:ext cx="6858000" cy="164592"/>
          </a:xfrm>
          <a:prstGeom prst="rect">
            <a:avLst/>
          </a:prstGeom>
          <a:noFill/>
          <a:ln/>
        </p:spPr>
        <p:txBody>
          <a:bodyPr wrap="square" lIns="0" tIns="0" rIns="0" bIns="0" rtlCol="0" anchor="ctr"/>
          <a:lstStyle/>
          <a:p>
            <a:pPr marL="0" indent="0" algn="ctr">
              <a:buNone/>
            </a:pPr>
            <a:r>
              <a:rPr lang="en-US" sz="1400" b="1" dirty="0">
                <a:solidFill>
                  <a:srgbClr val="F59E0B"/>
                </a:solidFill>
                <a:latin typeface="Aptos Display" pitchFamily="34" charset="0"/>
                <a:ea typeface="Aptos Display" pitchFamily="34" charset="-122"/>
                <a:cs typeface="Aptos Display" pitchFamily="34" charset="-120"/>
              </a:rPr>
              <a:t>A good prompt constrains scope and defines evidence.</a:t>
            </a:r>
            <a:endParaRPr lang="en-US" sz="14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70D1A"/>
        </a:solidFill>
        <a:effectLst/>
      </p:bgPr>
    </p:bg>
    <p:spTree>
      <p:nvGrpSpPr>
        <p:cNvPr id="1" name=""/>
        <p:cNvGrpSpPr/>
        <p:nvPr/>
      </p:nvGrpSpPr>
      <p:grpSpPr>
        <a:xfrm>
          <a:off x="0" y="0"/>
          <a:ext cx="0" cy="0"/>
          <a:chOff x="0" y="0"/>
          <a:chExt cx="0" cy="0"/>
        </a:xfrm>
      </p:grpSpPr>
      <p:sp>
        <p:nvSpPr>
          <p:cNvPr id="2" name="Text 0"/>
          <p:cNvSpPr/>
          <p:nvPr/>
        </p:nvSpPr>
        <p:spPr>
          <a:xfrm>
            <a:off x="411480" y="274320"/>
            <a:ext cx="3474720" cy="146304"/>
          </a:xfrm>
          <a:prstGeom prst="rect">
            <a:avLst/>
          </a:prstGeom>
          <a:noFill/>
          <a:ln/>
        </p:spPr>
        <p:txBody>
          <a:bodyPr wrap="square" lIns="0" tIns="0" rIns="0" bIns="0" rtlCol="0" anchor="ctr"/>
          <a:lstStyle/>
          <a:p>
            <a:pPr marL="0" indent="0">
              <a:buNone/>
            </a:pPr>
            <a:r>
              <a:rPr lang="en-US" sz="650" b="1" dirty="0">
                <a:solidFill>
                  <a:srgbClr val="12BFE2"/>
                </a:solidFill>
                <a:latin typeface="Aptos" pitchFamily="34" charset="0"/>
                <a:ea typeface="Aptos" pitchFamily="34" charset="-122"/>
                <a:cs typeface="Aptos" pitchFamily="34" charset="-120"/>
              </a:rPr>
              <a:t>GETTING STARTED</a:t>
            </a:r>
            <a:endParaRPr lang="en-US" sz="650" dirty="0"/>
          </a:p>
        </p:txBody>
      </p:sp>
      <p:sp>
        <p:nvSpPr>
          <p:cNvPr id="3" name="Text 1"/>
          <p:cNvSpPr/>
          <p:nvPr/>
        </p:nvSpPr>
        <p:spPr>
          <a:xfrm>
            <a:off x="411480" y="612648"/>
            <a:ext cx="5669280" cy="384048"/>
          </a:xfrm>
          <a:prstGeom prst="rect">
            <a:avLst/>
          </a:prstGeom>
          <a:noFill/>
          <a:ln/>
        </p:spPr>
        <p:txBody>
          <a:bodyPr wrap="square" lIns="0" tIns="0" rIns="0" bIns="0" rtlCol="0" anchor="ctr">
            <a:normAutofit/>
          </a:bodyPr>
          <a:lstStyle/>
          <a:p>
            <a:pPr marL="0" indent="0">
              <a:buNone/>
            </a:pPr>
            <a:r>
              <a:rPr lang="en-US" sz="2100" b="1" dirty="0">
                <a:solidFill>
                  <a:srgbClr val="F8FAFC"/>
                </a:solidFill>
                <a:latin typeface="Aptos Display" pitchFamily="34" charset="0"/>
                <a:ea typeface="Aptos Display" pitchFamily="34" charset="-122"/>
                <a:cs typeface="Aptos Display" pitchFamily="34" charset="-120"/>
              </a:rPr>
              <a:t>Your first dabble this week</a:t>
            </a:r>
            <a:endParaRPr lang="en-US" sz="2100" dirty="0"/>
          </a:p>
        </p:txBody>
      </p:sp>
      <p:sp>
        <p:nvSpPr>
          <p:cNvPr id="4" name="Text 2"/>
          <p:cNvSpPr/>
          <p:nvPr/>
        </p:nvSpPr>
        <p:spPr>
          <a:xfrm>
            <a:off x="411480" y="4828032"/>
            <a:ext cx="4754880" cy="109728"/>
          </a:xfrm>
          <a:prstGeom prst="rect">
            <a:avLst/>
          </a:prstGeom>
          <a:noFill/>
          <a:ln/>
        </p:spPr>
        <p:txBody>
          <a:bodyPr wrap="square" lIns="0" tIns="0" rIns="0" bIns="0" rtlCol="0" anchor="ctr"/>
          <a:lstStyle/>
          <a:p>
            <a:pPr marL="0" indent="0">
              <a:buNone/>
            </a:pPr>
            <a:r>
              <a:rPr lang="en-US" sz="550" dirty="0">
                <a:solidFill>
                  <a:srgbClr val="5F6B7A"/>
                </a:solidFill>
                <a:latin typeface="Aptos" pitchFamily="34" charset="0"/>
                <a:ea typeface="Aptos" pitchFamily="34" charset="-122"/>
                <a:cs typeface="Aptos" pitchFamily="34" charset="-120"/>
              </a:rPr>
              <a:t>AABIP Webinar 2026  |  AI in Interventional Pulmonology</a:t>
            </a:r>
            <a:endParaRPr lang="en-US" sz="550" dirty="0"/>
          </a:p>
        </p:txBody>
      </p:sp>
      <p:sp>
        <p:nvSpPr>
          <p:cNvPr id="5" name="Text 3"/>
          <p:cNvSpPr/>
          <p:nvPr/>
        </p:nvSpPr>
        <p:spPr>
          <a:xfrm>
            <a:off x="8366760" y="4828032"/>
            <a:ext cx="365760" cy="109728"/>
          </a:xfrm>
          <a:prstGeom prst="rect">
            <a:avLst/>
          </a:prstGeom>
          <a:noFill/>
          <a:ln/>
        </p:spPr>
        <p:txBody>
          <a:bodyPr wrap="square" lIns="0" tIns="0" rIns="0" bIns="0" rtlCol="0" anchor="ctr"/>
          <a:lstStyle/>
          <a:p>
            <a:pPr marL="0" indent="0" algn="r">
              <a:buNone/>
            </a:pPr>
            <a:r>
              <a:rPr lang="en-US" sz="550" dirty="0">
                <a:solidFill>
                  <a:srgbClr val="5F6B7A"/>
                </a:solidFill>
                <a:latin typeface="Aptos" pitchFamily="34" charset="0"/>
                <a:ea typeface="Aptos" pitchFamily="34" charset="-122"/>
                <a:cs typeface="Aptos" pitchFamily="34" charset="-120"/>
              </a:rPr>
              <a:t>21 / 22</a:t>
            </a:r>
            <a:endParaRPr lang="en-US" sz="550" dirty="0"/>
          </a:p>
        </p:txBody>
      </p:sp>
      <p:sp>
        <p:nvSpPr>
          <p:cNvPr id="6" name="Shape 4"/>
          <p:cNvSpPr/>
          <p:nvPr/>
        </p:nvSpPr>
        <p:spPr>
          <a:xfrm>
            <a:off x="411480" y="1060704"/>
            <a:ext cx="1143000" cy="0"/>
          </a:xfrm>
          <a:prstGeom prst="line">
            <a:avLst/>
          </a:prstGeom>
          <a:noFill/>
          <a:ln w="15240">
            <a:solidFill>
              <a:srgbClr val="12BFE2"/>
            </a:solidFill>
            <a:prstDash val="solid"/>
          </a:ln>
        </p:spPr>
        <p:txBody>
          <a:bodyPr/>
          <a:lstStyle/>
          <a:p>
            <a:endParaRPr lang="en-US"/>
          </a:p>
        </p:txBody>
      </p:sp>
      <p:sp>
        <p:nvSpPr>
          <p:cNvPr id="7" name="Shape 5"/>
          <p:cNvSpPr/>
          <p:nvPr/>
        </p:nvSpPr>
        <p:spPr>
          <a:xfrm>
            <a:off x="685800" y="1170432"/>
            <a:ext cx="347472" cy="347472"/>
          </a:xfrm>
          <a:prstGeom prst="ellipse">
            <a:avLst/>
          </a:prstGeom>
          <a:solidFill>
            <a:srgbClr val="F59E0B"/>
          </a:solidFill>
          <a:ln w="12700">
            <a:solidFill>
              <a:srgbClr val="F59E0B"/>
            </a:solidFill>
            <a:prstDash val="solid"/>
          </a:ln>
        </p:spPr>
        <p:txBody>
          <a:bodyPr/>
          <a:lstStyle/>
          <a:p>
            <a:endParaRPr lang="en-US"/>
          </a:p>
        </p:txBody>
      </p:sp>
      <p:sp>
        <p:nvSpPr>
          <p:cNvPr id="8" name="Text 6"/>
          <p:cNvSpPr/>
          <p:nvPr/>
        </p:nvSpPr>
        <p:spPr>
          <a:xfrm>
            <a:off x="685800" y="1252728"/>
            <a:ext cx="347472" cy="91440"/>
          </a:xfrm>
          <a:prstGeom prst="rect">
            <a:avLst/>
          </a:prstGeom>
          <a:noFill/>
          <a:ln/>
        </p:spPr>
        <p:txBody>
          <a:bodyPr wrap="square" lIns="0" tIns="0" rIns="0" bIns="0" rtlCol="0" anchor="ctr"/>
          <a:lstStyle/>
          <a:p>
            <a:pPr marL="0" indent="0" algn="ctr">
              <a:buNone/>
            </a:pPr>
            <a:r>
              <a:rPr lang="en-US" sz="660" b="1" dirty="0">
                <a:solidFill>
                  <a:srgbClr val="070D1A"/>
                </a:solidFill>
              </a:rPr>
              <a:t>1</a:t>
            </a:r>
            <a:endParaRPr lang="en-US" sz="660" dirty="0"/>
          </a:p>
        </p:txBody>
      </p:sp>
      <p:sp>
        <p:nvSpPr>
          <p:cNvPr id="9" name="Text 7"/>
          <p:cNvSpPr/>
          <p:nvPr/>
        </p:nvSpPr>
        <p:spPr>
          <a:xfrm>
            <a:off x="1188720" y="1188720"/>
            <a:ext cx="1828800" cy="155448"/>
          </a:xfrm>
          <a:prstGeom prst="rect">
            <a:avLst/>
          </a:prstGeom>
          <a:noFill/>
          <a:ln/>
        </p:spPr>
        <p:txBody>
          <a:bodyPr wrap="square" lIns="0" tIns="0" rIns="0" bIns="0" rtlCol="0" anchor="ctr"/>
          <a:lstStyle/>
          <a:p>
            <a:pPr marL="0" indent="0">
              <a:buNone/>
            </a:pPr>
            <a:r>
              <a:rPr lang="en-US" sz="950" b="1" dirty="0">
                <a:solidFill>
                  <a:srgbClr val="F8FAFC"/>
                </a:solidFill>
                <a:latin typeface="Aptos" pitchFamily="34" charset="0"/>
                <a:ea typeface="Aptos" pitchFamily="34" charset="-122"/>
                <a:cs typeface="Aptos" pitchFamily="34" charset="-120"/>
              </a:rPr>
              <a:t>Pick one tiny loop</a:t>
            </a:r>
            <a:endParaRPr lang="en-US" sz="950" dirty="0"/>
          </a:p>
        </p:txBody>
      </p:sp>
      <p:sp>
        <p:nvSpPr>
          <p:cNvPr id="10" name="Text 8"/>
          <p:cNvSpPr/>
          <p:nvPr/>
        </p:nvSpPr>
        <p:spPr>
          <a:xfrm>
            <a:off x="3246120" y="1188720"/>
            <a:ext cx="3840480" cy="155448"/>
          </a:xfrm>
          <a:prstGeom prst="rect">
            <a:avLst/>
          </a:prstGeom>
          <a:noFill/>
          <a:ln/>
        </p:spPr>
        <p:txBody>
          <a:bodyPr wrap="square" lIns="0" tIns="0" rIns="0" bIns="0" rtlCol="0" anchor="ctr">
            <a:normAutofit/>
          </a:bodyPr>
          <a:lstStyle/>
          <a:p>
            <a:pPr marL="0" indent="0">
              <a:buNone/>
            </a:pPr>
            <a:r>
              <a:rPr lang="en-US" sz="750" dirty="0">
                <a:solidFill>
                  <a:srgbClr val="A7B3C6"/>
                </a:solidFill>
                <a:latin typeface="Aptos" pitchFamily="34" charset="0"/>
                <a:ea typeface="Aptos" pitchFamily="34" charset="-122"/>
                <a:cs typeface="Aptos" pitchFamily="34" charset="-120"/>
              </a:rPr>
              <a:t>one learner, one task, one repeated mistake</a:t>
            </a:r>
            <a:endParaRPr lang="en-US" sz="750" dirty="0"/>
          </a:p>
        </p:txBody>
      </p:sp>
      <p:sp>
        <p:nvSpPr>
          <p:cNvPr id="11" name="Shape 9"/>
          <p:cNvSpPr/>
          <p:nvPr/>
        </p:nvSpPr>
        <p:spPr>
          <a:xfrm>
            <a:off x="685800" y="1783080"/>
            <a:ext cx="347472" cy="347472"/>
          </a:xfrm>
          <a:prstGeom prst="ellipse">
            <a:avLst/>
          </a:prstGeom>
          <a:solidFill>
            <a:srgbClr val="12BFE2"/>
          </a:solidFill>
          <a:ln w="12700">
            <a:solidFill>
              <a:srgbClr val="12BFE2"/>
            </a:solidFill>
            <a:prstDash val="solid"/>
          </a:ln>
        </p:spPr>
        <p:txBody>
          <a:bodyPr/>
          <a:lstStyle/>
          <a:p>
            <a:endParaRPr lang="en-US"/>
          </a:p>
        </p:txBody>
      </p:sp>
      <p:sp>
        <p:nvSpPr>
          <p:cNvPr id="12" name="Text 10"/>
          <p:cNvSpPr/>
          <p:nvPr/>
        </p:nvSpPr>
        <p:spPr>
          <a:xfrm>
            <a:off x="685800" y="1865376"/>
            <a:ext cx="347472" cy="91440"/>
          </a:xfrm>
          <a:prstGeom prst="rect">
            <a:avLst/>
          </a:prstGeom>
          <a:noFill/>
          <a:ln/>
        </p:spPr>
        <p:txBody>
          <a:bodyPr wrap="square" lIns="0" tIns="0" rIns="0" bIns="0" rtlCol="0" anchor="ctr"/>
          <a:lstStyle/>
          <a:p>
            <a:pPr marL="0" indent="0" algn="ctr">
              <a:buNone/>
            </a:pPr>
            <a:r>
              <a:rPr lang="en-US" sz="660" b="1" dirty="0">
                <a:solidFill>
                  <a:srgbClr val="070D1A"/>
                </a:solidFill>
              </a:rPr>
              <a:t>2</a:t>
            </a:r>
            <a:endParaRPr lang="en-US" sz="660" dirty="0"/>
          </a:p>
        </p:txBody>
      </p:sp>
      <p:sp>
        <p:nvSpPr>
          <p:cNvPr id="13" name="Text 11"/>
          <p:cNvSpPr/>
          <p:nvPr/>
        </p:nvSpPr>
        <p:spPr>
          <a:xfrm>
            <a:off x="1188720" y="1801368"/>
            <a:ext cx="1828800" cy="155448"/>
          </a:xfrm>
          <a:prstGeom prst="rect">
            <a:avLst/>
          </a:prstGeom>
          <a:noFill/>
          <a:ln/>
        </p:spPr>
        <p:txBody>
          <a:bodyPr wrap="square" lIns="0" tIns="0" rIns="0" bIns="0" rtlCol="0" anchor="ctr"/>
          <a:lstStyle/>
          <a:p>
            <a:pPr marL="0" indent="0">
              <a:buNone/>
            </a:pPr>
            <a:r>
              <a:rPr lang="en-US" sz="950" b="1" dirty="0">
                <a:solidFill>
                  <a:srgbClr val="F8FAFC"/>
                </a:solidFill>
                <a:latin typeface="Aptos" pitchFamily="34" charset="0"/>
                <a:ea typeface="Aptos" pitchFamily="34" charset="-122"/>
                <a:cs typeface="Aptos" pitchFamily="34" charset="-120"/>
              </a:rPr>
              <a:t>Write a one-page spec</a:t>
            </a:r>
            <a:endParaRPr lang="en-US" sz="950" dirty="0"/>
          </a:p>
        </p:txBody>
      </p:sp>
      <p:sp>
        <p:nvSpPr>
          <p:cNvPr id="14" name="Text 12"/>
          <p:cNvSpPr/>
          <p:nvPr/>
        </p:nvSpPr>
        <p:spPr>
          <a:xfrm>
            <a:off x="3246120" y="1801368"/>
            <a:ext cx="3840480" cy="155448"/>
          </a:xfrm>
          <a:prstGeom prst="rect">
            <a:avLst/>
          </a:prstGeom>
          <a:noFill/>
          <a:ln/>
        </p:spPr>
        <p:txBody>
          <a:bodyPr wrap="square" lIns="0" tIns="0" rIns="0" bIns="0" rtlCol="0" anchor="ctr">
            <a:normAutofit/>
          </a:bodyPr>
          <a:lstStyle/>
          <a:p>
            <a:pPr marL="0" indent="0">
              <a:buNone/>
            </a:pPr>
            <a:r>
              <a:rPr lang="en-US" sz="750" dirty="0">
                <a:solidFill>
                  <a:srgbClr val="A7B3C6"/>
                </a:solidFill>
                <a:latin typeface="Aptos" pitchFamily="34" charset="0"/>
                <a:ea typeface="Aptos" pitchFamily="34" charset="-122"/>
                <a:cs typeface="Aptos" pitchFamily="34" charset="-120"/>
              </a:rPr>
              <a:t>user, content, behavior, feedback, boundaries</a:t>
            </a:r>
            <a:endParaRPr lang="en-US" sz="750" dirty="0"/>
          </a:p>
        </p:txBody>
      </p:sp>
      <p:sp>
        <p:nvSpPr>
          <p:cNvPr id="15" name="Shape 13"/>
          <p:cNvSpPr/>
          <p:nvPr/>
        </p:nvSpPr>
        <p:spPr>
          <a:xfrm>
            <a:off x="685800" y="2395728"/>
            <a:ext cx="347472" cy="347472"/>
          </a:xfrm>
          <a:prstGeom prst="ellipse">
            <a:avLst/>
          </a:prstGeom>
          <a:solidFill>
            <a:srgbClr val="12BFE2"/>
          </a:solidFill>
          <a:ln w="12700">
            <a:solidFill>
              <a:srgbClr val="12BFE2"/>
            </a:solidFill>
            <a:prstDash val="solid"/>
          </a:ln>
        </p:spPr>
        <p:txBody>
          <a:bodyPr/>
          <a:lstStyle/>
          <a:p>
            <a:endParaRPr lang="en-US"/>
          </a:p>
        </p:txBody>
      </p:sp>
      <p:sp>
        <p:nvSpPr>
          <p:cNvPr id="16" name="Text 14"/>
          <p:cNvSpPr/>
          <p:nvPr/>
        </p:nvSpPr>
        <p:spPr>
          <a:xfrm>
            <a:off x="685800" y="2478024"/>
            <a:ext cx="347472" cy="91440"/>
          </a:xfrm>
          <a:prstGeom prst="rect">
            <a:avLst/>
          </a:prstGeom>
          <a:noFill/>
          <a:ln/>
        </p:spPr>
        <p:txBody>
          <a:bodyPr wrap="square" lIns="0" tIns="0" rIns="0" bIns="0" rtlCol="0" anchor="ctr"/>
          <a:lstStyle/>
          <a:p>
            <a:pPr marL="0" indent="0" algn="ctr">
              <a:buNone/>
            </a:pPr>
            <a:r>
              <a:rPr lang="en-US" sz="660" b="1" dirty="0">
                <a:solidFill>
                  <a:srgbClr val="070D1A"/>
                </a:solidFill>
              </a:rPr>
              <a:t>3</a:t>
            </a:r>
            <a:endParaRPr lang="en-US" sz="660" dirty="0"/>
          </a:p>
        </p:txBody>
      </p:sp>
      <p:sp>
        <p:nvSpPr>
          <p:cNvPr id="17" name="Text 15"/>
          <p:cNvSpPr/>
          <p:nvPr/>
        </p:nvSpPr>
        <p:spPr>
          <a:xfrm>
            <a:off x="1188720" y="2414016"/>
            <a:ext cx="1828800" cy="155448"/>
          </a:xfrm>
          <a:prstGeom prst="rect">
            <a:avLst/>
          </a:prstGeom>
          <a:noFill/>
          <a:ln/>
        </p:spPr>
        <p:txBody>
          <a:bodyPr wrap="square" lIns="0" tIns="0" rIns="0" bIns="0" rtlCol="0" anchor="ctr"/>
          <a:lstStyle/>
          <a:p>
            <a:pPr marL="0" indent="0">
              <a:buNone/>
            </a:pPr>
            <a:r>
              <a:rPr lang="en-US" sz="950" b="1" dirty="0">
                <a:solidFill>
                  <a:srgbClr val="F8FAFC"/>
                </a:solidFill>
                <a:latin typeface="Aptos" pitchFamily="34" charset="0"/>
                <a:ea typeface="Aptos" pitchFamily="34" charset="-122"/>
                <a:cs typeface="Aptos" pitchFamily="34" charset="-120"/>
              </a:rPr>
              <a:t>Create a content contract</a:t>
            </a:r>
            <a:endParaRPr lang="en-US" sz="950" dirty="0"/>
          </a:p>
        </p:txBody>
      </p:sp>
      <p:sp>
        <p:nvSpPr>
          <p:cNvPr id="18" name="Text 16"/>
          <p:cNvSpPr/>
          <p:nvPr/>
        </p:nvSpPr>
        <p:spPr>
          <a:xfrm>
            <a:off x="3246120" y="2414016"/>
            <a:ext cx="3840480" cy="155448"/>
          </a:xfrm>
          <a:prstGeom prst="rect">
            <a:avLst/>
          </a:prstGeom>
          <a:noFill/>
          <a:ln/>
        </p:spPr>
        <p:txBody>
          <a:bodyPr wrap="square" lIns="0" tIns="0" rIns="0" bIns="0" rtlCol="0" anchor="ctr">
            <a:normAutofit/>
          </a:bodyPr>
          <a:lstStyle/>
          <a:p>
            <a:pPr marL="0" indent="0">
              <a:buNone/>
            </a:pPr>
            <a:r>
              <a:rPr lang="en-US" sz="750" dirty="0">
                <a:solidFill>
                  <a:srgbClr val="A7B3C6"/>
                </a:solidFill>
                <a:latin typeface="Aptos" pitchFamily="34" charset="0"/>
                <a:ea typeface="Aptos" pitchFamily="34" charset="-122"/>
                <a:cs typeface="Aptos" pitchFamily="34" charset="-120"/>
              </a:rPr>
              <a:t>JSON/Markdown before UI polish</a:t>
            </a:r>
            <a:endParaRPr lang="en-US" sz="750" dirty="0"/>
          </a:p>
        </p:txBody>
      </p:sp>
      <p:sp>
        <p:nvSpPr>
          <p:cNvPr id="19" name="Shape 17"/>
          <p:cNvSpPr/>
          <p:nvPr/>
        </p:nvSpPr>
        <p:spPr>
          <a:xfrm>
            <a:off x="685800" y="3008376"/>
            <a:ext cx="347472" cy="347472"/>
          </a:xfrm>
          <a:prstGeom prst="ellipse">
            <a:avLst/>
          </a:prstGeom>
          <a:solidFill>
            <a:srgbClr val="12BFE2"/>
          </a:solidFill>
          <a:ln w="12700">
            <a:solidFill>
              <a:srgbClr val="12BFE2"/>
            </a:solidFill>
            <a:prstDash val="solid"/>
          </a:ln>
        </p:spPr>
        <p:txBody>
          <a:bodyPr/>
          <a:lstStyle/>
          <a:p>
            <a:endParaRPr lang="en-US"/>
          </a:p>
        </p:txBody>
      </p:sp>
      <p:sp>
        <p:nvSpPr>
          <p:cNvPr id="20" name="Text 18"/>
          <p:cNvSpPr/>
          <p:nvPr/>
        </p:nvSpPr>
        <p:spPr>
          <a:xfrm>
            <a:off x="685800" y="3090672"/>
            <a:ext cx="347472" cy="91440"/>
          </a:xfrm>
          <a:prstGeom prst="rect">
            <a:avLst/>
          </a:prstGeom>
          <a:noFill/>
          <a:ln/>
        </p:spPr>
        <p:txBody>
          <a:bodyPr wrap="square" lIns="0" tIns="0" rIns="0" bIns="0" rtlCol="0" anchor="ctr"/>
          <a:lstStyle/>
          <a:p>
            <a:pPr marL="0" indent="0" algn="ctr">
              <a:buNone/>
            </a:pPr>
            <a:r>
              <a:rPr lang="en-US" sz="660" b="1" dirty="0">
                <a:solidFill>
                  <a:srgbClr val="070D1A"/>
                </a:solidFill>
              </a:rPr>
              <a:t>4</a:t>
            </a:r>
            <a:endParaRPr lang="en-US" sz="660" dirty="0"/>
          </a:p>
        </p:txBody>
      </p:sp>
      <p:sp>
        <p:nvSpPr>
          <p:cNvPr id="21" name="Text 19"/>
          <p:cNvSpPr/>
          <p:nvPr/>
        </p:nvSpPr>
        <p:spPr>
          <a:xfrm>
            <a:off x="1188720" y="3026664"/>
            <a:ext cx="1828800" cy="155448"/>
          </a:xfrm>
          <a:prstGeom prst="rect">
            <a:avLst/>
          </a:prstGeom>
          <a:noFill/>
          <a:ln/>
        </p:spPr>
        <p:txBody>
          <a:bodyPr wrap="square" lIns="0" tIns="0" rIns="0" bIns="0" rtlCol="0" anchor="ctr"/>
          <a:lstStyle/>
          <a:p>
            <a:pPr marL="0" indent="0">
              <a:buNone/>
            </a:pPr>
            <a:r>
              <a:rPr lang="en-US" sz="950" b="1" dirty="0">
                <a:solidFill>
                  <a:srgbClr val="F8FAFC"/>
                </a:solidFill>
                <a:latin typeface="Aptos" pitchFamily="34" charset="0"/>
                <a:ea typeface="Aptos" pitchFamily="34" charset="-122"/>
                <a:cs typeface="Aptos" pitchFamily="34" charset="-120"/>
              </a:rPr>
              <a:t>Ask for one bounded pass</a:t>
            </a:r>
            <a:endParaRPr lang="en-US" sz="950" dirty="0"/>
          </a:p>
        </p:txBody>
      </p:sp>
      <p:sp>
        <p:nvSpPr>
          <p:cNvPr id="22" name="Text 20"/>
          <p:cNvSpPr/>
          <p:nvPr/>
        </p:nvSpPr>
        <p:spPr>
          <a:xfrm>
            <a:off x="3246120" y="3026664"/>
            <a:ext cx="3840480" cy="155448"/>
          </a:xfrm>
          <a:prstGeom prst="rect">
            <a:avLst/>
          </a:prstGeom>
          <a:noFill/>
          <a:ln/>
        </p:spPr>
        <p:txBody>
          <a:bodyPr wrap="square" lIns="0" tIns="0" rIns="0" bIns="0" rtlCol="0" anchor="ctr">
            <a:normAutofit/>
          </a:bodyPr>
          <a:lstStyle/>
          <a:p>
            <a:pPr marL="0" indent="0">
              <a:buNone/>
            </a:pPr>
            <a:r>
              <a:rPr lang="en-US" sz="750" dirty="0">
                <a:solidFill>
                  <a:srgbClr val="A7B3C6"/>
                </a:solidFill>
                <a:latin typeface="Aptos" pitchFamily="34" charset="0"/>
                <a:ea typeface="Aptos" pitchFamily="34" charset="-122"/>
                <a:cs typeface="Aptos" pitchFamily="34" charset="-120"/>
              </a:rPr>
              <a:t>small change, tests, evidence, limitations</a:t>
            </a:r>
            <a:endParaRPr lang="en-US" sz="750" dirty="0"/>
          </a:p>
        </p:txBody>
      </p:sp>
      <p:sp>
        <p:nvSpPr>
          <p:cNvPr id="23" name="Shape 21"/>
          <p:cNvSpPr/>
          <p:nvPr/>
        </p:nvSpPr>
        <p:spPr>
          <a:xfrm>
            <a:off x="685800" y="3621024"/>
            <a:ext cx="347472" cy="347472"/>
          </a:xfrm>
          <a:prstGeom prst="ellipse">
            <a:avLst/>
          </a:prstGeom>
          <a:solidFill>
            <a:srgbClr val="12BFE2"/>
          </a:solidFill>
          <a:ln w="12700">
            <a:solidFill>
              <a:srgbClr val="12BFE2"/>
            </a:solidFill>
            <a:prstDash val="solid"/>
          </a:ln>
        </p:spPr>
        <p:txBody>
          <a:bodyPr/>
          <a:lstStyle/>
          <a:p>
            <a:endParaRPr lang="en-US"/>
          </a:p>
        </p:txBody>
      </p:sp>
      <p:sp>
        <p:nvSpPr>
          <p:cNvPr id="24" name="Text 22"/>
          <p:cNvSpPr/>
          <p:nvPr/>
        </p:nvSpPr>
        <p:spPr>
          <a:xfrm>
            <a:off x="685800" y="3703320"/>
            <a:ext cx="347472" cy="91440"/>
          </a:xfrm>
          <a:prstGeom prst="rect">
            <a:avLst/>
          </a:prstGeom>
          <a:noFill/>
          <a:ln/>
        </p:spPr>
        <p:txBody>
          <a:bodyPr wrap="square" lIns="0" tIns="0" rIns="0" bIns="0" rtlCol="0" anchor="ctr"/>
          <a:lstStyle/>
          <a:p>
            <a:pPr marL="0" indent="0" algn="ctr">
              <a:buNone/>
            </a:pPr>
            <a:r>
              <a:rPr lang="en-US" sz="660" b="1" dirty="0">
                <a:solidFill>
                  <a:srgbClr val="070D1A"/>
                </a:solidFill>
              </a:rPr>
              <a:t>5</a:t>
            </a:r>
            <a:endParaRPr lang="en-US" sz="660" dirty="0"/>
          </a:p>
        </p:txBody>
      </p:sp>
      <p:sp>
        <p:nvSpPr>
          <p:cNvPr id="25" name="Text 23"/>
          <p:cNvSpPr/>
          <p:nvPr/>
        </p:nvSpPr>
        <p:spPr>
          <a:xfrm>
            <a:off x="1188720" y="3639312"/>
            <a:ext cx="1828800" cy="155448"/>
          </a:xfrm>
          <a:prstGeom prst="rect">
            <a:avLst/>
          </a:prstGeom>
          <a:noFill/>
          <a:ln/>
        </p:spPr>
        <p:txBody>
          <a:bodyPr wrap="square" lIns="0" tIns="0" rIns="0" bIns="0" rtlCol="0" anchor="ctr"/>
          <a:lstStyle/>
          <a:p>
            <a:pPr marL="0" indent="0">
              <a:buNone/>
            </a:pPr>
            <a:r>
              <a:rPr lang="en-US" sz="950" b="1" dirty="0">
                <a:solidFill>
                  <a:srgbClr val="F8FAFC"/>
                </a:solidFill>
                <a:latin typeface="Aptos" pitchFamily="34" charset="0"/>
                <a:ea typeface="Aptos" pitchFamily="34" charset="-122"/>
                <a:cs typeface="Aptos" pitchFamily="34" charset="-120"/>
              </a:rPr>
              <a:t>Review as faculty</a:t>
            </a:r>
            <a:endParaRPr lang="en-US" sz="950" dirty="0"/>
          </a:p>
        </p:txBody>
      </p:sp>
      <p:sp>
        <p:nvSpPr>
          <p:cNvPr id="26" name="Text 24"/>
          <p:cNvSpPr/>
          <p:nvPr/>
        </p:nvSpPr>
        <p:spPr>
          <a:xfrm>
            <a:off x="3246120" y="3639312"/>
            <a:ext cx="3840480" cy="155448"/>
          </a:xfrm>
          <a:prstGeom prst="rect">
            <a:avLst/>
          </a:prstGeom>
          <a:noFill/>
          <a:ln/>
        </p:spPr>
        <p:txBody>
          <a:bodyPr wrap="square" lIns="0" tIns="0" rIns="0" bIns="0" rtlCol="0" anchor="ctr">
            <a:normAutofit/>
          </a:bodyPr>
          <a:lstStyle/>
          <a:p>
            <a:pPr marL="0" indent="0">
              <a:buNone/>
            </a:pPr>
            <a:r>
              <a:rPr lang="en-US" sz="750" dirty="0">
                <a:solidFill>
                  <a:srgbClr val="A7B3C6"/>
                </a:solidFill>
                <a:latin typeface="Aptos" pitchFamily="34" charset="0"/>
                <a:ea typeface="Aptos" pitchFamily="34" charset="-122"/>
                <a:cs typeface="Aptos" pitchFamily="34" charset="-120"/>
              </a:rPr>
              <a:t>medical accuracy first; code polish second</a:t>
            </a:r>
            <a:endParaRPr lang="en-US" sz="750" dirty="0"/>
          </a:p>
        </p:txBody>
      </p:sp>
      <p:sp>
        <p:nvSpPr>
          <p:cNvPr id="27" name="Shape 25"/>
          <p:cNvSpPr/>
          <p:nvPr/>
        </p:nvSpPr>
        <p:spPr>
          <a:xfrm>
            <a:off x="7269480" y="1325880"/>
            <a:ext cx="1188720" cy="2377440"/>
          </a:xfrm>
          <a:prstGeom prst="roundRect">
            <a:avLst/>
          </a:prstGeom>
          <a:solidFill>
            <a:srgbClr val="111A2D"/>
          </a:solidFill>
          <a:ln w="12700">
            <a:solidFill>
              <a:srgbClr val="111A2D"/>
            </a:solidFill>
            <a:prstDash val="solid"/>
          </a:ln>
        </p:spPr>
        <p:txBody>
          <a:bodyPr/>
          <a:lstStyle/>
          <a:p>
            <a:endParaRPr lang="en-US"/>
          </a:p>
        </p:txBody>
      </p:sp>
      <p:pic>
        <p:nvPicPr>
          <p:cNvPr id="28" name="Image 0" descr="/mnt/data/ppt_extract/ppt/media/image5.png"/>
          <p:cNvPicPr>
            <a:picLocks noChangeAspect="1"/>
          </p:cNvPicPr>
          <p:nvPr/>
        </p:nvPicPr>
        <p:blipFill>
          <a:blip r:embed="rId3"/>
          <a:stretch>
            <a:fillRect/>
          </a:stretch>
        </p:blipFill>
        <p:spPr>
          <a:xfrm>
            <a:off x="7708392" y="1664208"/>
            <a:ext cx="310896" cy="310896"/>
          </a:xfrm>
          <a:prstGeom prst="rect">
            <a:avLst/>
          </a:prstGeom>
        </p:spPr>
      </p:pic>
      <p:sp>
        <p:nvSpPr>
          <p:cNvPr id="29" name="Text 26"/>
          <p:cNvSpPr/>
          <p:nvPr/>
        </p:nvSpPr>
        <p:spPr>
          <a:xfrm>
            <a:off x="7424928" y="2121408"/>
            <a:ext cx="914400" cy="146304"/>
          </a:xfrm>
          <a:prstGeom prst="rect">
            <a:avLst/>
          </a:prstGeom>
          <a:noFill/>
          <a:ln/>
        </p:spPr>
        <p:txBody>
          <a:bodyPr wrap="square" lIns="0" tIns="0" rIns="0" bIns="0" rtlCol="0" anchor="ctr"/>
          <a:lstStyle/>
          <a:p>
            <a:pPr marL="0" indent="0" algn="ctr">
              <a:buNone/>
            </a:pPr>
            <a:r>
              <a:rPr lang="en-US" sz="800" b="1" dirty="0">
                <a:solidFill>
                  <a:srgbClr val="F59E0B"/>
                </a:solidFill>
              </a:rPr>
              <a:t>Best first apps</a:t>
            </a:r>
            <a:endParaRPr lang="en-US" sz="800" dirty="0"/>
          </a:p>
        </p:txBody>
      </p:sp>
      <p:sp>
        <p:nvSpPr>
          <p:cNvPr id="30" name="Text 27"/>
          <p:cNvSpPr/>
          <p:nvPr/>
        </p:nvSpPr>
        <p:spPr>
          <a:xfrm>
            <a:off x="7388352" y="2487168"/>
            <a:ext cx="960120" cy="731520"/>
          </a:xfrm>
          <a:prstGeom prst="rect">
            <a:avLst/>
          </a:prstGeom>
          <a:noFill/>
          <a:ln/>
        </p:spPr>
        <p:txBody>
          <a:bodyPr wrap="square" lIns="0" tIns="0" rIns="0" bIns="0" rtlCol="0" anchor="ctr">
            <a:normAutofit/>
          </a:bodyPr>
          <a:lstStyle/>
          <a:p>
            <a:pPr marL="0" indent="0" algn="ctr">
              <a:buNone/>
            </a:pPr>
            <a:r>
              <a:rPr lang="en-US" sz="640" dirty="0">
                <a:solidFill>
                  <a:srgbClr val="F8FAFC"/>
                </a:solidFill>
              </a:rPr>
              <a:t>station quiz</a:t>
            </a:r>
            <a:endParaRPr lang="en-US" sz="640" dirty="0"/>
          </a:p>
          <a:p>
            <a:pPr marL="0" indent="0" algn="ctr">
              <a:buNone/>
            </a:pPr>
            <a:r>
              <a:rPr lang="en-US" sz="640" dirty="0">
                <a:solidFill>
                  <a:srgbClr val="F8FAFC"/>
                </a:solidFill>
              </a:rPr>
              <a:t>image settings lab</a:t>
            </a:r>
            <a:endParaRPr lang="en-US" sz="640" dirty="0"/>
          </a:p>
          <a:p>
            <a:pPr marL="0" indent="0" algn="ctr">
              <a:buNone/>
            </a:pPr>
            <a:r>
              <a:rPr lang="en-US" sz="640" dirty="0">
                <a:solidFill>
                  <a:srgbClr val="F8FAFC"/>
                </a:solidFill>
              </a:rPr>
              <a:t>checklist rehearsal</a:t>
            </a:r>
            <a:endParaRPr lang="en-US" sz="640" dirty="0"/>
          </a:p>
          <a:p>
            <a:pPr marL="0" indent="0" algn="ctr">
              <a:buNone/>
            </a:pPr>
            <a:r>
              <a:rPr lang="en-US" sz="640" dirty="0">
                <a:solidFill>
                  <a:srgbClr val="F8FAFC"/>
                </a:solidFill>
              </a:rPr>
              <a:t>template filler</a:t>
            </a:r>
            <a:endParaRPr lang="en-US" sz="640" dirty="0"/>
          </a:p>
          <a:p>
            <a:pPr marL="0" indent="0" algn="ctr">
              <a:buNone/>
            </a:pPr>
            <a:r>
              <a:rPr lang="en-US" sz="640" dirty="0">
                <a:solidFill>
                  <a:srgbClr val="F8FAFC"/>
                </a:solidFill>
              </a:rPr>
              <a:t>retrieval practice</a:t>
            </a:r>
            <a:endParaRPr lang="en-US" sz="640" dirty="0"/>
          </a:p>
        </p:txBody>
      </p:sp>
      <p:sp>
        <p:nvSpPr>
          <p:cNvPr id="31" name="Text 28"/>
          <p:cNvSpPr/>
          <p:nvPr/>
        </p:nvSpPr>
        <p:spPr>
          <a:xfrm>
            <a:off x="1143000" y="4407408"/>
            <a:ext cx="6858000" cy="164592"/>
          </a:xfrm>
          <a:prstGeom prst="rect">
            <a:avLst/>
          </a:prstGeom>
          <a:noFill/>
          <a:ln/>
        </p:spPr>
        <p:txBody>
          <a:bodyPr wrap="square" lIns="0" tIns="0" rIns="0" bIns="0" rtlCol="0" anchor="ctr"/>
          <a:lstStyle/>
          <a:p>
            <a:pPr marL="0" indent="0" algn="ctr">
              <a:buNone/>
            </a:pPr>
            <a:r>
              <a:rPr lang="en-US" sz="1400" b="1" dirty="0">
                <a:solidFill>
                  <a:srgbClr val="2DD4BF"/>
                </a:solidFill>
                <a:latin typeface="Aptos Display" pitchFamily="34" charset="0"/>
                <a:ea typeface="Aptos Display" pitchFamily="34" charset="-122"/>
                <a:cs typeface="Aptos Display" pitchFamily="34" charset="-120"/>
              </a:rPr>
              <a:t>Useful beats perfect — but reviewed beats impressive.</a:t>
            </a:r>
            <a:endParaRPr lang="en-US" sz="14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70D1A"/>
        </a:solidFill>
        <a:effectLst/>
      </p:bgPr>
    </p:bg>
    <p:spTree>
      <p:nvGrpSpPr>
        <p:cNvPr id="1" name=""/>
        <p:cNvGrpSpPr/>
        <p:nvPr/>
      </p:nvGrpSpPr>
      <p:grpSpPr>
        <a:xfrm>
          <a:off x="0" y="0"/>
          <a:ext cx="0" cy="0"/>
          <a:chOff x="0" y="0"/>
          <a:chExt cx="0" cy="0"/>
        </a:xfrm>
      </p:grpSpPr>
      <p:sp>
        <p:nvSpPr>
          <p:cNvPr id="2" name="Text 0"/>
          <p:cNvSpPr/>
          <p:nvPr/>
        </p:nvSpPr>
        <p:spPr>
          <a:xfrm>
            <a:off x="731520" y="1078992"/>
            <a:ext cx="6766560" cy="822960"/>
          </a:xfrm>
          <a:prstGeom prst="rect">
            <a:avLst/>
          </a:prstGeom>
          <a:noFill/>
          <a:ln/>
        </p:spPr>
        <p:txBody>
          <a:bodyPr wrap="square" lIns="0" tIns="0" rIns="0" bIns="0" rtlCol="0" anchor="ctr">
            <a:normAutofit/>
          </a:bodyPr>
          <a:lstStyle/>
          <a:p>
            <a:pPr marL="0" indent="0">
              <a:buNone/>
            </a:pPr>
            <a:r>
              <a:rPr lang="en-US" sz="2600" b="1" dirty="0">
                <a:solidFill>
                  <a:srgbClr val="F8FAFC"/>
                </a:solidFill>
                <a:latin typeface="Aptos Display" pitchFamily="34" charset="0"/>
                <a:ea typeface="Aptos Display" pitchFamily="34" charset="-122"/>
                <a:cs typeface="Aptos Display" pitchFamily="34" charset="-120"/>
              </a:rPr>
              <a:t>You know what IP needs.</a:t>
            </a:r>
            <a:endParaRPr lang="en-US" sz="2600" dirty="0"/>
          </a:p>
          <a:p>
            <a:pPr marL="0" indent="0">
              <a:buNone/>
            </a:pPr>
            <a:r>
              <a:rPr lang="en-US" sz="2600" b="1" dirty="0">
                <a:solidFill>
                  <a:srgbClr val="F8FAFC"/>
                </a:solidFill>
                <a:latin typeface="Aptos Display" pitchFamily="34" charset="0"/>
                <a:ea typeface="Aptos Display" pitchFamily="34" charset="-122"/>
                <a:cs typeface="Aptos Display" pitchFamily="34" charset="-120"/>
              </a:rPr>
              <a:t>Now you can build it — responsibly.</a:t>
            </a:r>
            <a:endParaRPr lang="en-US" sz="2600" dirty="0"/>
          </a:p>
        </p:txBody>
      </p:sp>
      <p:sp>
        <p:nvSpPr>
          <p:cNvPr id="3" name="Shape 1"/>
          <p:cNvSpPr/>
          <p:nvPr/>
        </p:nvSpPr>
        <p:spPr>
          <a:xfrm>
            <a:off x="749808" y="2176272"/>
            <a:ext cx="1554480" cy="0"/>
          </a:xfrm>
          <a:prstGeom prst="line">
            <a:avLst/>
          </a:prstGeom>
          <a:noFill/>
          <a:ln w="15240">
            <a:solidFill>
              <a:srgbClr val="12BFE2"/>
            </a:solidFill>
            <a:prstDash val="solid"/>
          </a:ln>
        </p:spPr>
        <p:txBody>
          <a:bodyPr/>
          <a:lstStyle/>
          <a:p>
            <a:endParaRPr lang="en-US"/>
          </a:p>
        </p:txBody>
      </p:sp>
      <p:sp>
        <p:nvSpPr>
          <p:cNvPr id="4" name="Shape 2"/>
          <p:cNvSpPr/>
          <p:nvPr/>
        </p:nvSpPr>
        <p:spPr>
          <a:xfrm>
            <a:off x="777240" y="2587752"/>
            <a:ext cx="201168" cy="201168"/>
          </a:xfrm>
          <a:prstGeom prst="ellipse">
            <a:avLst/>
          </a:prstGeom>
          <a:solidFill>
            <a:srgbClr val="12BFE2"/>
          </a:solidFill>
          <a:ln w="12700">
            <a:solidFill>
              <a:srgbClr val="12BFE2"/>
            </a:solidFill>
            <a:prstDash val="solid"/>
          </a:ln>
        </p:spPr>
        <p:txBody>
          <a:bodyPr/>
          <a:lstStyle/>
          <a:p>
            <a:endParaRPr lang="en-US"/>
          </a:p>
        </p:txBody>
      </p:sp>
      <p:sp>
        <p:nvSpPr>
          <p:cNvPr id="5" name="Text 3"/>
          <p:cNvSpPr/>
          <p:nvPr/>
        </p:nvSpPr>
        <p:spPr>
          <a:xfrm>
            <a:off x="1115568" y="2578608"/>
            <a:ext cx="5212080" cy="146304"/>
          </a:xfrm>
          <a:prstGeom prst="rect">
            <a:avLst/>
          </a:prstGeom>
          <a:noFill/>
          <a:ln/>
        </p:spPr>
        <p:txBody>
          <a:bodyPr wrap="square" lIns="0" tIns="0" rIns="0" bIns="0" rtlCol="0" anchor="ctr"/>
          <a:lstStyle/>
          <a:p>
            <a:pPr marL="0" indent="0">
              <a:buNone/>
            </a:pPr>
            <a:r>
              <a:rPr lang="en-US" sz="880" dirty="0">
                <a:solidFill>
                  <a:srgbClr val="F8FAFC"/>
                </a:solidFill>
              </a:rPr>
              <a:t>Clinical expertise is the scarce resource.</a:t>
            </a:r>
            <a:endParaRPr lang="en-US" sz="880" dirty="0"/>
          </a:p>
        </p:txBody>
      </p:sp>
      <p:sp>
        <p:nvSpPr>
          <p:cNvPr id="6" name="Shape 4"/>
          <p:cNvSpPr/>
          <p:nvPr/>
        </p:nvSpPr>
        <p:spPr>
          <a:xfrm>
            <a:off x="777240" y="2999232"/>
            <a:ext cx="201168" cy="201168"/>
          </a:xfrm>
          <a:prstGeom prst="ellipse">
            <a:avLst/>
          </a:prstGeom>
          <a:solidFill>
            <a:srgbClr val="F59E0B"/>
          </a:solidFill>
          <a:ln w="12700">
            <a:solidFill>
              <a:srgbClr val="F59E0B"/>
            </a:solidFill>
            <a:prstDash val="solid"/>
          </a:ln>
        </p:spPr>
        <p:txBody>
          <a:bodyPr/>
          <a:lstStyle/>
          <a:p>
            <a:endParaRPr lang="en-US"/>
          </a:p>
        </p:txBody>
      </p:sp>
      <p:sp>
        <p:nvSpPr>
          <p:cNvPr id="7" name="Text 5"/>
          <p:cNvSpPr/>
          <p:nvPr/>
        </p:nvSpPr>
        <p:spPr>
          <a:xfrm>
            <a:off x="1115568" y="2990088"/>
            <a:ext cx="5212080" cy="146304"/>
          </a:xfrm>
          <a:prstGeom prst="rect">
            <a:avLst/>
          </a:prstGeom>
          <a:noFill/>
          <a:ln/>
        </p:spPr>
        <p:txBody>
          <a:bodyPr wrap="square" lIns="0" tIns="0" rIns="0" bIns="0" rtlCol="0" anchor="ctr"/>
          <a:lstStyle/>
          <a:p>
            <a:pPr marL="0" indent="0">
              <a:buNone/>
            </a:pPr>
            <a:r>
              <a:rPr lang="en-US" sz="880" dirty="0">
                <a:solidFill>
                  <a:srgbClr val="F8FAFC"/>
                </a:solidFill>
              </a:rPr>
              <a:t>AI coding turns clear constraints into prototypes.</a:t>
            </a:r>
            <a:endParaRPr lang="en-US" sz="880" dirty="0"/>
          </a:p>
        </p:txBody>
      </p:sp>
      <p:sp>
        <p:nvSpPr>
          <p:cNvPr id="8" name="Shape 6"/>
          <p:cNvSpPr/>
          <p:nvPr/>
        </p:nvSpPr>
        <p:spPr>
          <a:xfrm>
            <a:off x="777240" y="3410712"/>
            <a:ext cx="201168" cy="201168"/>
          </a:xfrm>
          <a:prstGeom prst="ellipse">
            <a:avLst/>
          </a:prstGeom>
          <a:solidFill>
            <a:srgbClr val="12BFE2"/>
          </a:solidFill>
          <a:ln w="12700">
            <a:solidFill>
              <a:srgbClr val="12BFE2"/>
            </a:solidFill>
            <a:prstDash val="solid"/>
          </a:ln>
        </p:spPr>
        <p:txBody>
          <a:bodyPr/>
          <a:lstStyle/>
          <a:p>
            <a:endParaRPr lang="en-US"/>
          </a:p>
        </p:txBody>
      </p:sp>
      <p:sp>
        <p:nvSpPr>
          <p:cNvPr id="9" name="Text 7"/>
          <p:cNvSpPr/>
          <p:nvPr/>
        </p:nvSpPr>
        <p:spPr>
          <a:xfrm>
            <a:off x="1115568" y="3401568"/>
            <a:ext cx="5212080" cy="146304"/>
          </a:xfrm>
          <a:prstGeom prst="rect">
            <a:avLst/>
          </a:prstGeom>
          <a:noFill/>
          <a:ln/>
        </p:spPr>
        <p:txBody>
          <a:bodyPr wrap="square" lIns="0" tIns="0" rIns="0" bIns="0" rtlCol="0" anchor="ctr"/>
          <a:lstStyle/>
          <a:p>
            <a:pPr marL="0" indent="0">
              <a:buNone/>
            </a:pPr>
            <a:r>
              <a:rPr lang="en-US" sz="880" dirty="0">
                <a:solidFill>
                  <a:srgbClr val="F8FAFC"/>
                </a:solidFill>
              </a:rPr>
              <a:t>Medical education tools still need review, tests, and honest boundaries.</a:t>
            </a:r>
            <a:endParaRPr lang="en-US" sz="880" dirty="0"/>
          </a:p>
        </p:txBody>
      </p:sp>
      <p:sp>
        <p:nvSpPr>
          <p:cNvPr id="10" name="Text 8"/>
          <p:cNvSpPr/>
          <p:nvPr/>
        </p:nvSpPr>
        <p:spPr>
          <a:xfrm>
            <a:off x="777240" y="3977640"/>
            <a:ext cx="2926080" cy="457200"/>
          </a:xfrm>
          <a:prstGeom prst="rect">
            <a:avLst/>
          </a:prstGeom>
          <a:noFill/>
          <a:ln/>
        </p:spPr>
        <p:txBody>
          <a:bodyPr wrap="square" lIns="0" tIns="0" rIns="0" bIns="0" rtlCol="0" anchor="ctr"/>
          <a:lstStyle/>
          <a:p>
            <a:pPr marL="0" indent="0">
              <a:buNone/>
            </a:pPr>
            <a:r>
              <a:rPr lang="en-US" sz="660" dirty="0">
                <a:solidFill>
                  <a:srgbClr val="F8FAFC"/>
                </a:solidFill>
                <a:latin typeface="Aptos" pitchFamily="34" charset="0"/>
                <a:ea typeface="Aptos" pitchFamily="34" charset="-122"/>
                <a:cs typeface="Aptos" pitchFamily="34" charset="-120"/>
              </a:rPr>
              <a:t>Russell Miller, MD</a:t>
            </a:r>
            <a:endParaRPr lang="en-US" sz="660" dirty="0"/>
          </a:p>
          <a:p>
            <a:pPr marL="0" indent="0">
              <a:buNone/>
            </a:pPr>
            <a:r>
              <a:rPr lang="en-US" sz="660" dirty="0">
                <a:solidFill>
                  <a:srgbClr val="F8FAFC"/>
                </a:solidFill>
                <a:latin typeface="Aptos" pitchFamily="34" charset="0"/>
                <a:ea typeface="Aptos" pitchFamily="34" charset="-122"/>
                <a:cs typeface="Aptos" pitchFamily="34" charset="-120"/>
              </a:rPr>
              <a:t>russell.j.miller32.mil@health.mil</a:t>
            </a:r>
            <a:endParaRPr lang="en-US" sz="660" dirty="0"/>
          </a:p>
          <a:p>
            <a:pPr marL="0" indent="0">
              <a:buNone/>
            </a:pPr>
            <a:r>
              <a:rPr lang="en-US" sz="660" dirty="0">
                <a:solidFill>
                  <a:srgbClr val="F8FAFC"/>
                </a:solidFill>
                <a:latin typeface="Aptos" pitchFamily="34" charset="0"/>
                <a:ea typeface="Aptos" pitchFamily="34" charset="-122"/>
                <a:cs typeface="Aptos" pitchFamily="34" charset="-120"/>
              </a:rPr>
              <a:t>interventionalpulm.com</a:t>
            </a:r>
            <a:endParaRPr lang="en-US" sz="660" dirty="0"/>
          </a:p>
          <a:p>
            <a:pPr marL="0" indent="0">
              <a:buNone/>
            </a:pPr>
            <a:r>
              <a:rPr lang="en-US" sz="660" dirty="0">
                <a:solidFill>
                  <a:srgbClr val="F8FAFC"/>
                </a:solidFill>
                <a:latin typeface="Aptos" pitchFamily="34" charset="0"/>
                <a:ea typeface="Aptos" pitchFamily="34" charset="-122"/>
                <a:cs typeface="Aptos" pitchFamily="34" charset="-120"/>
              </a:rPr>
              <a:t>github.com/russellmiller49</a:t>
            </a:r>
            <a:endParaRPr lang="en-US" sz="660" dirty="0"/>
          </a:p>
        </p:txBody>
      </p:sp>
      <p:sp>
        <p:nvSpPr>
          <p:cNvPr id="11" name="Text 9"/>
          <p:cNvSpPr/>
          <p:nvPr/>
        </p:nvSpPr>
        <p:spPr>
          <a:xfrm>
            <a:off x="7040880" y="4160520"/>
            <a:ext cx="1417320" cy="274320"/>
          </a:xfrm>
          <a:prstGeom prst="rect">
            <a:avLst/>
          </a:prstGeom>
          <a:noFill/>
          <a:ln/>
        </p:spPr>
        <p:txBody>
          <a:bodyPr wrap="square" lIns="0" tIns="0" rIns="0" bIns="0" rtlCol="0" anchor="ctr"/>
          <a:lstStyle/>
          <a:p>
            <a:pPr marL="0" indent="0">
              <a:buNone/>
            </a:pPr>
            <a:r>
              <a:rPr lang="en-US" sz="1800" b="1" dirty="0">
                <a:solidFill>
                  <a:srgbClr val="12BFE2"/>
                </a:solidFill>
                <a:latin typeface="Aptos Display" pitchFamily="34" charset="0"/>
                <a:ea typeface="Aptos Display" pitchFamily="34" charset="-122"/>
                <a:cs typeface="Aptos Display" pitchFamily="34" charset="-120"/>
              </a:rPr>
              <a:t>Questions?</a:t>
            </a:r>
            <a:endParaRPr lang="en-US" sz="1800" dirty="0"/>
          </a:p>
        </p:txBody>
      </p:sp>
      <p:sp>
        <p:nvSpPr>
          <p:cNvPr id="12" name="Text 10"/>
          <p:cNvSpPr/>
          <p:nvPr/>
        </p:nvSpPr>
        <p:spPr>
          <a:xfrm>
            <a:off x="411480" y="4828032"/>
            <a:ext cx="4754880" cy="109728"/>
          </a:xfrm>
          <a:prstGeom prst="rect">
            <a:avLst/>
          </a:prstGeom>
          <a:noFill/>
          <a:ln/>
        </p:spPr>
        <p:txBody>
          <a:bodyPr wrap="square" lIns="0" tIns="0" rIns="0" bIns="0" rtlCol="0" anchor="ctr"/>
          <a:lstStyle/>
          <a:p>
            <a:pPr marL="0" indent="0">
              <a:buNone/>
            </a:pPr>
            <a:r>
              <a:rPr lang="en-US" sz="550" dirty="0">
                <a:solidFill>
                  <a:srgbClr val="5F6B7A"/>
                </a:solidFill>
                <a:latin typeface="Aptos" pitchFamily="34" charset="0"/>
                <a:ea typeface="Aptos" pitchFamily="34" charset="-122"/>
                <a:cs typeface="Aptos" pitchFamily="34" charset="-120"/>
              </a:rPr>
              <a:t>AABIP Webinar 2026  |  AI in Interventional Pulmonology</a:t>
            </a:r>
            <a:endParaRPr lang="en-US" sz="550" dirty="0"/>
          </a:p>
        </p:txBody>
      </p:sp>
      <p:sp>
        <p:nvSpPr>
          <p:cNvPr id="13" name="Text 11"/>
          <p:cNvSpPr/>
          <p:nvPr/>
        </p:nvSpPr>
        <p:spPr>
          <a:xfrm>
            <a:off x="8366760" y="4828032"/>
            <a:ext cx="365760" cy="109728"/>
          </a:xfrm>
          <a:prstGeom prst="rect">
            <a:avLst/>
          </a:prstGeom>
          <a:noFill/>
          <a:ln/>
        </p:spPr>
        <p:txBody>
          <a:bodyPr wrap="square" lIns="0" tIns="0" rIns="0" bIns="0" rtlCol="0" anchor="ctr"/>
          <a:lstStyle/>
          <a:p>
            <a:pPr marL="0" indent="0" algn="r">
              <a:buNone/>
            </a:pPr>
            <a:r>
              <a:rPr lang="en-US" sz="550" dirty="0">
                <a:solidFill>
                  <a:srgbClr val="5F6B7A"/>
                </a:solidFill>
                <a:latin typeface="Aptos" pitchFamily="34" charset="0"/>
                <a:ea typeface="Aptos" pitchFamily="34" charset="-122"/>
                <a:cs typeface="Aptos" pitchFamily="34" charset="-120"/>
              </a:rPr>
              <a:t>22 / 22</a:t>
            </a:r>
            <a:endParaRPr lang="en-US" sz="5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297</TotalTime>
  <Words>3237</Words>
  <Application>Microsoft Macintosh PowerPoint</Application>
  <PresentationFormat>On-screen Show (16:9)</PresentationFormat>
  <Paragraphs>480</Paragraphs>
  <Slides>22</Slides>
  <Notes>22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22</vt:i4>
      </vt:variant>
    </vt:vector>
  </HeadingPairs>
  <TitlesOfParts>
    <vt:vector size="27" baseType="lpstr">
      <vt:lpstr>Aptos</vt:lpstr>
      <vt:lpstr>Aptos Display</vt:lpstr>
      <vt:lpstr>Arial</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AABIP Webinar</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Vibe Coding for Medical Education: SoCal EBUS Prep case study</dc:title>
  <dc:subject>AI coding for clinical and medical education apps</dc:subject>
  <dc:creator>Russell Miller, MD</dc:creator>
  <cp:lastModifiedBy>Russell Miller</cp:lastModifiedBy>
  <cp:revision>2</cp:revision>
  <dcterms:created xsi:type="dcterms:W3CDTF">2026-04-27T00:09:03Z</dcterms:created>
  <dcterms:modified xsi:type="dcterms:W3CDTF">2026-04-28T00:49:44Z</dcterms:modified>
</cp:coreProperties>
</file>